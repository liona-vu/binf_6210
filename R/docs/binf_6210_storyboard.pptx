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5" r:id="rId4"/>
    <p:sldId id="281" r:id="rId5"/>
    <p:sldId id="267" r:id="rId6"/>
    <p:sldId id="269" r:id="rId7"/>
    <p:sldId id="268" r:id="rId8"/>
    <p:sldId id="271" r:id="rId9"/>
    <p:sldId id="266" r:id="rId10"/>
    <p:sldId id="273" r:id="rId11"/>
    <p:sldId id="283" r:id="rId12"/>
    <p:sldId id="284" r:id="rId13"/>
    <p:sldId id="262" r:id="rId14"/>
    <p:sldId id="257" r:id="rId15"/>
    <p:sldId id="280" r:id="rId16"/>
    <p:sldId id="272" r:id="rId17"/>
    <p:sldId id="279" r:id="rId18"/>
    <p:sldId id="264" r:id="rId19"/>
    <p:sldId id="275" r:id="rId20"/>
    <p:sldId id="277" r:id="rId21"/>
    <p:sldId id="259" r:id="rId22"/>
    <p:sldId id="282" r:id="rId23"/>
    <p:sldId id="26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92D050"/>
    <a:srgbClr val="00F4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794"/>
    <p:restoredTop sz="94632"/>
  </p:normalViewPr>
  <p:slideViewPr>
    <p:cSldViewPr snapToGrid="0">
      <p:cViewPr>
        <p:scale>
          <a:sx n="78" d="100"/>
          <a:sy n="78" d="100"/>
        </p:scale>
        <p:origin x="1160" y="8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43DE8-9508-F595-00C1-F9CAE65E7A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7F2B3E-54F6-7671-0A5B-6F89330B5D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B85A8BD-DDA7-273B-EBEC-22B654BBF0B1}"/>
              </a:ext>
            </a:extLst>
          </p:cNvPr>
          <p:cNvSpPr>
            <a:spLocks noGrp="1"/>
          </p:cNvSpPr>
          <p:nvPr>
            <p:ph type="dt" sz="half" idx="10"/>
          </p:nvPr>
        </p:nvSpPr>
        <p:spPr/>
        <p:txBody>
          <a:bodyPr/>
          <a:lstStyle/>
          <a:p>
            <a:fld id="{EADC0DF6-5785-9740-B760-A3D2ADE01FF1}" type="datetimeFigureOut">
              <a:rPr lang="en-US" smtClean="0"/>
              <a:t>12/5/25</a:t>
            </a:fld>
            <a:endParaRPr lang="en-US"/>
          </a:p>
        </p:txBody>
      </p:sp>
      <p:sp>
        <p:nvSpPr>
          <p:cNvPr id="5" name="Footer Placeholder 4">
            <a:extLst>
              <a:ext uri="{FF2B5EF4-FFF2-40B4-BE49-F238E27FC236}">
                <a16:creationId xmlns:a16="http://schemas.microsoft.com/office/drawing/2014/main" id="{1BE8BA95-DABE-46E7-26A1-937D49B4F5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A6AFB-CCD3-2D63-0F1A-2BB2400CDA3B}"/>
              </a:ext>
            </a:extLst>
          </p:cNvPr>
          <p:cNvSpPr>
            <a:spLocks noGrp="1"/>
          </p:cNvSpPr>
          <p:nvPr>
            <p:ph type="sldNum" sz="quarter" idx="12"/>
          </p:nvPr>
        </p:nvSpPr>
        <p:spPr/>
        <p:txBody>
          <a:bodyPr/>
          <a:lstStyle/>
          <a:p>
            <a:fld id="{8E85CC0B-6BCD-D145-844A-0EACAB20EAD2}" type="slidenum">
              <a:rPr lang="en-US" smtClean="0"/>
              <a:t>‹#›</a:t>
            </a:fld>
            <a:endParaRPr lang="en-US"/>
          </a:p>
        </p:txBody>
      </p:sp>
    </p:spTree>
    <p:extLst>
      <p:ext uri="{BB962C8B-B14F-4D97-AF65-F5344CB8AC3E}">
        <p14:creationId xmlns:p14="http://schemas.microsoft.com/office/powerpoint/2010/main" val="28421025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4F9F7-554C-BDB4-C5ED-FB71A4A787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B2E85A-9B73-1CDB-ADBA-BB26977221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3F8D82-90E4-1338-692C-BCE240049625}"/>
              </a:ext>
            </a:extLst>
          </p:cNvPr>
          <p:cNvSpPr>
            <a:spLocks noGrp="1"/>
          </p:cNvSpPr>
          <p:nvPr>
            <p:ph type="dt" sz="half" idx="10"/>
          </p:nvPr>
        </p:nvSpPr>
        <p:spPr/>
        <p:txBody>
          <a:bodyPr/>
          <a:lstStyle/>
          <a:p>
            <a:fld id="{EADC0DF6-5785-9740-B760-A3D2ADE01FF1}" type="datetimeFigureOut">
              <a:rPr lang="en-US" smtClean="0"/>
              <a:t>12/5/25</a:t>
            </a:fld>
            <a:endParaRPr lang="en-US"/>
          </a:p>
        </p:txBody>
      </p:sp>
      <p:sp>
        <p:nvSpPr>
          <p:cNvPr id="5" name="Footer Placeholder 4">
            <a:extLst>
              <a:ext uri="{FF2B5EF4-FFF2-40B4-BE49-F238E27FC236}">
                <a16:creationId xmlns:a16="http://schemas.microsoft.com/office/drawing/2014/main" id="{57849121-876D-9236-F1DD-2E31D75784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AEE8A3-15BD-9727-257D-CA7CCE826C02}"/>
              </a:ext>
            </a:extLst>
          </p:cNvPr>
          <p:cNvSpPr>
            <a:spLocks noGrp="1"/>
          </p:cNvSpPr>
          <p:nvPr>
            <p:ph type="sldNum" sz="quarter" idx="12"/>
          </p:nvPr>
        </p:nvSpPr>
        <p:spPr/>
        <p:txBody>
          <a:bodyPr/>
          <a:lstStyle/>
          <a:p>
            <a:fld id="{8E85CC0B-6BCD-D145-844A-0EACAB20EAD2}" type="slidenum">
              <a:rPr lang="en-US" smtClean="0"/>
              <a:t>‹#›</a:t>
            </a:fld>
            <a:endParaRPr lang="en-US"/>
          </a:p>
        </p:txBody>
      </p:sp>
    </p:spTree>
    <p:extLst>
      <p:ext uri="{BB962C8B-B14F-4D97-AF65-F5344CB8AC3E}">
        <p14:creationId xmlns:p14="http://schemas.microsoft.com/office/powerpoint/2010/main" val="2970780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9C283-9EC7-BE65-DC6B-9B0200AC2D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017783-3AFE-A86A-A3F7-E9212E70C9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BCA87C-951F-9E37-4413-EC331D053FCB}"/>
              </a:ext>
            </a:extLst>
          </p:cNvPr>
          <p:cNvSpPr>
            <a:spLocks noGrp="1"/>
          </p:cNvSpPr>
          <p:nvPr>
            <p:ph type="dt" sz="half" idx="10"/>
          </p:nvPr>
        </p:nvSpPr>
        <p:spPr/>
        <p:txBody>
          <a:bodyPr/>
          <a:lstStyle/>
          <a:p>
            <a:fld id="{EADC0DF6-5785-9740-B760-A3D2ADE01FF1}" type="datetimeFigureOut">
              <a:rPr lang="en-US" smtClean="0"/>
              <a:t>12/5/25</a:t>
            </a:fld>
            <a:endParaRPr lang="en-US"/>
          </a:p>
        </p:txBody>
      </p:sp>
      <p:sp>
        <p:nvSpPr>
          <p:cNvPr id="5" name="Footer Placeholder 4">
            <a:extLst>
              <a:ext uri="{FF2B5EF4-FFF2-40B4-BE49-F238E27FC236}">
                <a16:creationId xmlns:a16="http://schemas.microsoft.com/office/drawing/2014/main" id="{764CA88E-F4E8-8572-98A1-EC8D35E415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60DF9D-9BDB-42EC-E8E1-C9B4512000B4}"/>
              </a:ext>
            </a:extLst>
          </p:cNvPr>
          <p:cNvSpPr>
            <a:spLocks noGrp="1"/>
          </p:cNvSpPr>
          <p:nvPr>
            <p:ph type="sldNum" sz="quarter" idx="12"/>
          </p:nvPr>
        </p:nvSpPr>
        <p:spPr/>
        <p:txBody>
          <a:bodyPr/>
          <a:lstStyle/>
          <a:p>
            <a:fld id="{8E85CC0B-6BCD-D145-844A-0EACAB20EAD2}" type="slidenum">
              <a:rPr lang="en-US" smtClean="0"/>
              <a:t>‹#›</a:t>
            </a:fld>
            <a:endParaRPr lang="en-US"/>
          </a:p>
        </p:txBody>
      </p:sp>
    </p:spTree>
    <p:extLst>
      <p:ext uri="{BB962C8B-B14F-4D97-AF65-F5344CB8AC3E}">
        <p14:creationId xmlns:p14="http://schemas.microsoft.com/office/powerpoint/2010/main" val="1438878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3B810-14E4-B220-7517-EE93C9C0595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69AAC1-2A35-88FE-2863-897A3AA057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4BEF73-1D7B-2EEF-1112-171ED817C7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DA7063-1CAD-890B-247B-5C741B5D9D82}"/>
              </a:ext>
            </a:extLst>
          </p:cNvPr>
          <p:cNvSpPr>
            <a:spLocks noGrp="1"/>
          </p:cNvSpPr>
          <p:nvPr>
            <p:ph type="dt" sz="half" idx="10"/>
          </p:nvPr>
        </p:nvSpPr>
        <p:spPr/>
        <p:txBody>
          <a:bodyPr/>
          <a:lstStyle/>
          <a:p>
            <a:fld id="{EADC0DF6-5785-9740-B760-A3D2ADE01FF1}" type="datetimeFigureOut">
              <a:rPr lang="en-US" smtClean="0"/>
              <a:t>12/5/25</a:t>
            </a:fld>
            <a:endParaRPr lang="en-US"/>
          </a:p>
        </p:txBody>
      </p:sp>
      <p:sp>
        <p:nvSpPr>
          <p:cNvPr id="6" name="Footer Placeholder 5">
            <a:extLst>
              <a:ext uri="{FF2B5EF4-FFF2-40B4-BE49-F238E27FC236}">
                <a16:creationId xmlns:a16="http://schemas.microsoft.com/office/drawing/2014/main" id="{869CDB7C-2EC1-C1BF-2CCF-19561FFFD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F1C2C8-2E16-C66B-7510-1908210C1452}"/>
              </a:ext>
            </a:extLst>
          </p:cNvPr>
          <p:cNvSpPr>
            <a:spLocks noGrp="1"/>
          </p:cNvSpPr>
          <p:nvPr>
            <p:ph type="sldNum" sz="quarter" idx="12"/>
          </p:nvPr>
        </p:nvSpPr>
        <p:spPr/>
        <p:txBody>
          <a:bodyPr/>
          <a:lstStyle/>
          <a:p>
            <a:fld id="{8E85CC0B-6BCD-D145-844A-0EACAB20EAD2}" type="slidenum">
              <a:rPr lang="en-US" smtClean="0"/>
              <a:t>‹#›</a:t>
            </a:fld>
            <a:endParaRPr lang="en-US"/>
          </a:p>
        </p:txBody>
      </p:sp>
    </p:spTree>
    <p:extLst>
      <p:ext uri="{BB962C8B-B14F-4D97-AF65-F5344CB8AC3E}">
        <p14:creationId xmlns:p14="http://schemas.microsoft.com/office/powerpoint/2010/main" val="2667000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D8AFD-AE05-938A-0C3C-E7C9D93496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474C47-2A23-8BA2-B23C-74996CEC69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6CDE51-D32C-3712-A361-8ACC044680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BFD42B2-1431-2D0E-D2E8-B4756AE908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055C38-CF9C-94E5-012D-CE0C55FCFCB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B32E0C-E0A7-931B-ECAE-35A58EF811C6}"/>
              </a:ext>
            </a:extLst>
          </p:cNvPr>
          <p:cNvSpPr>
            <a:spLocks noGrp="1"/>
          </p:cNvSpPr>
          <p:nvPr>
            <p:ph type="dt" sz="half" idx="10"/>
          </p:nvPr>
        </p:nvSpPr>
        <p:spPr/>
        <p:txBody>
          <a:bodyPr/>
          <a:lstStyle/>
          <a:p>
            <a:fld id="{EADC0DF6-5785-9740-B760-A3D2ADE01FF1}" type="datetimeFigureOut">
              <a:rPr lang="en-US" smtClean="0"/>
              <a:t>12/5/25</a:t>
            </a:fld>
            <a:endParaRPr lang="en-US"/>
          </a:p>
        </p:txBody>
      </p:sp>
      <p:sp>
        <p:nvSpPr>
          <p:cNvPr id="8" name="Footer Placeholder 7">
            <a:extLst>
              <a:ext uri="{FF2B5EF4-FFF2-40B4-BE49-F238E27FC236}">
                <a16:creationId xmlns:a16="http://schemas.microsoft.com/office/drawing/2014/main" id="{134FB5F2-01B4-B353-5B38-5686AB2DE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497EB4-429C-37E7-F468-4FC090E0A6BA}"/>
              </a:ext>
            </a:extLst>
          </p:cNvPr>
          <p:cNvSpPr>
            <a:spLocks noGrp="1"/>
          </p:cNvSpPr>
          <p:nvPr>
            <p:ph type="sldNum" sz="quarter" idx="12"/>
          </p:nvPr>
        </p:nvSpPr>
        <p:spPr/>
        <p:txBody>
          <a:bodyPr/>
          <a:lstStyle/>
          <a:p>
            <a:fld id="{8E85CC0B-6BCD-D145-844A-0EACAB20EAD2}" type="slidenum">
              <a:rPr lang="en-US" smtClean="0"/>
              <a:t>‹#›</a:t>
            </a:fld>
            <a:endParaRPr lang="en-US"/>
          </a:p>
        </p:txBody>
      </p:sp>
    </p:spTree>
    <p:extLst>
      <p:ext uri="{BB962C8B-B14F-4D97-AF65-F5344CB8AC3E}">
        <p14:creationId xmlns:p14="http://schemas.microsoft.com/office/powerpoint/2010/main" val="630138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6B3A3-CDC2-305F-BED9-A7D8540F50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6B3D59-CCD1-ED9A-0F05-130C20DC2A1C}"/>
              </a:ext>
            </a:extLst>
          </p:cNvPr>
          <p:cNvSpPr>
            <a:spLocks noGrp="1"/>
          </p:cNvSpPr>
          <p:nvPr>
            <p:ph type="dt" sz="half" idx="10"/>
          </p:nvPr>
        </p:nvSpPr>
        <p:spPr/>
        <p:txBody>
          <a:bodyPr/>
          <a:lstStyle/>
          <a:p>
            <a:fld id="{EADC0DF6-5785-9740-B760-A3D2ADE01FF1}" type="datetimeFigureOut">
              <a:rPr lang="en-US" smtClean="0"/>
              <a:t>12/5/25</a:t>
            </a:fld>
            <a:endParaRPr lang="en-US"/>
          </a:p>
        </p:txBody>
      </p:sp>
      <p:sp>
        <p:nvSpPr>
          <p:cNvPr id="4" name="Footer Placeholder 3">
            <a:extLst>
              <a:ext uri="{FF2B5EF4-FFF2-40B4-BE49-F238E27FC236}">
                <a16:creationId xmlns:a16="http://schemas.microsoft.com/office/drawing/2014/main" id="{0B1A80C6-C1AA-0C7E-87EF-3E0D317415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1690EF-813D-69EB-5538-0CB95105D2B5}"/>
              </a:ext>
            </a:extLst>
          </p:cNvPr>
          <p:cNvSpPr>
            <a:spLocks noGrp="1"/>
          </p:cNvSpPr>
          <p:nvPr>
            <p:ph type="sldNum" sz="quarter" idx="12"/>
          </p:nvPr>
        </p:nvSpPr>
        <p:spPr/>
        <p:txBody>
          <a:bodyPr/>
          <a:lstStyle/>
          <a:p>
            <a:fld id="{8E85CC0B-6BCD-D145-844A-0EACAB20EAD2}" type="slidenum">
              <a:rPr lang="en-US" smtClean="0"/>
              <a:t>‹#›</a:t>
            </a:fld>
            <a:endParaRPr lang="en-US"/>
          </a:p>
        </p:txBody>
      </p:sp>
    </p:spTree>
    <p:extLst>
      <p:ext uri="{BB962C8B-B14F-4D97-AF65-F5344CB8AC3E}">
        <p14:creationId xmlns:p14="http://schemas.microsoft.com/office/powerpoint/2010/main" val="3917898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C91FB10-3D50-558B-2365-01A0D804FA89}"/>
              </a:ext>
            </a:extLst>
          </p:cNvPr>
          <p:cNvSpPr>
            <a:spLocks noGrp="1"/>
          </p:cNvSpPr>
          <p:nvPr>
            <p:ph type="dt" sz="half" idx="10"/>
          </p:nvPr>
        </p:nvSpPr>
        <p:spPr/>
        <p:txBody>
          <a:bodyPr/>
          <a:lstStyle/>
          <a:p>
            <a:fld id="{EADC0DF6-5785-9740-B760-A3D2ADE01FF1}" type="datetimeFigureOut">
              <a:rPr lang="en-US" smtClean="0"/>
              <a:t>12/5/25</a:t>
            </a:fld>
            <a:endParaRPr lang="en-US"/>
          </a:p>
        </p:txBody>
      </p:sp>
      <p:sp>
        <p:nvSpPr>
          <p:cNvPr id="3" name="Footer Placeholder 2">
            <a:extLst>
              <a:ext uri="{FF2B5EF4-FFF2-40B4-BE49-F238E27FC236}">
                <a16:creationId xmlns:a16="http://schemas.microsoft.com/office/drawing/2014/main" id="{094C936C-023D-B026-3F68-03C106D925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2E03CB-EA72-056B-DF30-F16664AA5C52}"/>
              </a:ext>
            </a:extLst>
          </p:cNvPr>
          <p:cNvSpPr>
            <a:spLocks noGrp="1"/>
          </p:cNvSpPr>
          <p:nvPr>
            <p:ph type="sldNum" sz="quarter" idx="12"/>
          </p:nvPr>
        </p:nvSpPr>
        <p:spPr/>
        <p:txBody>
          <a:bodyPr/>
          <a:lstStyle/>
          <a:p>
            <a:fld id="{8E85CC0B-6BCD-D145-844A-0EACAB20EAD2}" type="slidenum">
              <a:rPr lang="en-US" smtClean="0"/>
              <a:t>‹#›</a:t>
            </a:fld>
            <a:endParaRPr lang="en-US"/>
          </a:p>
        </p:txBody>
      </p:sp>
    </p:spTree>
    <p:extLst>
      <p:ext uri="{BB962C8B-B14F-4D97-AF65-F5344CB8AC3E}">
        <p14:creationId xmlns:p14="http://schemas.microsoft.com/office/powerpoint/2010/main" val="2922964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E7F5B-F016-5D2B-950C-93D01FADD2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D212A2-E730-9B10-A37D-8138217A34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A293409-F89D-3812-D2D1-9B6A9E8F51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6B707B-C391-2FAA-5C12-6B00F4C441F8}"/>
              </a:ext>
            </a:extLst>
          </p:cNvPr>
          <p:cNvSpPr>
            <a:spLocks noGrp="1"/>
          </p:cNvSpPr>
          <p:nvPr>
            <p:ph type="dt" sz="half" idx="10"/>
          </p:nvPr>
        </p:nvSpPr>
        <p:spPr/>
        <p:txBody>
          <a:bodyPr/>
          <a:lstStyle/>
          <a:p>
            <a:fld id="{EADC0DF6-5785-9740-B760-A3D2ADE01FF1}" type="datetimeFigureOut">
              <a:rPr lang="en-US" smtClean="0"/>
              <a:t>12/5/25</a:t>
            </a:fld>
            <a:endParaRPr lang="en-US"/>
          </a:p>
        </p:txBody>
      </p:sp>
      <p:sp>
        <p:nvSpPr>
          <p:cNvPr id="6" name="Footer Placeholder 5">
            <a:extLst>
              <a:ext uri="{FF2B5EF4-FFF2-40B4-BE49-F238E27FC236}">
                <a16:creationId xmlns:a16="http://schemas.microsoft.com/office/drawing/2014/main" id="{2FF2AA6A-FAC7-C7A7-9084-8C649D1801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D955F6-9997-5A20-76E3-ED082BA5E967}"/>
              </a:ext>
            </a:extLst>
          </p:cNvPr>
          <p:cNvSpPr>
            <a:spLocks noGrp="1"/>
          </p:cNvSpPr>
          <p:nvPr>
            <p:ph type="sldNum" sz="quarter" idx="12"/>
          </p:nvPr>
        </p:nvSpPr>
        <p:spPr/>
        <p:txBody>
          <a:bodyPr/>
          <a:lstStyle/>
          <a:p>
            <a:fld id="{8E85CC0B-6BCD-D145-844A-0EACAB20EAD2}" type="slidenum">
              <a:rPr lang="en-US" smtClean="0"/>
              <a:t>‹#›</a:t>
            </a:fld>
            <a:endParaRPr lang="en-US"/>
          </a:p>
        </p:txBody>
      </p:sp>
    </p:spTree>
    <p:extLst>
      <p:ext uri="{BB962C8B-B14F-4D97-AF65-F5344CB8AC3E}">
        <p14:creationId xmlns:p14="http://schemas.microsoft.com/office/powerpoint/2010/main" val="3704974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A8AF9-1B98-0543-F222-C361F8FF1F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60B097-77B0-8707-2631-BC8F0CF655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9D59AD4-D498-479F-850F-B1F11C6664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948A53-1560-0704-446C-A934E9976502}"/>
              </a:ext>
            </a:extLst>
          </p:cNvPr>
          <p:cNvSpPr>
            <a:spLocks noGrp="1"/>
          </p:cNvSpPr>
          <p:nvPr>
            <p:ph type="dt" sz="half" idx="10"/>
          </p:nvPr>
        </p:nvSpPr>
        <p:spPr/>
        <p:txBody>
          <a:bodyPr/>
          <a:lstStyle/>
          <a:p>
            <a:fld id="{EADC0DF6-5785-9740-B760-A3D2ADE01FF1}" type="datetimeFigureOut">
              <a:rPr lang="en-US" smtClean="0"/>
              <a:t>12/5/25</a:t>
            </a:fld>
            <a:endParaRPr lang="en-US"/>
          </a:p>
        </p:txBody>
      </p:sp>
      <p:sp>
        <p:nvSpPr>
          <p:cNvPr id="6" name="Footer Placeholder 5">
            <a:extLst>
              <a:ext uri="{FF2B5EF4-FFF2-40B4-BE49-F238E27FC236}">
                <a16:creationId xmlns:a16="http://schemas.microsoft.com/office/drawing/2014/main" id="{6546F3E5-5552-3B86-A5FC-34E98BD31C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B4AA99-34DE-9E06-9181-E7645DB646B7}"/>
              </a:ext>
            </a:extLst>
          </p:cNvPr>
          <p:cNvSpPr>
            <a:spLocks noGrp="1"/>
          </p:cNvSpPr>
          <p:nvPr>
            <p:ph type="sldNum" sz="quarter" idx="12"/>
          </p:nvPr>
        </p:nvSpPr>
        <p:spPr/>
        <p:txBody>
          <a:bodyPr/>
          <a:lstStyle/>
          <a:p>
            <a:fld id="{8E85CC0B-6BCD-D145-844A-0EACAB20EAD2}" type="slidenum">
              <a:rPr lang="en-US" smtClean="0"/>
              <a:t>‹#›</a:t>
            </a:fld>
            <a:endParaRPr lang="en-US"/>
          </a:p>
        </p:txBody>
      </p:sp>
    </p:spTree>
    <p:extLst>
      <p:ext uri="{BB962C8B-B14F-4D97-AF65-F5344CB8AC3E}">
        <p14:creationId xmlns:p14="http://schemas.microsoft.com/office/powerpoint/2010/main" val="1554211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ED700-6CA0-5B94-C807-3E0B6A05D5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43D8FB4-A30D-97AF-6CE7-95543839712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278D5-0E88-3CB2-3388-B10A150DFF3F}"/>
              </a:ext>
            </a:extLst>
          </p:cNvPr>
          <p:cNvSpPr>
            <a:spLocks noGrp="1"/>
          </p:cNvSpPr>
          <p:nvPr>
            <p:ph type="dt" sz="half" idx="10"/>
          </p:nvPr>
        </p:nvSpPr>
        <p:spPr/>
        <p:txBody>
          <a:bodyPr/>
          <a:lstStyle/>
          <a:p>
            <a:fld id="{EADC0DF6-5785-9740-B760-A3D2ADE01FF1}" type="datetimeFigureOut">
              <a:rPr lang="en-US" smtClean="0"/>
              <a:t>12/5/25</a:t>
            </a:fld>
            <a:endParaRPr lang="en-US"/>
          </a:p>
        </p:txBody>
      </p:sp>
      <p:sp>
        <p:nvSpPr>
          <p:cNvPr id="5" name="Footer Placeholder 4">
            <a:extLst>
              <a:ext uri="{FF2B5EF4-FFF2-40B4-BE49-F238E27FC236}">
                <a16:creationId xmlns:a16="http://schemas.microsoft.com/office/drawing/2014/main" id="{0B260432-D49E-E90F-9490-F2DCB3948D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C2155F-71BB-61D9-E1F4-298DE60026EB}"/>
              </a:ext>
            </a:extLst>
          </p:cNvPr>
          <p:cNvSpPr>
            <a:spLocks noGrp="1"/>
          </p:cNvSpPr>
          <p:nvPr>
            <p:ph type="sldNum" sz="quarter" idx="12"/>
          </p:nvPr>
        </p:nvSpPr>
        <p:spPr/>
        <p:txBody>
          <a:bodyPr/>
          <a:lstStyle/>
          <a:p>
            <a:fld id="{8E85CC0B-6BCD-D145-844A-0EACAB20EAD2}" type="slidenum">
              <a:rPr lang="en-US" smtClean="0"/>
              <a:t>‹#›</a:t>
            </a:fld>
            <a:endParaRPr lang="en-US"/>
          </a:p>
        </p:txBody>
      </p:sp>
    </p:spTree>
    <p:extLst>
      <p:ext uri="{BB962C8B-B14F-4D97-AF65-F5344CB8AC3E}">
        <p14:creationId xmlns:p14="http://schemas.microsoft.com/office/powerpoint/2010/main" val="19355796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7446A9-8CD5-B1F9-AC44-9E6C3E7DE5E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429B619-5748-ECC2-ECA0-1D5C4D2AB1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FB2E32-26C6-4D5A-1530-F8504CD457DA}"/>
              </a:ext>
            </a:extLst>
          </p:cNvPr>
          <p:cNvSpPr>
            <a:spLocks noGrp="1"/>
          </p:cNvSpPr>
          <p:nvPr>
            <p:ph type="dt" sz="half" idx="10"/>
          </p:nvPr>
        </p:nvSpPr>
        <p:spPr/>
        <p:txBody>
          <a:bodyPr/>
          <a:lstStyle/>
          <a:p>
            <a:fld id="{EADC0DF6-5785-9740-B760-A3D2ADE01FF1}" type="datetimeFigureOut">
              <a:rPr lang="en-US" smtClean="0"/>
              <a:t>12/5/25</a:t>
            </a:fld>
            <a:endParaRPr lang="en-US"/>
          </a:p>
        </p:txBody>
      </p:sp>
      <p:sp>
        <p:nvSpPr>
          <p:cNvPr id="5" name="Footer Placeholder 4">
            <a:extLst>
              <a:ext uri="{FF2B5EF4-FFF2-40B4-BE49-F238E27FC236}">
                <a16:creationId xmlns:a16="http://schemas.microsoft.com/office/drawing/2014/main" id="{B69CC842-A14B-B00B-CC9A-18CA5C8B07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D1835E-8B4C-C11C-01D1-37DE704B37C8}"/>
              </a:ext>
            </a:extLst>
          </p:cNvPr>
          <p:cNvSpPr>
            <a:spLocks noGrp="1"/>
          </p:cNvSpPr>
          <p:nvPr>
            <p:ph type="sldNum" sz="quarter" idx="12"/>
          </p:nvPr>
        </p:nvSpPr>
        <p:spPr/>
        <p:txBody>
          <a:bodyPr/>
          <a:lstStyle/>
          <a:p>
            <a:fld id="{8E85CC0B-6BCD-D145-844A-0EACAB20EAD2}" type="slidenum">
              <a:rPr lang="en-US" smtClean="0"/>
              <a:t>‹#›</a:t>
            </a:fld>
            <a:endParaRPr lang="en-US"/>
          </a:p>
        </p:txBody>
      </p:sp>
    </p:spTree>
    <p:extLst>
      <p:ext uri="{BB962C8B-B14F-4D97-AF65-F5344CB8AC3E}">
        <p14:creationId xmlns:p14="http://schemas.microsoft.com/office/powerpoint/2010/main" val="23873842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317EA3-4505-34F2-F95D-A9F1DBA382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A0DDD8-D39E-E4C1-EB84-0C58B315E4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D84665-0B4E-DBEA-777D-2F2F5D3D0F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DC0DF6-5785-9740-B760-A3D2ADE01FF1}" type="datetimeFigureOut">
              <a:rPr lang="en-US" smtClean="0"/>
              <a:t>12/5/25</a:t>
            </a:fld>
            <a:endParaRPr lang="en-US"/>
          </a:p>
        </p:txBody>
      </p:sp>
      <p:sp>
        <p:nvSpPr>
          <p:cNvPr id="5" name="Footer Placeholder 4">
            <a:extLst>
              <a:ext uri="{FF2B5EF4-FFF2-40B4-BE49-F238E27FC236}">
                <a16:creationId xmlns:a16="http://schemas.microsoft.com/office/drawing/2014/main" id="{5ABB4C31-0D69-8D83-98CA-E6038C884D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9F0B191-8BE3-AC48-CC58-5B21365021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85CC0B-6BCD-D145-844A-0EACAB20EAD2}" type="slidenum">
              <a:rPr lang="en-US" smtClean="0"/>
              <a:t>‹#›</a:t>
            </a:fld>
            <a:endParaRPr lang="en-US"/>
          </a:p>
        </p:txBody>
      </p:sp>
    </p:spTree>
    <p:extLst>
      <p:ext uri="{BB962C8B-B14F-4D97-AF65-F5344CB8AC3E}">
        <p14:creationId xmlns:p14="http://schemas.microsoft.com/office/powerpoint/2010/main" val="39394802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hyperlink" Target="https://cran.r-project.org/web/packages/vip/vignettes/vip.html" TargetMode="External"/><Relationship Id="rId3" Type="http://schemas.openxmlformats.org/officeDocument/2006/relationships/hyperlink" Target="https://doi.org/10.1093/nar/gkae1010" TargetMode="External"/><Relationship Id="rId7" Type="http://schemas.openxmlformats.org/officeDocument/2006/relationships/hyperlink" Target="https://cran.r-project.org/web/packages/caret/vignettes/caret.html" TargetMode="External"/><Relationship Id="rId2" Type="http://schemas.openxmlformats.org/officeDocument/2006/relationships/hyperlink" Target="https://doi.org/10.1002/cpz1.70021" TargetMode="External"/><Relationship Id="rId1" Type="http://schemas.openxmlformats.org/officeDocument/2006/relationships/slideLayout" Target="../slideLayouts/slideLayout7.xml"/><Relationship Id="rId6" Type="http://schemas.openxmlformats.org/officeDocument/2006/relationships/hyperlink" Target="https://doi.org/10.1186/s12864-023-09747-x" TargetMode="External"/><Relationship Id="rId5" Type="http://schemas.openxmlformats.org/officeDocument/2006/relationships/hyperlink" Target="https://doi.org/10.7287/peerj.preprints.3179v2" TargetMode="External"/><Relationship Id="rId10" Type="http://schemas.openxmlformats.org/officeDocument/2006/relationships/image" Target="../media/image1.png"/><Relationship Id="rId4" Type="http://schemas.openxmlformats.org/officeDocument/2006/relationships/hyperlink" Target="https://doi.org/10.1002/cem.2609" TargetMode="External"/><Relationship Id="rId9" Type="http://schemas.openxmlformats.org/officeDocument/2006/relationships/hyperlink" Target="https://www.sthda.com/english/wiki/ggplot2-quick-correlation-matrix-heatmap-r-software-and-data-visualiz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4CB10E-023C-E474-830F-B08521520673}"/>
              </a:ext>
            </a:extLst>
          </p:cNvPr>
          <p:cNvSpPr>
            <a:spLocks noGrp="1"/>
          </p:cNvSpPr>
          <p:nvPr>
            <p:ph type="ctrTitle"/>
          </p:nvPr>
        </p:nvSpPr>
        <p:spPr>
          <a:xfrm>
            <a:off x="823441" y="402956"/>
            <a:ext cx="5608355" cy="3673795"/>
          </a:xfrm>
        </p:spPr>
        <p:txBody>
          <a:bodyPr anchor="b">
            <a:noAutofit/>
          </a:bodyPr>
          <a:lstStyle/>
          <a:p>
            <a:pPr algn="l"/>
            <a:r>
              <a:rPr lang="en-US" sz="4800" b="1" dirty="0">
                <a:latin typeface="Arial" panose="020B0604020202020204" pitchFamily="34" charset="0"/>
                <a:cs typeface="Arial" panose="020B0604020202020204" pitchFamily="34" charset="0"/>
              </a:rPr>
              <a:t>Evaluation of Different Machine Learning Classifiers in the </a:t>
            </a:r>
            <a:r>
              <a:rPr lang="en-US" sz="4800" b="1" i="1" dirty="0">
                <a:latin typeface="Arial" panose="020B0604020202020204" pitchFamily="34" charset="0"/>
                <a:cs typeface="Arial" panose="020B0604020202020204" pitchFamily="34" charset="0"/>
              </a:rPr>
              <a:t>Muridae</a:t>
            </a:r>
            <a:r>
              <a:rPr lang="en-US" sz="4800" b="1" dirty="0">
                <a:latin typeface="Arial" panose="020B0604020202020204" pitchFamily="34" charset="0"/>
                <a:cs typeface="Arial" panose="020B0604020202020204" pitchFamily="34" charset="0"/>
              </a:rPr>
              <a:t> Taxon Group</a:t>
            </a:r>
          </a:p>
        </p:txBody>
      </p:sp>
      <p:sp>
        <p:nvSpPr>
          <p:cNvPr id="27" name="Rectangle 26">
            <a:extLst>
              <a:ext uri="{FF2B5EF4-FFF2-40B4-BE49-F238E27FC236}">
                <a16:creationId xmlns:a16="http://schemas.microsoft.com/office/drawing/2014/main" id="{BC05CA36-AD6A-4ABF-9A05-52E5A143D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022214"/>
            <a:ext cx="12192000" cy="2835786"/>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4331EE8-85A4-4588-8D9E-70E534D47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4022220"/>
            <a:ext cx="8153398" cy="2835780"/>
          </a:xfrm>
          <a:prstGeom prst="rect">
            <a:avLst/>
          </a:prstGeom>
          <a:gradFill>
            <a:gsLst>
              <a:gs pos="0">
                <a:srgbClr val="000000">
                  <a:alpha val="63000"/>
                </a:srgbClr>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9D6C862-61CC-4B46-8080-96583D653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022219"/>
            <a:ext cx="12253472" cy="2835781"/>
          </a:xfrm>
          <a:prstGeom prst="rect">
            <a:avLst/>
          </a:prstGeom>
          <a:gradFill>
            <a:gsLst>
              <a:gs pos="39000">
                <a:schemeClr val="accent1">
                  <a:lumMod val="50000"/>
                  <a:alpha val="0"/>
                </a:schemeClr>
              </a:gs>
              <a:gs pos="100000">
                <a:srgbClr val="000000">
                  <a:alpha val="72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ubtitle 2">
            <a:extLst>
              <a:ext uri="{FF2B5EF4-FFF2-40B4-BE49-F238E27FC236}">
                <a16:creationId xmlns:a16="http://schemas.microsoft.com/office/drawing/2014/main" id="{41623915-BE91-458B-A0EA-60970CD81845}"/>
              </a:ext>
            </a:extLst>
          </p:cNvPr>
          <p:cNvSpPr>
            <a:spLocks noGrp="1"/>
          </p:cNvSpPr>
          <p:nvPr>
            <p:ph type="subTitle" idx="1"/>
          </p:nvPr>
        </p:nvSpPr>
        <p:spPr>
          <a:xfrm>
            <a:off x="823442" y="4541263"/>
            <a:ext cx="4662957" cy="1395022"/>
          </a:xfrm>
        </p:spPr>
        <p:txBody>
          <a:bodyPr anchor="t">
            <a:normAutofit lnSpcReduction="10000"/>
          </a:bodyPr>
          <a:lstStyle/>
          <a:p>
            <a:pPr algn="l"/>
            <a:r>
              <a:rPr lang="en-US" sz="2800" b="1" dirty="0">
                <a:solidFill>
                  <a:srgbClr val="FFFFFF"/>
                </a:solidFill>
                <a:latin typeface="Arial" panose="020B0604020202020204" pitchFamily="34" charset="0"/>
                <a:cs typeface="Arial" panose="020B0604020202020204" pitchFamily="34" charset="0"/>
              </a:rPr>
              <a:t>Assignment 04</a:t>
            </a:r>
          </a:p>
          <a:p>
            <a:pPr algn="l"/>
            <a:r>
              <a:rPr lang="en-US" sz="2800" b="1" dirty="0">
                <a:solidFill>
                  <a:srgbClr val="FFFFFF"/>
                </a:solidFill>
                <a:latin typeface="Arial" panose="020B0604020202020204" pitchFamily="34" charset="0"/>
                <a:cs typeface="Arial" panose="020B0604020202020204" pitchFamily="34" charset="0"/>
              </a:rPr>
              <a:t>BINF 6210</a:t>
            </a:r>
          </a:p>
          <a:p>
            <a:pPr algn="l"/>
            <a:r>
              <a:rPr lang="en-US" sz="2800" b="1" dirty="0">
                <a:solidFill>
                  <a:srgbClr val="FFFFFF"/>
                </a:solidFill>
                <a:latin typeface="Arial" panose="020B0604020202020204" pitchFamily="34" charset="0"/>
                <a:cs typeface="Arial" panose="020B0604020202020204" pitchFamily="34" charset="0"/>
              </a:rPr>
              <a:t>By: Liona Vu</a:t>
            </a:r>
          </a:p>
        </p:txBody>
      </p:sp>
      <p:sp>
        <p:nvSpPr>
          <p:cNvPr id="33" name="Rectangle 32">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0797"/>
            <a:ext cx="12191998" cy="457203"/>
          </a:xfrm>
          <a:prstGeom prst="rect">
            <a:avLst/>
          </a:prstGeom>
          <a:gradFill>
            <a:gsLst>
              <a:gs pos="0">
                <a:srgbClr val="000000">
                  <a:alpha val="43000"/>
                </a:srgbClr>
              </a:gs>
              <a:gs pos="79000">
                <a:schemeClr val="accent1">
                  <a:lumMod val="75000"/>
                  <a:alpha val="22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oup of cartoon mice&#10;&#10;AI-generated content may be incorrect.">
            <a:extLst>
              <a:ext uri="{FF2B5EF4-FFF2-40B4-BE49-F238E27FC236}">
                <a16:creationId xmlns:a16="http://schemas.microsoft.com/office/drawing/2014/main" id="{9239E350-8DDC-D93D-E575-A5DFBF1C53B1}"/>
              </a:ext>
            </a:extLst>
          </p:cNvPr>
          <p:cNvPicPr>
            <a:picLocks noChangeAspect="1"/>
          </p:cNvPicPr>
          <p:nvPr/>
        </p:nvPicPr>
        <p:blipFill>
          <a:blip r:embed="rId2"/>
          <a:srcRect l="45674" t="50895" r="6297" b="-2327"/>
          <a:stretch>
            <a:fillRect/>
          </a:stretch>
        </p:blipFill>
        <p:spPr>
          <a:xfrm>
            <a:off x="6705603" y="1805048"/>
            <a:ext cx="5375164" cy="4232863"/>
          </a:xfrm>
          <a:prstGeom prst="rect">
            <a:avLst/>
          </a:prstGeom>
        </p:spPr>
      </p:pic>
    </p:spTree>
    <p:extLst>
      <p:ext uri="{BB962C8B-B14F-4D97-AF65-F5344CB8AC3E}">
        <p14:creationId xmlns:p14="http://schemas.microsoft.com/office/powerpoint/2010/main" val="3513125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descr="A group of round objects&#10;&#10;AI-generated content may be incorrect.">
            <a:extLst>
              <a:ext uri="{FF2B5EF4-FFF2-40B4-BE49-F238E27FC236}">
                <a16:creationId xmlns:a16="http://schemas.microsoft.com/office/drawing/2014/main" id="{4EED1EDD-C055-93A5-DE78-419B09ED8A15}"/>
              </a:ext>
            </a:extLst>
          </p:cNvPr>
          <p:cNvPicPr>
            <a:picLocks noChangeAspect="1"/>
          </p:cNvPicPr>
          <p:nvPr/>
        </p:nvPicPr>
        <p:blipFill>
          <a:blip r:embed="rId2"/>
          <a:srcRect l="9325" b="76186"/>
          <a:stretch>
            <a:fillRect/>
          </a:stretch>
        </p:blipFill>
        <p:spPr>
          <a:xfrm>
            <a:off x="8869362" y="4956785"/>
            <a:ext cx="1891851" cy="931624"/>
          </a:xfrm>
          <a:prstGeom prst="rect">
            <a:avLst/>
          </a:prstGeom>
        </p:spPr>
      </p:pic>
      <p:sp>
        <p:nvSpPr>
          <p:cNvPr id="2" name="Title 1">
            <a:extLst>
              <a:ext uri="{FF2B5EF4-FFF2-40B4-BE49-F238E27FC236}">
                <a16:creationId xmlns:a16="http://schemas.microsoft.com/office/drawing/2014/main" id="{95B541BB-17E4-E105-B08F-540A8D32E925}"/>
              </a:ext>
            </a:extLst>
          </p:cNvPr>
          <p:cNvSpPr>
            <a:spLocks noGrp="1"/>
          </p:cNvSpPr>
          <p:nvPr>
            <p:ph type="title"/>
          </p:nvPr>
        </p:nvSpPr>
        <p:spPr>
          <a:xfrm>
            <a:off x="0" y="0"/>
            <a:ext cx="12192000" cy="661481"/>
          </a:xfrm>
          <a:solidFill>
            <a:schemeClr val="tx2"/>
          </a:solidFill>
        </p:spPr>
        <p:txBody>
          <a:bodyPr>
            <a:normAutofit/>
          </a:bodyPr>
          <a:lstStyle/>
          <a:p>
            <a:r>
              <a:rPr lang="en-US" sz="3200" b="1" dirty="0">
                <a:solidFill>
                  <a:schemeClr val="bg1"/>
                </a:solidFill>
                <a:latin typeface="Arial" panose="020B0604020202020204" pitchFamily="34" charset="0"/>
                <a:cs typeface="Arial" panose="020B0604020202020204" pitchFamily="34" charset="0"/>
              </a:rPr>
              <a:t>The </a:t>
            </a:r>
            <a:r>
              <a:rPr lang="en-US" sz="3200" b="1" i="1" dirty="0">
                <a:solidFill>
                  <a:schemeClr val="bg1"/>
                </a:solidFill>
                <a:latin typeface="Arial" panose="020B0604020202020204" pitchFamily="34" charset="0"/>
                <a:cs typeface="Arial" panose="020B0604020202020204" pitchFamily="34" charset="0"/>
              </a:rPr>
              <a:t>Muridae</a:t>
            </a:r>
            <a:r>
              <a:rPr lang="en-US" sz="3200" b="1" dirty="0">
                <a:solidFill>
                  <a:schemeClr val="bg1"/>
                </a:solidFill>
                <a:latin typeface="Arial" panose="020B0604020202020204" pitchFamily="34" charset="0"/>
                <a:cs typeface="Arial" panose="020B0604020202020204" pitchFamily="34" charset="0"/>
              </a:rPr>
              <a:t> taxon and its importance in biomedical research</a:t>
            </a:r>
          </a:p>
        </p:txBody>
      </p:sp>
      <p:sp>
        <p:nvSpPr>
          <p:cNvPr id="7" name="TextBox 6">
            <a:extLst>
              <a:ext uri="{FF2B5EF4-FFF2-40B4-BE49-F238E27FC236}">
                <a16:creationId xmlns:a16="http://schemas.microsoft.com/office/drawing/2014/main" id="{F1DFDFAD-2913-70C1-EB90-04DFE6D2FBAB}"/>
              </a:ext>
            </a:extLst>
          </p:cNvPr>
          <p:cNvSpPr txBox="1"/>
          <p:nvPr/>
        </p:nvSpPr>
        <p:spPr>
          <a:xfrm>
            <a:off x="0" y="664082"/>
            <a:ext cx="12192000" cy="4493538"/>
          </a:xfrm>
          <a:prstGeom prst="rect">
            <a:avLst/>
          </a:prstGeom>
          <a:noFill/>
        </p:spPr>
        <p:txBody>
          <a:bodyPr wrap="square">
            <a:spAutoFit/>
          </a:bodyPr>
          <a:lstStyle/>
          <a:p>
            <a:pPr algn="just"/>
            <a:r>
              <a:rPr lang="en-US" sz="2200" dirty="0">
                <a:latin typeface="Arial" panose="020B0604020202020204" pitchFamily="34" charset="0"/>
                <a:cs typeface="Arial" panose="020B0604020202020204" pitchFamily="34" charset="0"/>
              </a:rPr>
              <a:t>The </a:t>
            </a:r>
            <a:r>
              <a:rPr lang="en-US" sz="2200" i="1" dirty="0">
                <a:latin typeface="Arial" panose="020B0604020202020204" pitchFamily="34" charset="0"/>
                <a:cs typeface="Arial" panose="020B0604020202020204" pitchFamily="34" charset="0"/>
              </a:rPr>
              <a:t>Muridae</a:t>
            </a:r>
            <a:r>
              <a:rPr lang="en-US" sz="2200" dirty="0">
                <a:latin typeface="Arial" panose="020B0604020202020204" pitchFamily="34" charset="0"/>
                <a:cs typeface="Arial" panose="020B0604020202020204" pitchFamily="34" charset="0"/>
              </a:rPr>
              <a:t> group is a scientifically important taxonomic class as it contains known research model organisms such as both the </a:t>
            </a:r>
            <a:r>
              <a:rPr lang="en-US" sz="2200" i="1" dirty="0">
                <a:latin typeface="Arial" panose="020B0604020202020204" pitchFamily="34" charset="0"/>
                <a:cs typeface="Arial" panose="020B0604020202020204" pitchFamily="34" charset="0"/>
              </a:rPr>
              <a:t>Mus</a:t>
            </a:r>
            <a:r>
              <a:rPr lang="en-US" sz="2200" dirty="0">
                <a:latin typeface="Arial" panose="020B0604020202020204" pitchFamily="34" charset="0"/>
                <a:cs typeface="Arial" panose="020B0604020202020204" pitchFamily="34" charset="0"/>
              </a:rPr>
              <a:t> </a:t>
            </a:r>
            <a:r>
              <a:rPr lang="en-US" sz="2200" i="1" dirty="0">
                <a:latin typeface="Arial" panose="020B0604020202020204" pitchFamily="34" charset="0"/>
                <a:cs typeface="Arial" panose="020B0604020202020204" pitchFamily="34" charset="0"/>
              </a:rPr>
              <a:t>musculus</a:t>
            </a:r>
            <a:r>
              <a:rPr lang="en-US" sz="2200" dirty="0">
                <a:latin typeface="Arial" panose="020B0604020202020204" pitchFamily="34" charset="0"/>
                <a:cs typeface="Arial" panose="020B0604020202020204" pitchFamily="34" charset="0"/>
              </a:rPr>
              <a:t> (</a:t>
            </a:r>
            <a:r>
              <a:rPr lang="en-CA" sz="2200" dirty="0" err="1">
                <a:latin typeface="Arial" panose="020B0604020202020204" pitchFamily="34" charset="0"/>
                <a:cs typeface="Arial" panose="020B0604020202020204" pitchFamily="34" charset="0"/>
              </a:rPr>
              <a:t>Standley</a:t>
            </a:r>
            <a:r>
              <a:rPr lang="en-CA" sz="2200" dirty="0">
                <a:latin typeface="Arial" panose="020B0604020202020204" pitchFamily="34" charset="0"/>
                <a:cs typeface="Arial" panose="020B0604020202020204" pitchFamily="34" charset="0"/>
              </a:rPr>
              <a:t> et </a:t>
            </a:r>
            <a:r>
              <a:rPr lang="en-CA" sz="2200" i="1" dirty="0">
                <a:latin typeface="Arial" panose="020B0604020202020204" pitchFamily="34" charset="0"/>
                <a:cs typeface="Arial" panose="020B0604020202020204" pitchFamily="34" charset="0"/>
              </a:rPr>
              <a:t>al.</a:t>
            </a:r>
            <a:r>
              <a:rPr lang="en-CA" sz="2200" dirty="0">
                <a:latin typeface="Arial" panose="020B0604020202020204" pitchFamily="34" charset="0"/>
                <a:cs typeface="Arial" panose="020B0604020202020204" pitchFamily="34" charset="0"/>
              </a:rPr>
              <a:t>, 2024) </a:t>
            </a:r>
            <a:r>
              <a:rPr lang="en-US" sz="2200" dirty="0">
                <a:latin typeface="Arial" panose="020B0604020202020204" pitchFamily="34" charset="0"/>
                <a:cs typeface="Arial" panose="020B0604020202020204" pitchFamily="34" charset="0"/>
              </a:rPr>
              <a:t>and the </a:t>
            </a:r>
            <a:r>
              <a:rPr lang="en-US" sz="2200" i="1" dirty="0">
                <a:latin typeface="Arial" panose="020B0604020202020204" pitchFamily="34" charset="0"/>
                <a:cs typeface="Arial" panose="020B0604020202020204" pitchFamily="34" charset="0"/>
              </a:rPr>
              <a:t>Rattus</a:t>
            </a:r>
            <a:r>
              <a:rPr lang="en-US" sz="2200" dirty="0">
                <a:latin typeface="Arial" panose="020B0604020202020204" pitchFamily="34" charset="0"/>
                <a:cs typeface="Arial" panose="020B0604020202020204" pitchFamily="34" charset="0"/>
              </a:rPr>
              <a:t> </a:t>
            </a:r>
            <a:r>
              <a:rPr lang="en-US" sz="2200" i="1" dirty="0">
                <a:latin typeface="Arial" panose="020B0604020202020204" pitchFamily="34" charset="0"/>
                <a:cs typeface="Arial" panose="020B0604020202020204" pitchFamily="34" charset="0"/>
              </a:rPr>
              <a:t>norvegicus</a:t>
            </a:r>
            <a:r>
              <a:rPr lang="en-US" sz="2200" dirty="0">
                <a:latin typeface="Arial" panose="020B0604020202020204" pitchFamily="34" charset="0"/>
                <a:cs typeface="Arial" panose="020B0604020202020204" pitchFamily="34" charset="0"/>
              </a:rPr>
              <a:t> (</a:t>
            </a:r>
            <a:r>
              <a:rPr lang="en-CA" sz="2200" dirty="0" err="1">
                <a:latin typeface="Arial" panose="020B0604020202020204" pitchFamily="34" charset="0"/>
                <a:cs typeface="Arial" panose="020B0604020202020204" pitchFamily="34" charset="0"/>
              </a:rPr>
              <a:t>Modlinska</a:t>
            </a:r>
            <a:r>
              <a:rPr lang="en-CA" sz="2200" dirty="0">
                <a:latin typeface="Arial" panose="020B0604020202020204" pitchFamily="34" charset="0"/>
                <a:cs typeface="Arial" panose="020B0604020202020204" pitchFamily="34" charset="0"/>
              </a:rPr>
              <a:t> &amp; Pisula, 2020) </a:t>
            </a:r>
            <a:r>
              <a:rPr lang="en-US" sz="2200" dirty="0">
                <a:latin typeface="Arial" panose="020B0604020202020204" pitchFamily="34" charset="0"/>
                <a:cs typeface="Arial" panose="020B0604020202020204" pitchFamily="34" charset="0"/>
              </a:rPr>
              <a:t>species. In fact, decades of important discoveries have been done extensively in </a:t>
            </a:r>
            <a:r>
              <a:rPr lang="en-US" sz="2200" i="1" dirty="0">
                <a:latin typeface="Arial" panose="020B0604020202020204" pitchFamily="34" charset="0"/>
                <a:cs typeface="Arial" panose="020B0604020202020204" pitchFamily="34" charset="0"/>
              </a:rPr>
              <a:t>Mus musculus </a:t>
            </a:r>
            <a:r>
              <a:rPr lang="en-US" sz="2200" dirty="0">
                <a:latin typeface="Arial" panose="020B0604020202020204" pitchFamily="34" charset="0"/>
                <a:cs typeface="Arial" panose="020B0604020202020204" pitchFamily="34" charset="0"/>
              </a:rPr>
              <a:t>(</a:t>
            </a:r>
            <a:r>
              <a:rPr lang="en-US" sz="2200" dirty="0" err="1">
                <a:latin typeface="Arial" panose="020B0604020202020204" pitchFamily="34" charset="0"/>
                <a:cs typeface="Arial" panose="020B0604020202020204" pitchFamily="34" charset="0"/>
              </a:rPr>
              <a:t>Standley</a:t>
            </a:r>
            <a:r>
              <a:rPr lang="en-US" sz="2200" dirty="0">
                <a:latin typeface="Arial" panose="020B0604020202020204" pitchFamily="34" charset="0"/>
                <a:cs typeface="Arial" panose="020B0604020202020204" pitchFamily="34" charset="0"/>
              </a:rPr>
              <a:t> et </a:t>
            </a:r>
            <a:r>
              <a:rPr lang="en-US" sz="2200" i="1" dirty="0">
                <a:latin typeface="Arial" panose="020B0604020202020204" pitchFamily="34" charset="0"/>
                <a:cs typeface="Arial" panose="020B0604020202020204" pitchFamily="34" charset="0"/>
              </a:rPr>
              <a:t>al.</a:t>
            </a:r>
            <a:r>
              <a:rPr lang="en-US" sz="2200" dirty="0">
                <a:latin typeface="Arial" panose="020B0604020202020204" pitchFamily="34" charset="0"/>
                <a:cs typeface="Arial" panose="020B0604020202020204" pitchFamily="34" charset="0"/>
              </a:rPr>
              <a:t>, 2024). Since mice and rats are important to biomedical research, having the ability to distinguish </a:t>
            </a:r>
            <a:r>
              <a:rPr lang="en-US" sz="2200" i="1" dirty="0">
                <a:latin typeface="Arial" panose="020B0604020202020204" pitchFamily="34" charset="0"/>
                <a:cs typeface="Arial" panose="020B0604020202020204" pitchFamily="34" charset="0"/>
              </a:rPr>
              <a:t>Muridae</a:t>
            </a:r>
            <a:r>
              <a:rPr lang="en-US" sz="2200" dirty="0">
                <a:latin typeface="Arial" panose="020B0604020202020204" pitchFamily="34" charset="0"/>
                <a:cs typeface="Arial" panose="020B0604020202020204" pitchFamily="34" charset="0"/>
              </a:rPr>
              <a:t> species can help with the reproducibility and validation of biological results.</a:t>
            </a:r>
          </a:p>
          <a:p>
            <a:pPr algn="just"/>
            <a:endParaRPr lang="en-US" sz="2200" dirty="0">
              <a:latin typeface="Arial" panose="020B0604020202020204" pitchFamily="34" charset="0"/>
              <a:cs typeface="Arial" panose="020B0604020202020204" pitchFamily="34" charset="0"/>
            </a:endParaRPr>
          </a:p>
          <a:p>
            <a:pPr algn="just"/>
            <a:r>
              <a:rPr lang="en-US" sz="2200" dirty="0">
                <a:latin typeface="Arial" panose="020B0604020202020204" pitchFamily="34" charset="0"/>
                <a:cs typeface="Arial" panose="020B0604020202020204" pitchFamily="34" charset="0"/>
              </a:rPr>
              <a:t>Various genes have been well-studied in the </a:t>
            </a:r>
            <a:r>
              <a:rPr lang="en-US" sz="2200" i="1" dirty="0">
                <a:latin typeface="Arial" panose="020B0604020202020204" pitchFamily="34" charset="0"/>
                <a:cs typeface="Arial" panose="020B0604020202020204" pitchFamily="34" charset="0"/>
              </a:rPr>
              <a:t>Muridae</a:t>
            </a:r>
            <a:r>
              <a:rPr lang="en-US" sz="2200" dirty="0">
                <a:latin typeface="Arial" panose="020B0604020202020204" pitchFamily="34" charset="0"/>
                <a:cs typeface="Arial" panose="020B0604020202020204" pitchFamily="34" charset="0"/>
              </a:rPr>
              <a:t> group. Thus, its roles are well established in their respective biological processes. In fact, these genes are well annotated in </a:t>
            </a:r>
            <a:r>
              <a:rPr lang="en-US" sz="2200" i="1" dirty="0">
                <a:latin typeface="Arial" panose="020B0604020202020204" pitchFamily="34" charset="0"/>
                <a:cs typeface="Arial" panose="020B0604020202020204" pitchFamily="34" charset="0"/>
              </a:rPr>
              <a:t>Muridae</a:t>
            </a:r>
            <a:r>
              <a:rPr lang="en-US" sz="2200" dirty="0">
                <a:latin typeface="Arial" panose="020B0604020202020204" pitchFamily="34" charset="0"/>
                <a:cs typeface="Arial" panose="020B0604020202020204" pitchFamily="34" charset="0"/>
              </a:rPr>
              <a:t> making them ideal for comparative genomic studies. These genes include, </a:t>
            </a:r>
            <a:r>
              <a:rPr lang="en-US" sz="2200" i="1" dirty="0" err="1">
                <a:latin typeface="Arial" panose="020B0604020202020204" pitchFamily="34" charset="0"/>
                <a:cs typeface="Arial" panose="020B0604020202020204" pitchFamily="34" charset="0"/>
              </a:rPr>
              <a:t>Cytb</a:t>
            </a:r>
            <a:r>
              <a:rPr lang="en-US" sz="2200" i="1" dirty="0">
                <a:latin typeface="Arial" panose="020B0604020202020204" pitchFamily="34" charset="0"/>
                <a:cs typeface="Arial" panose="020B0604020202020204" pitchFamily="34" charset="0"/>
              </a:rPr>
              <a:t>, </a:t>
            </a:r>
            <a:r>
              <a:rPr lang="en-US" sz="2200" dirty="0">
                <a:latin typeface="Arial" panose="020B0604020202020204" pitchFamily="34" charset="0"/>
                <a:cs typeface="Arial" panose="020B0604020202020204" pitchFamily="34" charset="0"/>
              </a:rPr>
              <a:t>a mitochondrial gene that codes for a protein that is part of complex III in the electron transport chain, </a:t>
            </a:r>
            <a:r>
              <a:rPr lang="en-US" sz="2200" i="1" dirty="0" err="1">
                <a:latin typeface="Arial" panose="020B0604020202020204" pitchFamily="34" charset="0"/>
                <a:cs typeface="Arial" panose="020B0604020202020204" pitchFamily="34" charset="0"/>
              </a:rPr>
              <a:t>Irbp</a:t>
            </a:r>
            <a:r>
              <a:rPr lang="en-US" sz="2200" dirty="0">
                <a:latin typeface="Arial" panose="020B0604020202020204" pitchFamily="34" charset="0"/>
                <a:cs typeface="Arial" panose="020B0604020202020204" pitchFamily="34" charset="0"/>
              </a:rPr>
              <a:t>, a gene known for its function in eye vision, and </a:t>
            </a:r>
            <a:r>
              <a:rPr lang="en-US" sz="2200" i="1" dirty="0">
                <a:latin typeface="Arial" panose="020B0604020202020204" pitchFamily="34" charset="0"/>
                <a:cs typeface="Arial" panose="020B0604020202020204" pitchFamily="34" charset="0"/>
              </a:rPr>
              <a:t>Rag1</a:t>
            </a:r>
            <a:r>
              <a:rPr lang="en-US" sz="2200" dirty="0">
                <a:latin typeface="Arial" panose="020B0604020202020204" pitchFamily="34" charset="0"/>
                <a:cs typeface="Arial" panose="020B0604020202020204" pitchFamily="34" charset="0"/>
              </a:rPr>
              <a:t>, a gene involved in </a:t>
            </a:r>
            <a:r>
              <a:rPr lang="en-CA" sz="2200" dirty="0">
                <a:latin typeface="Arial" panose="020B0604020202020204" pitchFamily="34" charset="0"/>
                <a:cs typeface="Arial" panose="020B0604020202020204" pitchFamily="34" charset="0"/>
              </a:rPr>
              <a:t>the variable, diversity, and joining, (</a:t>
            </a:r>
            <a:r>
              <a:rPr lang="en-US" sz="2200" dirty="0">
                <a:latin typeface="Arial" panose="020B0604020202020204" pitchFamily="34" charset="0"/>
                <a:cs typeface="Arial" panose="020B0604020202020204" pitchFamily="34" charset="0"/>
              </a:rPr>
              <a:t>V(D)J) recombination process of immune cells (</a:t>
            </a:r>
            <a:r>
              <a:rPr lang="en-US" sz="2200" dirty="0" err="1">
                <a:latin typeface="Arial" panose="020B0604020202020204" pitchFamily="34" charset="0"/>
                <a:cs typeface="Arial" panose="020B0604020202020204" pitchFamily="34" charset="0"/>
              </a:rPr>
              <a:t>UniProt</a:t>
            </a:r>
            <a:r>
              <a:rPr lang="en-US" sz="2200" dirty="0">
                <a:latin typeface="Arial" panose="020B0604020202020204" pitchFamily="34" charset="0"/>
                <a:cs typeface="Arial" panose="020B0604020202020204" pitchFamily="34" charset="0"/>
              </a:rPr>
              <a:t> Consortium, 2025). </a:t>
            </a:r>
          </a:p>
        </p:txBody>
      </p:sp>
      <p:pic>
        <p:nvPicPr>
          <p:cNvPr id="9" name="Picture 8" descr="A blue dna strand on a black background&#10;&#10;AI-generated content may be incorrect.">
            <a:extLst>
              <a:ext uri="{FF2B5EF4-FFF2-40B4-BE49-F238E27FC236}">
                <a16:creationId xmlns:a16="http://schemas.microsoft.com/office/drawing/2014/main" id="{0ECB1AAB-785D-A77B-D2A7-D90A077C120C}"/>
              </a:ext>
            </a:extLst>
          </p:cNvPr>
          <p:cNvPicPr>
            <a:picLocks noChangeAspect="1"/>
          </p:cNvPicPr>
          <p:nvPr/>
        </p:nvPicPr>
        <p:blipFill>
          <a:blip r:embed="rId3">
            <a:alphaModFix/>
          </a:blip>
          <a:stretch>
            <a:fillRect/>
          </a:stretch>
        </p:blipFill>
        <p:spPr>
          <a:xfrm>
            <a:off x="6096000" y="5115955"/>
            <a:ext cx="2549017" cy="886614"/>
          </a:xfrm>
          <a:prstGeom prst="rect">
            <a:avLst/>
          </a:prstGeom>
          <a:effectLst>
            <a:outerShdw dist="50800" sx="1000" sy="1000" algn="ctr" rotWithShape="0">
              <a:srgbClr val="000000"/>
            </a:outerShdw>
            <a:reflection endPos="0" dist="50800" dir="5400000" sy="-100000" algn="bl" rotWithShape="0"/>
          </a:effectLst>
        </p:spPr>
      </p:pic>
      <p:pic>
        <p:nvPicPr>
          <p:cNvPr id="12" name="Picture 11" descr="A purple and pink dna strand&#10;&#10;AI-generated content may be incorrect.">
            <a:extLst>
              <a:ext uri="{FF2B5EF4-FFF2-40B4-BE49-F238E27FC236}">
                <a16:creationId xmlns:a16="http://schemas.microsoft.com/office/drawing/2014/main" id="{452B699A-27CC-9DD1-7309-381CA97BEE72}"/>
              </a:ext>
            </a:extLst>
          </p:cNvPr>
          <p:cNvPicPr>
            <a:picLocks noChangeAspect="1"/>
          </p:cNvPicPr>
          <p:nvPr/>
        </p:nvPicPr>
        <p:blipFill>
          <a:blip r:embed="rId4"/>
          <a:stretch>
            <a:fillRect/>
          </a:stretch>
        </p:blipFill>
        <p:spPr>
          <a:xfrm>
            <a:off x="185899" y="5422597"/>
            <a:ext cx="2709098" cy="886614"/>
          </a:xfrm>
          <a:prstGeom prst="rect">
            <a:avLst/>
          </a:prstGeom>
        </p:spPr>
      </p:pic>
      <p:pic>
        <p:nvPicPr>
          <p:cNvPr id="18" name="Picture 17" descr="A green and blue dna strand&#10;&#10;AI-generated content may be incorrect.">
            <a:extLst>
              <a:ext uri="{FF2B5EF4-FFF2-40B4-BE49-F238E27FC236}">
                <a16:creationId xmlns:a16="http://schemas.microsoft.com/office/drawing/2014/main" id="{45F3FF86-D0E1-CD5D-6DE4-5ED51BC77D74}"/>
              </a:ext>
            </a:extLst>
          </p:cNvPr>
          <p:cNvPicPr>
            <a:picLocks noChangeAspect="1"/>
          </p:cNvPicPr>
          <p:nvPr/>
        </p:nvPicPr>
        <p:blipFill>
          <a:blip r:embed="rId5"/>
          <a:stretch>
            <a:fillRect/>
          </a:stretch>
        </p:blipFill>
        <p:spPr>
          <a:xfrm>
            <a:off x="5897684" y="6277833"/>
            <a:ext cx="2211035" cy="613143"/>
          </a:xfrm>
          <a:prstGeom prst="rect">
            <a:avLst/>
          </a:prstGeom>
        </p:spPr>
      </p:pic>
      <p:sp>
        <p:nvSpPr>
          <p:cNvPr id="19" name="TextBox 18">
            <a:extLst>
              <a:ext uri="{FF2B5EF4-FFF2-40B4-BE49-F238E27FC236}">
                <a16:creationId xmlns:a16="http://schemas.microsoft.com/office/drawing/2014/main" id="{FF17DD3F-4183-C79E-02C5-04E8C40954C3}"/>
              </a:ext>
            </a:extLst>
          </p:cNvPr>
          <p:cNvSpPr txBox="1"/>
          <p:nvPr/>
        </p:nvSpPr>
        <p:spPr>
          <a:xfrm>
            <a:off x="1075972" y="5101304"/>
            <a:ext cx="1133042" cy="1569660"/>
          </a:xfrm>
          <a:prstGeom prst="rect">
            <a:avLst/>
          </a:prstGeom>
          <a:noFill/>
        </p:spPr>
        <p:txBody>
          <a:bodyPr wrap="square" rtlCol="0">
            <a:spAutoFit/>
          </a:bodyPr>
          <a:lstStyle/>
          <a:p>
            <a:r>
              <a:rPr lang="en-US" sz="2400" i="1" dirty="0" err="1"/>
              <a:t>Cytb</a:t>
            </a:r>
            <a:endParaRPr lang="en-US" sz="2400" i="1" dirty="0"/>
          </a:p>
          <a:p>
            <a:endParaRPr lang="en-US" sz="2400" i="1" dirty="0"/>
          </a:p>
          <a:p>
            <a:endParaRPr lang="en-US" sz="2400" i="1" dirty="0"/>
          </a:p>
          <a:p>
            <a:endParaRPr lang="en-US" sz="2400" i="1" dirty="0"/>
          </a:p>
        </p:txBody>
      </p:sp>
      <p:sp>
        <p:nvSpPr>
          <p:cNvPr id="20" name="TextBox 19">
            <a:extLst>
              <a:ext uri="{FF2B5EF4-FFF2-40B4-BE49-F238E27FC236}">
                <a16:creationId xmlns:a16="http://schemas.microsoft.com/office/drawing/2014/main" id="{4F86FD79-1810-3963-5C56-FA7544CA2CDD}"/>
              </a:ext>
            </a:extLst>
          </p:cNvPr>
          <p:cNvSpPr txBox="1"/>
          <p:nvPr/>
        </p:nvSpPr>
        <p:spPr>
          <a:xfrm>
            <a:off x="6871023" y="4932667"/>
            <a:ext cx="848309" cy="1569660"/>
          </a:xfrm>
          <a:prstGeom prst="rect">
            <a:avLst/>
          </a:prstGeom>
          <a:noFill/>
        </p:spPr>
        <p:txBody>
          <a:bodyPr wrap="none" rtlCol="0">
            <a:spAutoFit/>
          </a:bodyPr>
          <a:lstStyle/>
          <a:p>
            <a:r>
              <a:rPr lang="en-US" sz="2400" i="1" dirty="0" err="1"/>
              <a:t>Irbp</a:t>
            </a:r>
            <a:endParaRPr lang="en-US" sz="2400" i="1" dirty="0"/>
          </a:p>
          <a:p>
            <a:endParaRPr lang="en-US" sz="2400" i="1" dirty="0"/>
          </a:p>
          <a:p>
            <a:endParaRPr lang="en-US" sz="2400" i="1" dirty="0"/>
          </a:p>
          <a:p>
            <a:r>
              <a:rPr lang="en-US" sz="2400" i="1" dirty="0"/>
              <a:t>Rag1</a:t>
            </a:r>
          </a:p>
        </p:txBody>
      </p:sp>
      <p:cxnSp>
        <p:nvCxnSpPr>
          <p:cNvPr id="22" name="Straight Arrow Connector 21">
            <a:extLst>
              <a:ext uri="{FF2B5EF4-FFF2-40B4-BE49-F238E27FC236}">
                <a16:creationId xmlns:a16="http://schemas.microsoft.com/office/drawing/2014/main" id="{5728B5F1-A469-5C30-69CE-10B09990ACC7}"/>
              </a:ext>
            </a:extLst>
          </p:cNvPr>
          <p:cNvCxnSpPr>
            <a:cxnSpLocks/>
            <a:stCxn id="12" idx="3"/>
          </p:cNvCxnSpPr>
          <p:nvPr/>
        </p:nvCxnSpPr>
        <p:spPr>
          <a:xfrm>
            <a:off x="2894997" y="5865904"/>
            <a:ext cx="534997" cy="0"/>
          </a:xfrm>
          <a:prstGeom prst="straightConnector1">
            <a:avLst/>
          </a:prstGeom>
          <a:ln w="3810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4" name="Straight Arrow Connector 23">
            <a:extLst>
              <a:ext uri="{FF2B5EF4-FFF2-40B4-BE49-F238E27FC236}">
                <a16:creationId xmlns:a16="http://schemas.microsoft.com/office/drawing/2014/main" id="{B0637D41-4F15-7E25-2D46-5B32AD65BD96}"/>
              </a:ext>
            </a:extLst>
          </p:cNvPr>
          <p:cNvCxnSpPr>
            <a:cxnSpLocks/>
          </p:cNvCxnSpPr>
          <p:nvPr/>
        </p:nvCxnSpPr>
        <p:spPr>
          <a:xfrm>
            <a:off x="8569896" y="5341733"/>
            <a:ext cx="534997" cy="0"/>
          </a:xfrm>
          <a:prstGeom prst="straightConnector1">
            <a:avLst/>
          </a:prstGeom>
          <a:ln w="38100">
            <a:solidFill>
              <a:schemeClr val="tx1"/>
            </a:solidFill>
            <a:tailEnd type="triangle"/>
          </a:ln>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47BC4F0A-0C62-C6AC-02BC-0D0104D8840D}"/>
              </a:ext>
            </a:extLst>
          </p:cNvPr>
          <p:cNvCxnSpPr>
            <a:cxnSpLocks/>
          </p:cNvCxnSpPr>
          <p:nvPr/>
        </p:nvCxnSpPr>
        <p:spPr>
          <a:xfrm>
            <a:off x="8611815" y="6549023"/>
            <a:ext cx="534997" cy="0"/>
          </a:xfrm>
          <a:prstGeom prst="straightConnector1">
            <a:avLst/>
          </a:prstGeom>
          <a:ln w="38100">
            <a:solidFill>
              <a:schemeClr val="tx1"/>
            </a:solidFill>
            <a:tailEnd type="triangle"/>
          </a:ln>
        </p:spPr>
        <p:style>
          <a:lnRef idx="2">
            <a:schemeClr val="dk1"/>
          </a:lnRef>
          <a:fillRef idx="0">
            <a:schemeClr val="dk1"/>
          </a:fillRef>
          <a:effectRef idx="1">
            <a:schemeClr val="dk1"/>
          </a:effectRef>
          <a:fontRef idx="minor">
            <a:schemeClr val="tx1"/>
          </a:fontRef>
        </p:style>
      </p:cxnSp>
      <p:pic>
        <p:nvPicPr>
          <p:cNvPr id="28" name="Picture 27" descr="A group of round objects&#10;&#10;AI-generated content may be incorrect.">
            <a:extLst>
              <a:ext uri="{FF2B5EF4-FFF2-40B4-BE49-F238E27FC236}">
                <a16:creationId xmlns:a16="http://schemas.microsoft.com/office/drawing/2014/main" id="{BB33E39A-38C4-B56E-B2B9-96E489AE3BB7}"/>
              </a:ext>
            </a:extLst>
          </p:cNvPr>
          <p:cNvPicPr>
            <a:picLocks noChangeAspect="1"/>
          </p:cNvPicPr>
          <p:nvPr/>
        </p:nvPicPr>
        <p:blipFill>
          <a:blip r:embed="rId2"/>
          <a:srcRect l="12335" t="77003" r="-3010" b="-817"/>
          <a:stretch>
            <a:fillRect/>
          </a:stretch>
        </p:blipFill>
        <p:spPr>
          <a:xfrm>
            <a:off x="3467780" y="5445102"/>
            <a:ext cx="1800449" cy="886614"/>
          </a:xfrm>
          <a:prstGeom prst="rect">
            <a:avLst/>
          </a:prstGeom>
        </p:spPr>
      </p:pic>
      <p:pic>
        <p:nvPicPr>
          <p:cNvPr id="29" name="Picture 28" descr="A group of round objects&#10;&#10;AI-generated content may be incorrect.">
            <a:extLst>
              <a:ext uri="{FF2B5EF4-FFF2-40B4-BE49-F238E27FC236}">
                <a16:creationId xmlns:a16="http://schemas.microsoft.com/office/drawing/2014/main" id="{16BCFD50-401F-9936-786B-EC39B56EC8E5}"/>
              </a:ext>
            </a:extLst>
          </p:cNvPr>
          <p:cNvPicPr>
            <a:picLocks noChangeAspect="1"/>
          </p:cNvPicPr>
          <p:nvPr/>
        </p:nvPicPr>
        <p:blipFill>
          <a:blip r:embed="rId2"/>
          <a:srcRect l="4028" t="27594" r="5297" b="48592"/>
          <a:stretch>
            <a:fillRect/>
          </a:stretch>
        </p:blipFill>
        <p:spPr>
          <a:xfrm>
            <a:off x="8990997" y="5926376"/>
            <a:ext cx="1891851" cy="931624"/>
          </a:xfrm>
          <a:prstGeom prst="rect">
            <a:avLst/>
          </a:prstGeom>
        </p:spPr>
      </p:pic>
      <p:sp>
        <p:nvSpPr>
          <p:cNvPr id="30" name="TextBox 29">
            <a:extLst>
              <a:ext uri="{FF2B5EF4-FFF2-40B4-BE49-F238E27FC236}">
                <a16:creationId xmlns:a16="http://schemas.microsoft.com/office/drawing/2014/main" id="{69805091-7D18-5772-353B-975EBA6BBBB9}"/>
              </a:ext>
            </a:extLst>
          </p:cNvPr>
          <p:cNvSpPr txBox="1"/>
          <p:nvPr/>
        </p:nvSpPr>
        <p:spPr>
          <a:xfrm>
            <a:off x="0" y="6528273"/>
            <a:ext cx="2838469" cy="369332"/>
          </a:xfrm>
          <a:prstGeom prst="rect">
            <a:avLst/>
          </a:prstGeom>
          <a:noFill/>
        </p:spPr>
        <p:txBody>
          <a:bodyPr wrap="none" rtlCol="0">
            <a:spAutoFit/>
          </a:bodyPr>
          <a:lstStyle/>
          <a:p>
            <a:r>
              <a:rPr lang="en-US" dirty="0"/>
              <a:t>Created in </a:t>
            </a:r>
            <a:r>
              <a:rPr lang="en-US" i="1" dirty="0" err="1"/>
              <a:t>BioRender</a:t>
            </a:r>
            <a:r>
              <a:rPr lang="en-US" dirty="0"/>
              <a:t>. com</a:t>
            </a:r>
          </a:p>
        </p:txBody>
      </p:sp>
    </p:spTree>
    <p:extLst>
      <p:ext uri="{BB962C8B-B14F-4D97-AF65-F5344CB8AC3E}">
        <p14:creationId xmlns:p14="http://schemas.microsoft.com/office/powerpoint/2010/main" val="349536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9185A01-3280-492F-E9A7-6DE49806101C}"/>
              </a:ext>
            </a:extLst>
          </p:cNvPr>
          <p:cNvSpPr txBox="1">
            <a:spLocks/>
          </p:cNvSpPr>
          <p:nvPr/>
        </p:nvSpPr>
        <p:spPr>
          <a:xfrm>
            <a:off x="0" y="0"/>
            <a:ext cx="12192000" cy="661481"/>
          </a:xfrm>
          <a:prstGeom prst="rect">
            <a:avLst/>
          </a:prstGeom>
          <a:solidFill>
            <a:schemeClr val="tx2"/>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chemeClr val="bg1"/>
                </a:solidFill>
                <a:latin typeface="Arial" panose="020B0604020202020204" pitchFamily="34" charset="0"/>
                <a:cs typeface="Arial" panose="020B0604020202020204" pitchFamily="34" charset="0"/>
              </a:rPr>
              <a:t>Supervised machine learning can be used for classification</a:t>
            </a:r>
          </a:p>
        </p:txBody>
      </p:sp>
      <p:sp>
        <p:nvSpPr>
          <p:cNvPr id="4" name="TextBox 3">
            <a:extLst>
              <a:ext uri="{FF2B5EF4-FFF2-40B4-BE49-F238E27FC236}">
                <a16:creationId xmlns:a16="http://schemas.microsoft.com/office/drawing/2014/main" id="{29C276F6-EAC6-93B8-6231-6FFF66999475}"/>
              </a:ext>
            </a:extLst>
          </p:cNvPr>
          <p:cNvSpPr txBox="1"/>
          <p:nvPr/>
        </p:nvSpPr>
        <p:spPr>
          <a:xfrm>
            <a:off x="-1" y="661481"/>
            <a:ext cx="9810683" cy="6109365"/>
          </a:xfrm>
          <a:prstGeom prst="rect">
            <a:avLst/>
          </a:prstGeom>
          <a:noFill/>
        </p:spPr>
        <p:txBody>
          <a:bodyPr wrap="square">
            <a:spAutoFit/>
          </a:bodyPr>
          <a:lstStyle/>
          <a:p>
            <a:pPr algn="just"/>
            <a:r>
              <a:rPr lang="en-CA" sz="2300" dirty="0">
                <a:latin typeface="Arial" panose="020B0604020202020204" pitchFamily="34" charset="0"/>
                <a:cs typeface="Arial" panose="020B0604020202020204" pitchFamily="34" charset="0"/>
              </a:rPr>
              <a:t>Many supervised machine learning models algorithms have been developed over the past decades. </a:t>
            </a:r>
            <a:r>
              <a:rPr lang="en-US" sz="2300" dirty="0">
                <a:latin typeface="Arial" panose="020B0604020202020204" pitchFamily="34" charset="0"/>
                <a:cs typeface="Arial" panose="020B0604020202020204" pitchFamily="34" charset="0"/>
              </a:rPr>
              <a:t>In fact, machine learning can be applied to distinguish species and validate previous work on species classification (Salles &amp; Domingos., 2025). In addition, machine learning is useful to detect subtle differences between species that previous methods may have overlooked.</a:t>
            </a:r>
          </a:p>
          <a:p>
            <a:pPr algn="just"/>
            <a:endParaRPr lang="en-US" sz="2300" dirty="0">
              <a:latin typeface="Arial" panose="020B0604020202020204" pitchFamily="34" charset="0"/>
              <a:cs typeface="Arial" panose="020B0604020202020204" pitchFamily="34" charset="0"/>
            </a:endParaRPr>
          </a:p>
          <a:p>
            <a:pPr algn="just"/>
            <a:r>
              <a:rPr lang="en-US" sz="2300" dirty="0">
                <a:latin typeface="Arial" panose="020B0604020202020204" pitchFamily="34" charset="0"/>
                <a:cs typeface="Arial" panose="020B0604020202020204" pitchFamily="34" charset="0"/>
              </a:rPr>
              <a:t>One feature that is commonly used for machine learning sequence analysis is k-</a:t>
            </a:r>
            <a:r>
              <a:rPr lang="en-US" sz="2300" dirty="0" err="1">
                <a:latin typeface="Arial" panose="020B0604020202020204" pitchFamily="34" charset="0"/>
                <a:cs typeface="Arial" panose="020B0604020202020204" pitchFamily="34" charset="0"/>
              </a:rPr>
              <a:t>mers</a:t>
            </a:r>
            <a:r>
              <a:rPr lang="en-US" sz="2300" dirty="0">
                <a:latin typeface="Arial" panose="020B0604020202020204" pitchFamily="34" charset="0"/>
                <a:cs typeface="Arial" panose="020B0604020202020204" pitchFamily="34" charset="0"/>
              </a:rPr>
              <a:t>, combinations of nucleotides </a:t>
            </a:r>
            <a:r>
              <a:rPr lang="en-US" sz="2300" b="1" dirty="0">
                <a:solidFill>
                  <a:schemeClr val="accent5"/>
                </a:solidFill>
                <a:latin typeface="Arial" panose="020B0604020202020204" pitchFamily="34" charset="0"/>
                <a:cs typeface="Arial" panose="020B0604020202020204" pitchFamily="34" charset="0"/>
              </a:rPr>
              <a:t>A</a:t>
            </a:r>
            <a:r>
              <a:rPr lang="en-US" sz="2300" dirty="0">
                <a:latin typeface="Arial" panose="020B0604020202020204" pitchFamily="34" charset="0"/>
                <a:cs typeface="Arial" panose="020B0604020202020204" pitchFamily="34" charset="0"/>
              </a:rPr>
              <a:t>, </a:t>
            </a:r>
            <a:r>
              <a:rPr lang="en-US" sz="2300" b="1" dirty="0">
                <a:solidFill>
                  <a:srgbClr val="0070C0"/>
                </a:solidFill>
                <a:latin typeface="Arial" panose="020B0604020202020204" pitchFamily="34" charset="0"/>
                <a:cs typeface="Arial" panose="020B0604020202020204" pitchFamily="34" charset="0"/>
              </a:rPr>
              <a:t>T</a:t>
            </a:r>
            <a:r>
              <a:rPr lang="en-US" sz="2300" dirty="0">
                <a:latin typeface="Arial" panose="020B0604020202020204" pitchFamily="34" charset="0"/>
                <a:cs typeface="Arial" panose="020B0604020202020204" pitchFamily="34" charset="0"/>
              </a:rPr>
              <a:t>, </a:t>
            </a:r>
            <a:r>
              <a:rPr lang="en-US" sz="2300" b="1" dirty="0">
                <a:solidFill>
                  <a:srgbClr val="00B050"/>
                </a:solidFill>
                <a:latin typeface="Arial" panose="020B0604020202020204" pitchFamily="34" charset="0"/>
                <a:cs typeface="Arial" panose="020B0604020202020204" pitchFamily="34" charset="0"/>
              </a:rPr>
              <a:t>C</a:t>
            </a:r>
            <a:r>
              <a:rPr lang="en-US" sz="2300" dirty="0">
                <a:latin typeface="Arial" panose="020B0604020202020204" pitchFamily="34" charset="0"/>
                <a:cs typeface="Arial" panose="020B0604020202020204" pitchFamily="34" charset="0"/>
              </a:rPr>
              <a:t>, and </a:t>
            </a:r>
            <a:r>
              <a:rPr lang="en-US" sz="2300" b="1" dirty="0">
                <a:solidFill>
                  <a:srgbClr val="FFC000"/>
                </a:solidFill>
                <a:latin typeface="Arial" panose="020B0604020202020204" pitchFamily="34" charset="0"/>
                <a:cs typeface="Arial" panose="020B0604020202020204" pitchFamily="34" charset="0"/>
              </a:rPr>
              <a:t>G</a:t>
            </a:r>
            <a:r>
              <a:rPr lang="en-US" sz="2300" dirty="0">
                <a:latin typeface="Arial" panose="020B0604020202020204" pitchFamily="34" charset="0"/>
                <a:cs typeface="Arial" panose="020B0604020202020204" pitchFamily="34" charset="0"/>
              </a:rPr>
              <a:t> of varying lengths such as dinucleotide k-</a:t>
            </a:r>
            <a:r>
              <a:rPr lang="en-US" sz="2300" dirty="0" err="1">
                <a:latin typeface="Arial" panose="020B0604020202020204" pitchFamily="34" charset="0"/>
                <a:cs typeface="Arial" panose="020B0604020202020204" pitchFamily="34" charset="0"/>
              </a:rPr>
              <a:t>mers</a:t>
            </a:r>
            <a:r>
              <a:rPr lang="en-US" sz="2300" dirty="0">
                <a:latin typeface="Arial" panose="020B0604020202020204" pitchFamily="34" charset="0"/>
                <a:cs typeface="Arial" panose="020B0604020202020204" pitchFamily="34" charset="0"/>
              </a:rPr>
              <a:t> (for a total of 16 combinations). This alignment-free approach is useful and computationally efficient because the number of sequencing data increases with each passing day.</a:t>
            </a:r>
          </a:p>
          <a:p>
            <a:pPr algn="just"/>
            <a:endParaRPr lang="en-US" sz="2300" dirty="0">
              <a:latin typeface="Arial" panose="020B0604020202020204" pitchFamily="34" charset="0"/>
              <a:cs typeface="Arial" panose="020B0604020202020204" pitchFamily="34" charset="0"/>
            </a:endParaRPr>
          </a:p>
          <a:p>
            <a:pPr algn="just"/>
            <a:r>
              <a:rPr lang="en-US" sz="2300" b="1" dirty="0">
                <a:latin typeface="Arial" panose="020B0604020202020204" pitchFamily="34" charset="0"/>
                <a:cs typeface="Arial" panose="020B0604020202020204" pitchFamily="34" charset="0"/>
              </a:rPr>
              <a:t>The current gap in knowledge is that with larger genomic datasets, more automated analysis for species identification is needed while preserving accuracy and reliability. Thus, supervised machine learning models can address this.</a:t>
            </a:r>
          </a:p>
        </p:txBody>
      </p:sp>
      <p:sp>
        <p:nvSpPr>
          <p:cNvPr id="5" name="TextBox 4">
            <a:extLst>
              <a:ext uri="{FF2B5EF4-FFF2-40B4-BE49-F238E27FC236}">
                <a16:creationId xmlns:a16="http://schemas.microsoft.com/office/drawing/2014/main" id="{B37E9B48-CBEB-CCA7-F43A-AC4C7414CE17}"/>
              </a:ext>
            </a:extLst>
          </p:cNvPr>
          <p:cNvSpPr txBox="1">
            <a:spLocks/>
          </p:cNvSpPr>
          <p:nvPr/>
        </p:nvSpPr>
        <p:spPr>
          <a:xfrm>
            <a:off x="10111788" y="1491677"/>
            <a:ext cx="981359" cy="4031873"/>
          </a:xfrm>
          <a:prstGeom prst="rect">
            <a:avLst/>
          </a:prstGeom>
          <a:noFill/>
        </p:spPr>
        <p:txBody>
          <a:bodyPr wrap="none" rtlCol="0">
            <a:spAutoFit/>
          </a:bodyPr>
          <a:lstStyle/>
          <a:p>
            <a:pPr algn="just"/>
            <a:r>
              <a:rPr lang="en-US" sz="3200" b="1" dirty="0">
                <a:solidFill>
                  <a:schemeClr val="accent5"/>
                </a:solidFill>
                <a:latin typeface="Arial" panose="020B0604020202020204" pitchFamily="34" charset="0"/>
                <a:cs typeface="Arial" panose="020B0604020202020204" pitchFamily="34" charset="0"/>
              </a:rPr>
              <a:t>AA</a:t>
            </a:r>
          </a:p>
          <a:p>
            <a:pPr algn="just"/>
            <a:r>
              <a:rPr lang="en-US" sz="3200" b="1" dirty="0">
                <a:solidFill>
                  <a:schemeClr val="accent5"/>
                </a:solidFill>
                <a:latin typeface="Arial" panose="020B0604020202020204" pitchFamily="34" charset="0"/>
                <a:cs typeface="Arial" panose="020B0604020202020204" pitchFamily="34" charset="0"/>
              </a:rPr>
              <a:t>A</a:t>
            </a:r>
            <a:r>
              <a:rPr lang="en-US" sz="3200" b="1" dirty="0">
                <a:solidFill>
                  <a:srgbClr val="0070C0"/>
                </a:solidFill>
                <a:latin typeface="Arial" panose="020B0604020202020204" pitchFamily="34" charset="0"/>
                <a:cs typeface="Arial" panose="020B0604020202020204" pitchFamily="34" charset="0"/>
              </a:rPr>
              <a:t>T</a:t>
            </a:r>
          </a:p>
          <a:p>
            <a:pPr algn="just"/>
            <a:r>
              <a:rPr lang="en-US" sz="3200" b="1" dirty="0">
                <a:solidFill>
                  <a:schemeClr val="accent5"/>
                </a:solidFill>
                <a:latin typeface="Arial" panose="020B0604020202020204" pitchFamily="34" charset="0"/>
                <a:cs typeface="Arial" panose="020B0604020202020204" pitchFamily="34" charset="0"/>
              </a:rPr>
              <a:t>A</a:t>
            </a:r>
            <a:r>
              <a:rPr lang="en-US" sz="3200" b="1" dirty="0">
                <a:solidFill>
                  <a:srgbClr val="00B050"/>
                </a:solidFill>
                <a:latin typeface="Arial" panose="020B0604020202020204" pitchFamily="34" charset="0"/>
                <a:cs typeface="Arial" panose="020B0604020202020204" pitchFamily="34" charset="0"/>
              </a:rPr>
              <a:t>C </a:t>
            </a:r>
          </a:p>
          <a:p>
            <a:pPr algn="just"/>
            <a:r>
              <a:rPr lang="en-US" sz="3200" b="1" dirty="0">
                <a:solidFill>
                  <a:schemeClr val="accent5"/>
                </a:solidFill>
                <a:latin typeface="Arial" panose="020B0604020202020204" pitchFamily="34" charset="0"/>
                <a:cs typeface="Arial" panose="020B0604020202020204" pitchFamily="34" charset="0"/>
              </a:rPr>
              <a:t>A</a:t>
            </a:r>
            <a:r>
              <a:rPr lang="en-US" sz="3200" b="1" dirty="0">
                <a:solidFill>
                  <a:srgbClr val="FFC000"/>
                </a:solidFill>
                <a:latin typeface="Arial" panose="020B0604020202020204" pitchFamily="34" charset="0"/>
                <a:cs typeface="Arial" panose="020B0604020202020204" pitchFamily="34" charset="0"/>
              </a:rPr>
              <a:t>G </a:t>
            </a:r>
          </a:p>
          <a:p>
            <a:pPr algn="just"/>
            <a:r>
              <a:rPr lang="en-US" sz="3200" b="1" dirty="0">
                <a:solidFill>
                  <a:srgbClr val="0070C0"/>
                </a:solidFill>
                <a:latin typeface="Arial" panose="020B0604020202020204" pitchFamily="34" charset="0"/>
                <a:cs typeface="Arial" panose="020B0604020202020204" pitchFamily="34" charset="0"/>
              </a:rPr>
              <a:t>T</a:t>
            </a:r>
            <a:r>
              <a:rPr lang="en-US" sz="3200" b="1" dirty="0">
                <a:solidFill>
                  <a:schemeClr val="accent5"/>
                </a:solidFill>
                <a:latin typeface="Arial" panose="020B0604020202020204" pitchFamily="34" charset="0"/>
                <a:cs typeface="Arial" panose="020B0604020202020204" pitchFamily="34" charset="0"/>
              </a:rPr>
              <a:t>A</a:t>
            </a:r>
          </a:p>
          <a:p>
            <a:pPr algn="just"/>
            <a:r>
              <a:rPr lang="en-US" sz="3200" b="1" dirty="0">
                <a:solidFill>
                  <a:srgbClr val="0070C0"/>
                </a:solidFill>
                <a:latin typeface="Arial" panose="020B0604020202020204" pitchFamily="34" charset="0"/>
                <a:cs typeface="Arial" panose="020B0604020202020204" pitchFamily="34" charset="0"/>
              </a:rPr>
              <a:t>TT </a:t>
            </a:r>
          </a:p>
          <a:p>
            <a:pPr algn="just"/>
            <a:r>
              <a:rPr lang="en-US" sz="3200" b="1" dirty="0">
                <a:solidFill>
                  <a:srgbClr val="0070C0"/>
                </a:solidFill>
                <a:latin typeface="Arial" panose="020B0604020202020204" pitchFamily="34" charset="0"/>
                <a:cs typeface="Arial" panose="020B0604020202020204" pitchFamily="34" charset="0"/>
              </a:rPr>
              <a:t>T</a:t>
            </a:r>
            <a:r>
              <a:rPr lang="en-US" sz="3200" b="1" dirty="0">
                <a:solidFill>
                  <a:srgbClr val="00B050"/>
                </a:solidFill>
                <a:latin typeface="Arial" panose="020B0604020202020204" pitchFamily="34" charset="0"/>
                <a:cs typeface="Arial" panose="020B0604020202020204" pitchFamily="34" charset="0"/>
              </a:rPr>
              <a:t>C </a:t>
            </a:r>
          </a:p>
          <a:p>
            <a:pPr algn="just"/>
            <a:r>
              <a:rPr lang="en-US" sz="3200" b="1" dirty="0">
                <a:solidFill>
                  <a:srgbClr val="0070C0"/>
                </a:solidFill>
                <a:latin typeface="Arial" panose="020B0604020202020204" pitchFamily="34" charset="0"/>
                <a:cs typeface="Arial" panose="020B0604020202020204" pitchFamily="34" charset="0"/>
              </a:rPr>
              <a:t>T</a:t>
            </a:r>
            <a:r>
              <a:rPr lang="en-US" sz="3200" b="1" dirty="0">
                <a:solidFill>
                  <a:srgbClr val="FFC000"/>
                </a:solidFill>
                <a:latin typeface="Arial" panose="020B0604020202020204" pitchFamily="34" charset="0"/>
                <a:cs typeface="Arial" panose="020B0604020202020204" pitchFamily="34" charset="0"/>
              </a:rPr>
              <a:t>G </a:t>
            </a:r>
            <a:r>
              <a:rPr lang="en-US" sz="3200" b="1" dirty="0">
                <a:solidFill>
                  <a:srgbClr val="00B050"/>
                </a:solidFill>
                <a:latin typeface="Arial" panose="020B0604020202020204" pitchFamily="34" charset="0"/>
                <a:cs typeface="Arial" panose="020B0604020202020204" pitchFamily="34" charset="0"/>
              </a:rPr>
              <a:t> </a:t>
            </a:r>
          </a:p>
        </p:txBody>
      </p:sp>
      <p:sp>
        <p:nvSpPr>
          <p:cNvPr id="7" name="TextBox 6">
            <a:extLst>
              <a:ext uri="{FF2B5EF4-FFF2-40B4-BE49-F238E27FC236}">
                <a16:creationId xmlns:a16="http://schemas.microsoft.com/office/drawing/2014/main" id="{4EA6EFAC-4858-BE0E-69BA-1E6E6421A7BE}"/>
              </a:ext>
            </a:extLst>
          </p:cNvPr>
          <p:cNvSpPr txBox="1">
            <a:spLocks/>
          </p:cNvSpPr>
          <p:nvPr/>
        </p:nvSpPr>
        <p:spPr>
          <a:xfrm>
            <a:off x="11184953" y="1491677"/>
            <a:ext cx="822661" cy="4031873"/>
          </a:xfrm>
          <a:prstGeom prst="rect">
            <a:avLst/>
          </a:prstGeom>
          <a:noFill/>
        </p:spPr>
        <p:txBody>
          <a:bodyPr wrap="none" rtlCol="0">
            <a:spAutoFit/>
          </a:bodyPr>
          <a:lstStyle/>
          <a:p>
            <a:r>
              <a:rPr lang="en-US" sz="3200" b="1" dirty="0">
                <a:solidFill>
                  <a:srgbClr val="00B050"/>
                </a:solidFill>
                <a:latin typeface="Arial" panose="020B0604020202020204" pitchFamily="34" charset="0"/>
                <a:cs typeface="Arial" panose="020B0604020202020204" pitchFamily="34" charset="0"/>
              </a:rPr>
              <a:t>C</a:t>
            </a:r>
            <a:r>
              <a:rPr lang="en-US" sz="3200" b="1" dirty="0">
                <a:solidFill>
                  <a:schemeClr val="accent5"/>
                </a:solidFill>
                <a:latin typeface="Arial" panose="020B0604020202020204" pitchFamily="34" charset="0"/>
                <a:cs typeface="Arial" panose="020B0604020202020204" pitchFamily="34" charset="0"/>
              </a:rPr>
              <a:t>A</a:t>
            </a:r>
          </a:p>
          <a:p>
            <a:r>
              <a:rPr lang="en-US" sz="3200" b="1" dirty="0">
                <a:solidFill>
                  <a:srgbClr val="00B050"/>
                </a:solidFill>
                <a:latin typeface="Arial" panose="020B0604020202020204" pitchFamily="34" charset="0"/>
                <a:cs typeface="Arial" panose="020B0604020202020204" pitchFamily="34" charset="0"/>
              </a:rPr>
              <a:t>C</a:t>
            </a:r>
            <a:r>
              <a:rPr lang="en-US" sz="3200" b="1" dirty="0">
                <a:solidFill>
                  <a:srgbClr val="0070C0"/>
                </a:solidFill>
                <a:latin typeface="Arial" panose="020B0604020202020204" pitchFamily="34" charset="0"/>
                <a:cs typeface="Arial" panose="020B0604020202020204" pitchFamily="34" charset="0"/>
              </a:rPr>
              <a:t>T</a:t>
            </a:r>
          </a:p>
          <a:p>
            <a:r>
              <a:rPr lang="en-US" sz="3200" b="1" dirty="0">
                <a:solidFill>
                  <a:srgbClr val="00B050"/>
                </a:solidFill>
                <a:latin typeface="Arial" panose="020B0604020202020204" pitchFamily="34" charset="0"/>
                <a:cs typeface="Arial" panose="020B0604020202020204" pitchFamily="34" charset="0"/>
              </a:rPr>
              <a:t>CC</a:t>
            </a:r>
          </a:p>
          <a:p>
            <a:r>
              <a:rPr lang="en-US" sz="3200" b="1" dirty="0">
                <a:solidFill>
                  <a:srgbClr val="00B050"/>
                </a:solidFill>
                <a:latin typeface="Arial" panose="020B0604020202020204" pitchFamily="34" charset="0"/>
                <a:cs typeface="Arial" panose="020B0604020202020204" pitchFamily="34" charset="0"/>
              </a:rPr>
              <a:t>C</a:t>
            </a:r>
            <a:r>
              <a:rPr lang="en-US" sz="3200" b="1" dirty="0">
                <a:solidFill>
                  <a:srgbClr val="FFC000"/>
                </a:solidFill>
                <a:latin typeface="Arial" panose="020B0604020202020204" pitchFamily="34" charset="0"/>
                <a:cs typeface="Arial" panose="020B0604020202020204" pitchFamily="34" charset="0"/>
              </a:rPr>
              <a:t>G</a:t>
            </a:r>
          </a:p>
          <a:p>
            <a:r>
              <a:rPr lang="en-US" sz="3200" b="1" dirty="0">
                <a:solidFill>
                  <a:srgbClr val="FFC000"/>
                </a:solidFill>
                <a:latin typeface="Arial" panose="020B0604020202020204" pitchFamily="34" charset="0"/>
                <a:cs typeface="Arial" panose="020B0604020202020204" pitchFamily="34" charset="0"/>
              </a:rPr>
              <a:t>G</a:t>
            </a:r>
            <a:r>
              <a:rPr lang="en-US" sz="3200" b="1" dirty="0">
                <a:solidFill>
                  <a:schemeClr val="accent5"/>
                </a:solidFill>
                <a:latin typeface="Arial" panose="020B0604020202020204" pitchFamily="34" charset="0"/>
                <a:cs typeface="Arial" panose="020B0604020202020204" pitchFamily="34" charset="0"/>
              </a:rPr>
              <a:t>A</a:t>
            </a:r>
          </a:p>
          <a:p>
            <a:r>
              <a:rPr lang="en-US" sz="3200" b="1" dirty="0">
                <a:solidFill>
                  <a:srgbClr val="FFC000"/>
                </a:solidFill>
                <a:latin typeface="Arial" panose="020B0604020202020204" pitchFamily="34" charset="0"/>
                <a:cs typeface="Arial" panose="020B0604020202020204" pitchFamily="34" charset="0"/>
              </a:rPr>
              <a:t>G</a:t>
            </a:r>
            <a:r>
              <a:rPr lang="en-US" sz="3200" b="1" dirty="0">
                <a:solidFill>
                  <a:srgbClr val="0070C0"/>
                </a:solidFill>
                <a:latin typeface="Arial" panose="020B0604020202020204" pitchFamily="34" charset="0"/>
                <a:cs typeface="Arial" panose="020B0604020202020204" pitchFamily="34" charset="0"/>
              </a:rPr>
              <a:t>T</a:t>
            </a:r>
          </a:p>
          <a:p>
            <a:r>
              <a:rPr lang="en-US" sz="3200" b="1" dirty="0">
                <a:solidFill>
                  <a:srgbClr val="FFC000"/>
                </a:solidFill>
                <a:latin typeface="Arial" panose="020B0604020202020204" pitchFamily="34" charset="0"/>
                <a:cs typeface="Arial" panose="020B0604020202020204" pitchFamily="34" charset="0"/>
              </a:rPr>
              <a:t>G</a:t>
            </a:r>
            <a:r>
              <a:rPr lang="en-US" sz="3200" b="1" dirty="0">
                <a:solidFill>
                  <a:srgbClr val="00B050"/>
                </a:solidFill>
                <a:latin typeface="Arial" panose="020B0604020202020204" pitchFamily="34" charset="0"/>
                <a:cs typeface="Arial" panose="020B0604020202020204" pitchFamily="34" charset="0"/>
              </a:rPr>
              <a:t>C</a:t>
            </a:r>
          </a:p>
          <a:p>
            <a:r>
              <a:rPr lang="en-US" sz="3200" b="1" dirty="0">
                <a:solidFill>
                  <a:srgbClr val="FFC000"/>
                </a:solidFill>
                <a:latin typeface="Arial" panose="020B0604020202020204" pitchFamily="34" charset="0"/>
                <a:cs typeface="Arial" panose="020B0604020202020204" pitchFamily="34" charset="0"/>
              </a:rPr>
              <a:t>GG</a:t>
            </a:r>
            <a:endParaRPr lang="en-US" sz="3200" b="1" dirty="0">
              <a:solidFill>
                <a:srgbClr val="00B050"/>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5ECBD1F3-BBED-0C58-3940-D37AA874881A}"/>
              </a:ext>
            </a:extLst>
          </p:cNvPr>
          <p:cNvSpPr txBox="1"/>
          <p:nvPr/>
        </p:nvSpPr>
        <p:spPr>
          <a:xfrm>
            <a:off x="9902488" y="661081"/>
            <a:ext cx="2381317" cy="830997"/>
          </a:xfrm>
          <a:prstGeom prst="rect">
            <a:avLst/>
          </a:prstGeom>
          <a:noFill/>
        </p:spPr>
        <p:txBody>
          <a:bodyPr wrap="square" rtlCol="0">
            <a:spAutoFit/>
          </a:bodyPr>
          <a:lstStyle/>
          <a:p>
            <a:pPr algn="ctr"/>
            <a:r>
              <a:rPr lang="en-US" sz="2400" b="1" dirty="0">
                <a:latin typeface="Arial" panose="020B0604020202020204" pitchFamily="34" charset="0"/>
                <a:cs typeface="Arial" panose="020B0604020202020204" pitchFamily="34" charset="0"/>
              </a:rPr>
              <a:t>Dinucleotide combos</a:t>
            </a:r>
          </a:p>
        </p:txBody>
      </p:sp>
    </p:spTree>
    <p:extLst>
      <p:ext uri="{BB962C8B-B14F-4D97-AF65-F5344CB8AC3E}">
        <p14:creationId xmlns:p14="http://schemas.microsoft.com/office/powerpoint/2010/main" val="929346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87AE2-0B9A-F290-7991-C8CE33E9D172}"/>
              </a:ext>
            </a:extLst>
          </p:cNvPr>
          <p:cNvSpPr txBox="1">
            <a:spLocks/>
          </p:cNvSpPr>
          <p:nvPr/>
        </p:nvSpPr>
        <p:spPr>
          <a:xfrm>
            <a:off x="0" y="0"/>
            <a:ext cx="12192000" cy="661481"/>
          </a:xfrm>
          <a:prstGeom prst="rect">
            <a:avLst/>
          </a:prstGeom>
          <a:solidFill>
            <a:schemeClr val="tx2"/>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chemeClr val="bg1"/>
                </a:solidFill>
                <a:latin typeface="Arial" panose="020B0604020202020204" pitchFamily="34" charset="0"/>
                <a:cs typeface="Arial" panose="020B0604020202020204" pitchFamily="34" charset="0"/>
              </a:rPr>
              <a:t>Why use several machine learning classification algorithms?</a:t>
            </a:r>
          </a:p>
        </p:txBody>
      </p:sp>
      <p:sp>
        <p:nvSpPr>
          <p:cNvPr id="3" name="TextBox 2">
            <a:extLst>
              <a:ext uri="{FF2B5EF4-FFF2-40B4-BE49-F238E27FC236}">
                <a16:creationId xmlns:a16="http://schemas.microsoft.com/office/drawing/2014/main" id="{DA8BA36A-1DF0-F6F5-621C-AF0B16FD4457}"/>
              </a:ext>
            </a:extLst>
          </p:cNvPr>
          <p:cNvSpPr txBox="1"/>
          <p:nvPr/>
        </p:nvSpPr>
        <p:spPr>
          <a:xfrm>
            <a:off x="0" y="661481"/>
            <a:ext cx="9762277" cy="2677656"/>
          </a:xfrm>
          <a:prstGeom prst="rect">
            <a:avLst/>
          </a:prstGeom>
          <a:noFill/>
        </p:spPr>
        <p:txBody>
          <a:bodyPr wrap="square" rtlCol="0">
            <a:spAutoFit/>
          </a:bodyPr>
          <a:lstStyle/>
          <a:p>
            <a:pPr algn="just"/>
            <a:r>
              <a:rPr lang="en-US" sz="2400" dirty="0">
                <a:latin typeface="Arial" panose="020B0604020202020204" pitchFamily="34" charset="0"/>
                <a:cs typeface="Arial" panose="020B0604020202020204" pitchFamily="34" charset="0"/>
              </a:rPr>
              <a:t>Each machine learning model has its own inherit strengths and weaknesses. For example, random forests (RF) can control for overfitting and has high predictive accuracy (Sipper &amp; Moore., 2021) but can be slow if too many trees are introduced. Partial least squares (PLS) use dimension reduction techniques to make data easier to interpret visually when there are lot of features but can easily overfit the data (Brereton &amp; Lloyd., 2014). </a:t>
            </a:r>
          </a:p>
        </p:txBody>
      </p:sp>
      <p:pic>
        <p:nvPicPr>
          <p:cNvPr id="5" name="Picture 4" descr="A close-up of a phone screen&#10;&#10;AI-generated content may be incorrect.">
            <a:extLst>
              <a:ext uri="{FF2B5EF4-FFF2-40B4-BE49-F238E27FC236}">
                <a16:creationId xmlns:a16="http://schemas.microsoft.com/office/drawing/2014/main" id="{FFA52470-25FF-B041-E7A0-9E043E63EB09}"/>
              </a:ext>
            </a:extLst>
          </p:cNvPr>
          <p:cNvPicPr>
            <a:picLocks noChangeAspect="1"/>
          </p:cNvPicPr>
          <p:nvPr/>
        </p:nvPicPr>
        <p:blipFill>
          <a:blip r:embed="rId2"/>
          <a:srcRect b="50000"/>
          <a:stretch>
            <a:fillRect/>
          </a:stretch>
        </p:blipFill>
        <p:spPr>
          <a:xfrm>
            <a:off x="9321882" y="348323"/>
            <a:ext cx="3686787" cy="2711399"/>
          </a:xfrm>
          <a:prstGeom prst="rect">
            <a:avLst/>
          </a:prstGeom>
        </p:spPr>
      </p:pic>
      <p:sp>
        <p:nvSpPr>
          <p:cNvPr id="11" name="TextBox 10">
            <a:extLst>
              <a:ext uri="{FF2B5EF4-FFF2-40B4-BE49-F238E27FC236}">
                <a16:creationId xmlns:a16="http://schemas.microsoft.com/office/drawing/2014/main" id="{FE4DF231-A388-8140-FE4F-70C7CA992B4A}"/>
              </a:ext>
            </a:extLst>
          </p:cNvPr>
          <p:cNvSpPr txBox="1"/>
          <p:nvPr/>
        </p:nvSpPr>
        <p:spPr>
          <a:xfrm>
            <a:off x="0" y="3059722"/>
            <a:ext cx="12192000" cy="1938992"/>
          </a:xfrm>
          <a:prstGeom prst="rect">
            <a:avLst/>
          </a:prstGeom>
          <a:noFill/>
        </p:spPr>
        <p:txBody>
          <a:bodyPr wrap="square" rtlCol="0">
            <a:spAutoFit/>
          </a:bodyPr>
          <a:lstStyle/>
          <a:p>
            <a:pPr algn="just"/>
            <a:endParaRPr lang="en-US" sz="2400"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By using multiple machine learning algorithms, it can cover the weaknesses of another  model while strengthening the robustness of classification analysis. In addition, it can allow for direct comparisons and see whether each result of each machine learning algorithm is consistent with each other.</a:t>
            </a:r>
          </a:p>
        </p:txBody>
      </p:sp>
    </p:spTree>
    <p:extLst>
      <p:ext uri="{BB962C8B-B14F-4D97-AF65-F5344CB8AC3E}">
        <p14:creationId xmlns:p14="http://schemas.microsoft.com/office/powerpoint/2010/main" val="2025047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5C32DA-30E7-048A-A8B0-1143FB7E6DE0}"/>
              </a:ext>
            </a:extLst>
          </p:cNvPr>
          <p:cNvSpPr txBox="1"/>
          <p:nvPr/>
        </p:nvSpPr>
        <p:spPr>
          <a:xfrm>
            <a:off x="1" y="661481"/>
            <a:ext cx="12192000" cy="5262979"/>
          </a:xfrm>
          <a:prstGeom prst="rect">
            <a:avLst/>
          </a:prstGeom>
          <a:noFill/>
        </p:spPr>
        <p:txBody>
          <a:bodyPr wrap="square" rtlCol="0">
            <a:spAutoFit/>
          </a:bodyPr>
          <a:lstStyle/>
          <a:p>
            <a:pPr algn="just"/>
            <a:r>
              <a:rPr lang="en-US" sz="2400" b="1" dirty="0">
                <a:latin typeface="Arial" panose="020B0604020202020204" pitchFamily="34" charset="0"/>
                <a:cs typeface="Arial" panose="020B0604020202020204" pitchFamily="34" charset="0"/>
              </a:rPr>
              <a:t>Hypothesis</a:t>
            </a:r>
          </a:p>
          <a:p>
            <a:pPr algn="just"/>
            <a:r>
              <a:rPr lang="en-US" sz="2400" dirty="0">
                <a:latin typeface="Arial" panose="020B0604020202020204" pitchFamily="34" charset="0"/>
                <a:cs typeface="Arial" panose="020B0604020202020204" pitchFamily="34" charset="0"/>
              </a:rPr>
              <a:t>K-</a:t>
            </a:r>
            <a:r>
              <a:rPr lang="en-US" sz="2400" dirty="0" err="1">
                <a:latin typeface="Arial" panose="020B0604020202020204" pitchFamily="34" charset="0"/>
                <a:cs typeface="Arial" panose="020B0604020202020204" pitchFamily="34" charset="0"/>
              </a:rPr>
              <a:t>mer</a:t>
            </a:r>
            <a:r>
              <a:rPr lang="en-US" sz="2400" dirty="0">
                <a:latin typeface="Arial" panose="020B0604020202020204" pitchFamily="34" charset="0"/>
                <a:cs typeface="Arial" panose="020B0604020202020204" pitchFamily="34" charset="0"/>
              </a:rPr>
              <a:t> dinucleotide frequencies have enough succinct features such that supervised machine learning algorithms can accurately train and detect different gene sequences and </a:t>
            </a:r>
            <a:r>
              <a:rPr lang="en-US" sz="2400" i="1" dirty="0">
                <a:latin typeface="Arial" panose="020B0604020202020204" pitchFamily="34" charset="0"/>
                <a:cs typeface="Arial" panose="020B0604020202020204" pitchFamily="34" charset="0"/>
              </a:rPr>
              <a:t>Muridae</a:t>
            </a:r>
            <a:r>
              <a:rPr lang="en-US" sz="2400" dirty="0">
                <a:latin typeface="Arial" panose="020B0604020202020204" pitchFamily="34" charset="0"/>
                <a:cs typeface="Arial" panose="020B0604020202020204" pitchFamily="34" charset="0"/>
              </a:rPr>
              <a:t> species</a:t>
            </a:r>
          </a:p>
          <a:p>
            <a:pPr algn="just"/>
            <a:endParaRPr lang="en-US" sz="2400" dirty="0">
              <a:latin typeface="Arial" panose="020B0604020202020204" pitchFamily="34" charset="0"/>
              <a:cs typeface="Arial" panose="020B0604020202020204" pitchFamily="34" charset="0"/>
            </a:endParaRPr>
          </a:p>
          <a:p>
            <a:pPr algn="just"/>
            <a:r>
              <a:rPr lang="en-US" sz="2400" b="1" dirty="0">
                <a:latin typeface="Arial" panose="020B0604020202020204" pitchFamily="34" charset="0"/>
                <a:cs typeface="Arial" panose="020B0604020202020204" pitchFamily="34" charset="0"/>
              </a:rPr>
              <a:t>Null hypothesis</a:t>
            </a:r>
          </a:p>
          <a:p>
            <a:pPr algn="just"/>
            <a:r>
              <a:rPr lang="en-US" sz="2400" dirty="0">
                <a:latin typeface="Arial" panose="020B0604020202020204" pitchFamily="34" charset="0"/>
                <a:cs typeface="Arial" panose="020B0604020202020204" pitchFamily="34" charset="0"/>
              </a:rPr>
              <a:t>K-</a:t>
            </a:r>
            <a:r>
              <a:rPr lang="en-US" sz="2400" dirty="0" err="1">
                <a:latin typeface="Arial" panose="020B0604020202020204" pitchFamily="34" charset="0"/>
                <a:cs typeface="Arial" panose="020B0604020202020204" pitchFamily="34" charset="0"/>
              </a:rPr>
              <a:t>mer</a:t>
            </a:r>
            <a:r>
              <a:rPr lang="en-US" sz="2400" dirty="0">
                <a:latin typeface="Arial" panose="020B0604020202020204" pitchFamily="34" charset="0"/>
                <a:cs typeface="Arial" panose="020B0604020202020204" pitchFamily="34" charset="0"/>
              </a:rPr>
              <a:t> dinucleotide frequencies do not differ amongst different gene sequences and </a:t>
            </a:r>
            <a:r>
              <a:rPr lang="en-US" sz="2400" i="1" dirty="0">
                <a:latin typeface="Arial" panose="020B0604020202020204" pitchFamily="34" charset="0"/>
                <a:cs typeface="Arial" panose="020B0604020202020204" pitchFamily="34" charset="0"/>
              </a:rPr>
              <a:t>Muridae</a:t>
            </a:r>
            <a:r>
              <a:rPr lang="en-US" sz="2400" dirty="0">
                <a:latin typeface="Arial" panose="020B0604020202020204" pitchFamily="34" charset="0"/>
                <a:cs typeface="Arial" panose="020B0604020202020204" pitchFamily="34" charset="0"/>
              </a:rPr>
              <a:t> species (and is due to random chance)</a:t>
            </a:r>
          </a:p>
          <a:p>
            <a:pPr algn="just"/>
            <a:endParaRPr lang="en-US" sz="2400" dirty="0">
              <a:latin typeface="Arial" panose="020B0604020202020204" pitchFamily="34" charset="0"/>
              <a:cs typeface="Arial" panose="020B0604020202020204" pitchFamily="34" charset="0"/>
            </a:endParaRPr>
          </a:p>
          <a:p>
            <a:pPr algn="just"/>
            <a:r>
              <a:rPr lang="en-US" sz="2400" b="1" dirty="0">
                <a:latin typeface="Arial" panose="020B0604020202020204" pitchFamily="34" charset="0"/>
                <a:cs typeface="Arial" panose="020B0604020202020204" pitchFamily="34" charset="0"/>
              </a:rPr>
              <a:t>Objectives</a:t>
            </a:r>
          </a:p>
          <a:p>
            <a:pPr marL="457200" indent="-457200" algn="just">
              <a:buAutoNum type="arabicPeriod"/>
            </a:pPr>
            <a:r>
              <a:rPr lang="en-US" sz="2400" dirty="0">
                <a:latin typeface="Arial" panose="020B0604020202020204" pitchFamily="34" charset="0"/>
                <a:cs typeface="Arial" panose="020B0604020202020204" pitchFamily="34" charset="0"/>
              </a:rPr>
              <a:t>Apply multiple supervised machine learning classifiers such as RF and PLS to classify gene sequences and </a:t>
            </a:r>
            <a:r>
              <a:rPr lang="en-US" sz="2400" i="1" dirty="0">
                <a:latin typeface="Arial" panose="020B0604020202020204" pitchFamily="34" charset="0"/>
                <a:cs typeface="Arial" panose="020B0604020202020204" pitchFamily="34" charset="0"/>
              </a:rPr>
              <a:t>Muridae</a:t>
            </a:r>
            <a:r>
              <a:rPr lang="en-US" sz="2400" dirty="0">
                <a:latin typeface="Arial" panose="020B0604020202020204" pitchFamily="34" charset="0"/>
                <a:cs typeface="Arial" panose="020B0604020202020204" pitchFamily="34" charset="0"/>
              </a:rPr>
              <a:t> species</a:t>
            </a:r>
          </a:p>
          <a:p>
            <a:pPr marL="457200" indent="-457200" algn="just">
              <a:buAutoNum type="arabicPeriod"/>
            </a:pPr>
            <a:r>
              <a:rPr lang="en-US" sz="2400" dirty="0">
                <a:latin typeface="Arial" panose="020B0604020202020204" pitchFamily="34" charset="0"/>
                <a:cs typeface="Arial" panose="020B0604020202020204" pitchFamily="34" charset="0"/>
              </a:rPr>
              <a:t>Compare and contrast how each machine learning model evaluates, trains, and classifies </a:t>
            </a:r>
            <a:r>
              <a:rPr lang="en-US" sz="2400" i="1" dirty="0" err="1">
                <a:latin typeface="Arial" panose="020B0604020202020204" pitchFamily="34" charset="0"/>
                <a:cs typeface="Arial" panose="020B0604020202020204" pitchFamily="34" charset="0"/>
              </a:rPr>
              <a:t>Cytb</a:t>
            </a:r>
            <a:r>
              <a:rPr lang="en-US" sz="2400" dirty="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Irbp</a:t>
            </a:r>
            <a:r>
              <a:rPr lang="en-US" sz="2400" dirty="0">
                <a:latin typeface="Arial" panose="020B0604020202020204" pitchFamily="34" charset="0"/>
                <a:cs typeface="Arial" panose="020B0604020202020204" pitchFamily="34" charset="0"/>
              </a:rPr>
              <a:t>, and </a:t>
            </a:r>
            <a:r>
              <a:rPr lang="en-US" sz="2400" i="1" dirty="0">
                <a:latin typeface="Arial" panose="020B0604020202020204" pitchFamily="34" charset="0"/>
                <a:cs typeface="Arial" panose="020B0604020202020204" pitchFamily="34" charset="0"/>
              </a:rPr>
              <a:t>Rag1</a:t>
            </a:r>
            <a:r>
              <a:rPr lang="en-US" sz="2400" dirty="0">
                <a:latin typeface="Arial" panose="020B0604020202020204" pitchFamily="34" charset="0"/>
                <a:cs typeface="Arial" panose="020B0604020202020204" pitchFamily="34" charset="0"/>
              </a:rPr>
              <a:t> gene sequences, and </a:t>
            </a:r>
            <a:r>
              <a:rPr lang="en-US" sz="2400" i="1" dirty="0">
                <a:latin typeface="Arial" panose="020B0604020202020204" pitchFamily="34" charset="0"/>
                <a:cs typeface="Arial" panose="020B0604020202020204" pitchFamily="34" charset="0"/>
              </a:rPr>
              <a:t>Muridae</a:t>
            </a:r>
            <a:r>
              <a:rPr lang="en-US" sz="2400" dirty="0">
                <a:latin typeface="Arial" panose="020B0604020202020204" pitchFamily="34" charset="0"/>
                <a:cs typeface="Arial" panose="020B0604020202020204" pitchFamily="34" charset="0"/>
              </a:rPr>
              <a:t> species</a:t>
            </a:r>
          </a:p>
        </p:txBody>
      </p:sp>
      <p:sp>
        <p:nvSpPr>
          <p:cNvPr id="3" name="Title 1">
            <a:extLst>
              <a:ext uri="{FF2B5EF4-FFF2-40B4-BE49-F238E27FC236}">
                <a16:creationId xmlns:a16="http://schemas.microsoft.com/office/drawing/2014/main" id="{A30B4584-4432-DE39-DBE2-33FD2004A345}"/>
              </a:ext>
            </a:extLst>
          </p:cNvPr>
          <p:cNvSpPr txBox="1">
            <a:spLocks/>
          </p:cNvSpPr>
          <p:nvPr/>
        </p:nvSpPr>
        <p:spPr>
          <a:xfrm>
            <a:off x="0" y="0"/>
            <a:ext cx="12192000" cy="661481"/>
          </a:xfrm>
          <a:prstGeom prst="rect">
            <a:avLst/>
          </a:prstGeom>
          <a:solidFill>
            <a:schemeClr val="tx2"/>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CA" sz="3200" b="1" dirty="0">
                <a:solidFill>
                  <a:schemeClr val="bg1"/>
                </a:solidFill>
                <a:latin typeface="Arial" panose="020B0604020202020204" pitchFamily="34" charset="0"/>
                <a:cs typeface="Arial" panose="020B0604020202020204" pitchFamily="34" charset="0"/>
              </a:rPr>
              <a:t>Defining the Hypothesis and Objectives</a:t>
            </a:r>
            <a:endParaRPr lang="en-US" sz="3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46955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091D0-E969-93E5-3632-502160BDD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178406-F956-BEA6-38B9-7273A3BA0A3D}"/>
              </a:ext>
            </a:extLst>
          </p:cNvPr>
          <p:cNvSpPr txBox="1">
            <a:spLocks/>
          </p:cNvSpPr>
          <p:nvPr/>
        </p:nvSpPr>
        <p:spPr>
          <a:xfrm>
            <a:off x="0" y="1"/>
            <a:ext cx="12192000" cy="1107416"/>
          </a:xfrm>
          <a:prstGeom prst="rect">
            <a:avLst/>
          </a:prstGeom>
          <a:solidFill>
            <a:schemeClr val="tx2"/>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chemeClr val="bg1"/>
                </a:solidFill>
                <a:latin typeface="Arial" panose="020B0604020202020204" pitchFamily="34" charset="0"/>
                <a:cs typeface="Arial" panose="020B0604020202020204" pitchFamily="34" charset="0"/>
              </a:rPr>
              <a:t>Methodological framework to investigate </a:t>
            </a:r>
            <a:r>
              <a:rPr lang="en-US" sz="3200" b="1" i="1" dirty="0">
                <a:solidFill>
                  <a:schemeClr val="bg1"/>
                </a:solidFill>
                <a:latin typeface="Arial" panose="020B0604020202020204" pitchFamily="34" charset="0"/>
                <a:cs typeface="Arial" panose="020B0604020202020204" pitchFamily="34" charset="0"/>
              </a:rPr>
              <a:t>Muridae</a:t>
            </a:r>
            <a:r>
              <a:rPr lang="en-US" sz="3200" b="1" dirty="0">
                <a:solidFill>
                  <a:schemeClr val="bg1"/>
                </a:solidFill>
                <a:latin typeface="Arial" panose="020B0604020202020204" pitchFamily="34" charset="0"/>
                <a:cs typeface="Arial" panose="020B0604020202020204" pitchFamily="34" charset="0"/>
              </a:rPr>
              <a:t> machine learning classification</a:t>
            </a:r>
          </a:p>
        </p:txBody>
      </p:sp>
      <p:sp>
        <p:nvSpPr>
          <p:cNvPr id="6" name="Rounded Rectangle 5">
            <a:extLst>
              <a:ext uri="{FF2B5EF4-FFF2-40B4-BE49-F238E27FC236}">
                <a16:creationId xmlns:a16="http://schemas.microsoft.com/office/drawing/2014/main" id="{BF88E5E4-37B9-63C8-1456-F67FC7D2CA5C}"/>
              </a:ext>
            </a:extLst>
          </p:cNvPr>
          <p:cNvSpPr>
            <a:spLocks noChangeAspect="1"/>
          </p:cNvSpPr>
          <p:nvPr/>
        </p:nvSpPr>
        <p:spPr>
          <a:xfrm>
            <a:off x="4154179" y="1825483"/>
            <a:ext cx="2978490" cy="2039900"/>
          </a:xfrm>
          <a:prstGeom prst="roundRect">
            <a:avLst/>
          </a:prstGeom>
          <a:solidFill>
            <a:schemeClr val="accent1">
              <a:lumMod val="40000"/>
              <a:lumOff val="60000"/>
            </a:schemeClr>
          </a:solidFill>
          <a:ln w="762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rial" panose="020B0604020202020204" pitchFamily="34" charset="0"/>
                <a:cs typeface="Arial" panose="020B0604020202020204" pitchFamily="34" charset="0"/>
              </a:rPr>
              <a:t>STEP 2: Extract </a:t>
            </a:r>
            <a:r>
              <a:rPr lang="en-US" sz="2000" b="1" i="1" dirty="0">
                <a:solidFill>
                  <a:schemeClr val="tx1"/>
                </a:solidFill>
                <a:latin typeface="Arial" panose="020B0604020202020204" pitchFamily="34" charset="0"/>
                <a:cs typeface="Arial" panose="020B0604020202020204" pitchFamily="34" charset="0"/>
              </a:rPr>
              <a:t>Muridae</a:t>
            </a:r>
            <a:r>
              <a:rPr lang="en-US" sz="2000" b="1" dirty="0">
                <a:solidFill>
                  <a:schemeClr val="tx1"/>
                </a:solidFill>
                <a:latin typeface="Arial" panose="020B0604020202020204" pitchFamily="34" charset="0"/>
                <a:cs typeface="Arial" panose="020B0604020202020204" pitchFamily="34" charset="0"/>
              </a:rPr>
              <a:t> dataset from NCBI nucleotide databases</a:t>
            </a:r>
          </a:p>
          <a:p>
            <a:pPr algn="ctr"/>
            <a:r>
              <a:rPr lang="en-US" sz="2000" b="1" dirty="0">
                <a:solidFill>
                  <a:schemeClr val="tx1"/>
                </a:solidFill>
                <a:latin typeface="Arial" panose="020B0604020202020204" pitchFamily="34" charset="0"/>
                <a:cs typeface="Arial" panose="020B0604020202020204" pitchFamily="34" charset="0"/>
              </a:rPr>
              <a:t>(R package: </a:t>
            </a:r>
            <a:r>
              <a:rPr lang="en-US" sz="2000" b="1" dirty="0" err="1">
                <a:solidFill>
                  <a:schemeClr val="tx1"/>
                </a:solidFill>
                <a:latin typeface="Arial" panose="020B0604020202020204" pitchFamily="34" charset="0"/>
                <a:cs typeface="Arial" panose="020B0604020202020204" pitchFamily="34" charset="0"/>
              </a:rPr>
              <a:t>Rentrez</a:t>
            </a:r>
            <a:r>
              <a:rPr lang="en-US" sz="2000" b="1" dirty="0">
                <a:solidFill>
                  <a:schemeClr val="tx1"/>
                </a:solidFill>
                <a:latin typeface="Arial" panose="020B0604020202020204" pitchFamily="34" charset="0"/>
                <a:cs typeface="Arial" panose="020B0604020202020204" pitchFamily="34" charset="0"/>
              </a:rPr>
              <a:t>)</a:t>
            </a:r>
          </a:p>
        </p:txBody>
      </p:sp>
      <p:sp>
        <p:nvSpPr>
          <p:cNvPr id="7" name="Rounded Rectangle 6">
            <a:extLst>
              <a:ext uri="{FF2B5EF4-FFF2-40B4-BE49-F238E27FC236}">
                <a16:creationId xmlns:a16="http://schemas.microsoft.com/office/drawing/2014/main" id="{2957B94A-49FC-2EA4-8A19-02134AEEDBF3}"/>
              </a:ext>
            </a:extLst>
          </p:cNvPr>
          <p:cNvSpPr>
            <a:spLocks noChangeAspect="1"/>
          </p:cNvSpPr>
          <p:nvPr/>
        </p:nvSpPr>
        <p:spPr>
          <a:xfrm>
            <a:off x="8308355" y="1459523"/>
            <a:ext cx="3679313" cy="2405860"/>
          </a:xfrm>
          <a:prstGeom prst="roundRect">
            <a:avLst/>
          </a:prstGeom>
          <a:solidFill>
            <a:schemeClr val="accent1">
              <a:lumMod val="40000"/>
              <a:lumOff val="60000"/>
            </a:schemeClr>
          </a:solidFill>
          <a:ln w="762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rial" panose="020B0604020202020204" pitchFamily="34" charset="0"/>
                <a:cs typeface="Arial" panose="020B0604020202020204" pitchFamily="34" charset="0"/>
              </a:rPr>
              <a:t>STEP 3. Filter unknown nucleotides, clean, quality check, and transform data (i.e. adding k-</a:t>
            </a:r>
            <a:r>
              <a:rPr lang="en-US" sz="2000" b="1" dirty="0" err="1">
                <a:solidFill>
                  <a:schemeClr val="tx1"/>
                </a:solidFill>
                <a:latin typeface="Arial" panose="020B0604020202020204" pitchFamily="34" charset="0"/>
                <a:cs typeface="Arial" panose="020B0604020202020204" pitchFamily="34" charset="0"/>
              </a:rPr>
              <a:t>mers</a:t>
            </a:r>
            <a:r>
              <a:rPr lang="en-US" sz="2000" b="1" dirty="0">
                <a:solidFill>
                  <a:schemeClr val="tx1"/>
                </a:solidFill>
                <a:latin typeface="Arial" panose="020B0604020202020204" pitchFamily="34" charset="0"/>
                <a:cs typeface="Arial" panose="020B0604020202020204" pitchFamily="34" charset="0"/>
              </a:rPr>
              <a:t>) (R Packages: </a:t>
            </a:r>
            <a:r>
              <a:rPr lang="en-US" sz="2000" b="1" dirty="0" err="1">
                <a:solidFill>
                  <a:schemeClr val="tx1"/>
                </a:solidFill>
                <a:latin typeface="Arial" panose="020B0604020202020204" pitchFamily="34" charset="0"/>
                <a:cs typeface="Arial" panose="020B0604020202020204" pitchFamily="34" charset="0"/>
              </a:rPr>
              <a:t>tidyverse</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Biostrings</a:t>
            </a:r>
            <a:r>
              <a:rPr lang="en-US" sz="2000" b="1" dirty="0">
                <a:solidFill>
                  <a:schemeClr val="tx1"/>
                </a:solidFill>
                <a:latin typeface="Arial" panose="020B0604020202020204" pitchFamily="34" charset="0"/>
                <a:cs typeface="Arial" panose="020B0604020202020204" pitchFamily="34" charset="0"/>
              </a:rPr>
              <a:t>, caret)</a:t>
            </a:r>
          </a:p>
        </p:txBody>
      </p:sp>
      <p:sp>
        <p:nvSpPr>
          <p:cNvPr id="8" name="Rounded Rectangle 7">
            <a:extLst>
              <a:ext uri="{FF2B5EF4-FFF2-40B4-BE49-F238E27FC236}">
                <a16:creationId xmlns:a16="http://schemas.microsoft.com/office/drawing/2014/main" id="{E53FE939-6C12-695E-E413-C21877B09899}"/>
              </a:ext>
            </a:extLst>
          </p:cNvPr>
          <p:cNvSpPr>
            <a:spLocks noChangeAspect="1"/>
          </p:cNvSpPr>
          <p:nvPr/>
        </p:nvSpPr>
        <p:spPr>
          <a:xfrm>
            <a:off x="8533678" y="4645907"/>
            <a:ext cx="3527666" cy="2025398"/>
          </a:xfrm>
          <a:prstGeom prst="roundRect">
            <a:avLst/>
          </a:prstGeom>
          <a:solidFill>
            <a:schemeClr val="accent1">
              <a:lumMod val="40000"/>
              <a:lumOff val="60000"/>
            </a:schemeClr>
          </a:solidFill>
          <a:ln w="762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rial" panose="020B0604020202020204" pitchFamily="34" charset="0"/>
                <a:cs typeface="Arial" panose="020B0604020202020204" pitchFamily="34" charset="0"/>
              </a:rPr>
              <a:t>STEP 4. Apply machine learning and visualization (ROC, heatmaps, MDA) </a:t>
            </a:r>
          </a:p>
          <a:p>
            <a:pPr algn="ctr"/>
            <a:r>
              <a:rPr lang="en-US" sz="2000" b="1" dirty="0">
                <a:solidFill>
                  <a:schemeClr val="tx1"/>
                </a:solidFill>
                <a:latin typeface="Arial" panose="020B0604020202020204" pitchFamily="34" charset="0"/>
                <a:cs typeface="Arial" panose="020B0604020202020204" pitchFamily="34" charset="0"/>
              </a:rPr>
              <a:t>(R Packages: base R, ggplot2, caret, Random Forests, </a:t>
            </a:r>
            <a:r>
              <a:rPr lang="en-US" sz="2000" b="1" dirty="0" err="1">
                <a:solidFill>
                  <a:schemeClr val="tx1"/>
                </a:solidFill>
                <a:latin typeface="Arial" panose="020B0604020202020204" pitchFamily="34" charset="0"/>
                <a:cs typeface="Arial" panose="020B0604020202020204" pitchFamily="34" charset="0"/>
              </a:rPr>
              <a:t>pROC</a:t>
            </a:r>
            <a:r>
              <a:rPr lang="en-US" sz="2000" b="1" dirty="0">
                <a:solidFill>
                  <a:schemeClr val="tx1"/>
                </a:solidFill>
                <a:latin typeface="Arial" panose="020B0604020202020204" pitchFamily="34" charset="0"/>
                <a:cs typeface="Arial" panose="020B0604020202020204" pitchFamily="34" charset="0"/>
              </a:rPr>
              <a:t>, vegan)</a:t>
            </a:r>
          </a:p>
        </p:txBody>
      </p:sp>
      <p:sp>
        <p:nvSpPr>
          <p:cNvPr id="9" name="Rounded Rectangle 8">
            <a:extLst>
              <a:ext uri="{FF2B5EF4-FFF2-40B4-BE49-F238E27FC236}">
                <a16:creationId xmlns:a16="http://schemas.microsoft.com/office/drawing/2014/main" id="{3563CAD3-FBF5-3B1F-DB40-68970E6D9B7E}"/>
              </a:ext>
            </a:extLst>
          </p:cNvPr>
          <p:cNvSpPr>
            <a:spLocks noChangeAspect="1"/>
          </p:cNvSpPr>
          <p:nvPr/>
        </p:nvSpPr>
        <p:spPr>
          <a:xfrm>
            <a:off x="4313624" y="4620173"/>
            <a:ext cx="3226702" cy="2037147"/>
          </a:xfrm>
          <a:prstGeom prst="roundRect">
            <a:avLst/>
          </a:prstGeom>
          <a:solidFill>
            <a:schemeClr val="accent1">
              <a:lumMod val="40000"/>
              <a:lumOff val="60000"/>
            </a:schemeClr>
          </a:solidFill>
          <a:ln w="762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rial" panose="020B0604020202020204" pitchFamily="34" charset="0"/>
                <a:cs typeface="Arial" panose="020B0604020202020204" pitchFamily="34" charset="0"/>
              </a:rPr>
              <a:t>STEP 5: Analysis of machine learning error rates, confusion matrix, and statistical tests (PERMANOVA)</a:t>
            </a:r>
          </a:p>
        </p:txBody>
      </p:sp>
      <p:sp>
        <p:nvSpPr>
          <p:cNvPr id="11" name="Rounded Rectangle 10">
            <a:extLst>
              <a:ext uri="{FF2B5EF4-FFF2-40B4-BE49-F238E27FC236}">
                <a16:creationId xmlns:a16="http://schemas.microsoft.com/office/drawing/2014/main" id="{115591DE-ADAD-2E85-222E-6D88DC8B55CB}"/>
              </a:ext>
            </a:extLst>
          </p:cNvPr>
          <p:cNvSpPr>
            <a:spLocks noChangeAspect="1"/>
          </p:cNvSpPr>
          <p:nvPr/>
        </p:nvSpPr>
        <p:spPr>
          <a:xfrm>
            <a:off x="352570" y="4717220"/>
            <a:ext cx="2937600" cy="1836000"/>
          </a:xfrm>
          <a:prstGeom prst="roundRect">
            <a:avLst/>
          </a:prstGeom>
          <a:solidFill>
            <a:schemeClr val="accent1">
              <a:lumMod val="40000"/>
              <a:lumOff val="60000"/>
            </a:schemeClr>
          </a:solidFill>
          <a:ln w="762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rial" panose="020B0604020202020204" pitchFamily="34" charset="0"/>
                <a:cs typeface="Arial" panose="020B0604020202020204" pitchFamily="34" charset="0"/>
              </a:rPr>
              <a:t>STEP 6. Communicate  findings and interpretation via storyboard</a:t>
            </a:r>
          </a:p>
        </p:txBody>
      </p:sp>
      <p:sp>
        <p:nvSpPr>
          <p:cNvPr id="12" name="Rounded Rectangle 11">
            <a:extLst>
              <a:ext uri="{FF2B5EF4-FFF2-40B4-BE49-F238E27FC236}">
                <a16:creationId xmlns:a16="http://schemas.microsoft.com/office/drawing/2014/main" id="{36BE8ED1-458C-AA68-95E2-12728C6B7A61}"/>
              </a:ext>
            </a:extLst>
          </p:cNvPr>
          <p:cNvSpPr>
            <a:spLocks noChangeAspect="1"/>
          </p:cNvSpPr>
          <p:nvPr/>
        </p:nvSpPr>
        <p:spPr>
          <a:xfrm>
            <a:off x="362023" y="1825483"/>
            <a:ext cx="2616470" cy="2015354"/>
          </a:xfrm>
          <a:prstGeom prst="roundRect">
            <a:avLst/>
          </a:prstGeom>
          <a:solidFill>
            <a:schemeClr val="accent1">
              <a:lumMod val="40000"/>
              <a:lumOff val="60000"/>
            </a:schemeClr>
          </a:solidFill>
          <a:ln w="76200">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Arial" panose="020B0604020202020204" pitchFamily="34" charset="0"/>
                <a:cs typeface="Arial" panose="020B0604020202020204" pitchFamily="34" charset="0"/>
              </a:rPr>
              <a:t>STEP 1:            Define the hypothesis and objectives, and outline analysis</a:t>
            </a:r>
          </a:p>
        </p:txBody>
      </p:sp>
      <p:cxnSp>
        <p:nvCxnSpPr>
          <p:cNvPr id="13" name="Straight Arrow Connector 12">
            <a:extLst>
              <a:ext uri="{FF2B5EF4-FFF2-40B4-BE49-F238E27FC236}">
                <a16:creationId xmlns:a16="http://schemas.microsoft.com/office/drawing/2014/main" id="{A40E5884-0FB8-E234-B9F8-2DB9A1A3D9C2}"/>
              </a:ext>
            </a:extLst>
          </p:cNvPr>
          <p:cNvCxnSpPr>
            <a:cxnSpLocks/>
          </p:cNvCxnSpPr>
          <p:nvPr/>
        </p:nvCxnSpPr>
        <p:spPr>
          <a:xfrm>
            <a:off x="3236599" y="2845600"/>
            <a:ext cx="846993"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8D0B802B-EBAD-ADD4-206B-36C9A3A7E7FA}"/>
              </a:ext>
            </a:extLst>
          </p:cNvPr>
          <p:cNvCxnSpPr>
            <a:cxnSpLocks/>
          </p:cNvCxnSpPr>
          <p:nvPr/>
        </p:nvCxnSpPr>
        <p:spPr>
          <a:xfrm>
            <a:off x="7420411" y="2845433"/>
            <a:ext cx="846993"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6EFA47A-5710-7949-B091-B485E72FD8EA}"/>
              </a:ext>
            </a:extLst>
          </p:cNvPr>
          <p:cNvCxnSpPr>
            <a:cxnSpLocks/>
          </p:cNvCxnSpPr>
          <p:nvPr/>
        </p:nvCxnSpPr>
        <p:spPr>
          <a:xfrm>
            <a:off x="10131136" y="3965113"/>
            <a:ext cx="0" cy="58648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9017BCE4-DF2C-ABDC-F3F9-BE40B412149B}"/>
              </a:ext>
            </a:extLst>
          </p:cNvPr>
          <p:cNvCxnSpPr>
            <a:cxnSpLocks/>
          </p:cNvCxnSpPr>
          <p:nvPr/>
        </p:nvCxnSpPr>
        <p:spPr>
          <a:xfrm flipH="1">
            <a:off x="7614002" y="5753305"/>
            <a:ext cx="846000"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C011630-40A0-9F1E-350E-E038733EB9DE}"/>
              </a:ext>
            </a:extLst>
          </p:cNvPr>
          <p:cNvCxnSpPr>
            <a:cxnSpLocks/>
          </p:cNvCxnSpPr>
          <p:nvPr/>
        </p:nvCxnSpPr>
        <p:spPr>
          <a:xfrm flipH="1">
            <a:off x="3393948" y="5753305"/>
            <a:ext cx="846000"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pic>
        <p:nvPicPr>
          <p:cNvPr id="20" name="Picture 19" descr="A blue mouse with a black background&#10;&#10;AI-generated content may be incorrect.">
            <a:extLst>
              <a:ext uri="{FF2B5EF4-FFF2-40B4-BE49-F238E27FC236}">
                <a16:creationId xmlns:a16="http://schemas.microsoft.com/office/drawing/2014/main" id="{B2288942-1DE5-79B0-62FE-632FDBC3FF4A}"/>
              </a:ext>
            </a:extLst>
          </p:cNvPr>
          <p:cNvPicPr>
            <a:picLocks noChangeAspect="1"/>
          </p:cNvPicPr>
          <p:nvPr/>
        </p:nvPicPr>
        <p:blipFill>
          <a:blip r:embed="rId2"/>
          <a:stretch>
            <a:fillRect/>
          </a:stretch>
        </p:blipFill>
        <p:spPr>
          <a:xfrm flipH="1">
            <a:off x="4239948" y="1150408"/>
            <a:ext cx="1203077" cy="917848"/>
          </a:xfrm>
          <a:prstGeom prst="rect">
            <a:avLst/>
          </a:prstGeom>
        </p:spPr>
      </p:pic>
    </p:spTree>
    <p:extLst>
      <p:ext uri="{BB962C8B-B14F-4D97-AF65-F5344CB8AC3E}">
        <p14:creationId xmlns:p14="http://schemas.microsoft.com/office/powerpoint/2010/main" val="1872741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AE97F-13FB-3282-3749-EDAC78ABC50B}"/>
              </a:ext>
            </a:extLst>
          </p:cNvPr>
          <p:cNvSpPr txBox="1">
            <a:spLocks/>
          </p:cNvSpPr>
          <p:nvPr/>
        </p:nvSpPr>
        <p:spPr>
          <a:xfrm>
            <a:off x="0" y="1"/>
            <a:ext cx="12192000" cy="622570"/>
          </a:xfrm>
          <a:prstGeom prst="rect">
            <a:avLst/>
          </a:prstGeom>
          <a:solidFill>
            <a:schemeClr val="tx2"/>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500" b="1" dirty="0">
                <a:solidFill>
                  <a:schemeClr val="bg1"/>
                </a:solidFill>
                <a:latin typeface="Arial" panose="020B0604020202020204" pitchFamily="34" charset="0"/>
                <a:cs typeface="Arial" panose="020B0604020202020204" pitchFamily="34" charset="0"/>
              </a:rPr>
              <a:t>STEP 2: NCBI web search and </a:t>
            </a:r>
            <a:r>
              <a:rPr lang="en-US" sz="2500" b="1" dirty="0" err="1">
                <a:solidFill>
                  <a:schemeClr val="bg1"/>
                </a:solidFill>
                <a:latin typeface="Arial" panose="020B0604020202020204" pitchFamily="34" charset="0"/>
                <a:cs typeface="Arial" panose="020B0604020202020204" pitchFamily="34" charset="0"/>
              </a:rPr>
              <a:t>Rentrez</a:t>
            </a:r>
            <a:r>
              <a:rPr lang="en-US" sz="2500" b="1" dirty="0">
                <a:solidFill>
                  <a:schemeClr val="bg1"/>
                </a:solidFill>
                <a:latin typeface="Arial" panose="020B0604020202020204" pitchFamily="34" charset="0"/>
                <a:cs typeface="Arial" panose="020B0604020202020204" pitchFamily="34" charset="0"/>
              </a:rPr>
              <a:t> can be used to obtain relevant datasets </a:t>
            </a:r>
          </a:p>
        </p:txBody>
      </p:sp>
      <p:sp>
        <p:nvSpPr>
          <p:cNvPr id="3" name="TextBox 2">
            <a:extLst>
              <a:ext uri="{FF2B5EF4-FFF2-40B4-BE49-F238E27FC236}">
                <a16:creationId xmlns:a16="http://schemas.microsoft.com/office/drawing/2014/main" id="{007E9500-0957-0EAA-2B8A-CD817EB15612}"/>
              </a:ext>
            </a:extLst>
          </p:cNvPr>
          <p:cNvSpPr txBox="1"/>
          <p:nvPr/>
        </p:nvSpPr>
        <p:spPr>
          <a:xfrm>
            <a:off x="-19878" y="622571"/>
            <a:ext cx="12192000" cy="3477875"/>
          </a:xfrm>
          <a:prstGeom prst="rect">
            <a:avLst/>
          </a:prstGeom>
          <a:noFill/>
        </p:spPr>
        <p:txBody>
          <a:bodyPr wrap="square" rtlCol="0">
            <a:spAutoFit/>
          </a:bodyPr>
          <a:lstStyle/>
          <a:p>
            <a:pPr algn="just"/>
            <a:r>
              <a:rPr lang="en-US" sz="2200" dirty="0">
                <a:latin typeface="Arial" panose="020B0604020202020204" pitchFamily="34" charset="0"/>
                <a:cs typeface="Arial" panose="020B0604020202020204" pitchFamily="34" charset="0"/>
              </a:rPr>
              <a:t>The National Center for Biotechnology Information (NCBI) is a well-established public resource that contains relevant bioinformatics databases for this analysis. Therefore, nucleotide sequences for </a:t>
            </a:r>
            <a:r>
              <a:rPr lang="en-US" sz="2200" i="1" dirty="0" err="1">
                <a:latin typeface="Arial" panose="020B0604020202020204" pitchFamily="34" charset="0"/>
                <a:cs typeface="Arial" panose="020B0604020202020204" pitchFamily="34" charset="0"/>
              </a:rPr>
              <a:t>Cytb</a:t>
            </a:r>
            <a:r>
              <a:rPr lang="en-US" sz="2200" dirty="0">
                <a:latin typeface="Arial" panose="020B0604020202020204" pitchFamily="34" charset="0"/>
                <a:cs typeface="Arial" panose="020B0604020202020204" pitchFamily="34" charset="0"/>
              </a:rPr>
              <a:t>, </a:t>
            </a:r>
            <a:r>
              <a:rPr lang="en-US" sz="2200" i="1" dirty="0" err="1">
                <a:latin typeface="Arial" panose="020B0604020202020204" pitchFamily="34" charset="0"/>
                <a:cs typeface="Arial" panose="020B0604020202020204" pitchFamily="34" charset="0"/>
              </a:rPr>
              <a:t>Irbp</a:t>
            </a:r>
            <a:r>
              <a:rPr lang="en-US" sz="2200" dirty="0">
                <a:latin typeface="Arial" panose="020B0604020202020204" pitchFamily="34" charset="0"/>
                <a:cs typeface="Arial" panose="020B0604020202020204" pitchFamily="34" charset="0"/>
              </a:rPr>
              <a:t>, and </a:t>
            </a:r>
            <a:r>
              <a:rPr lang="en-US" sz="2200" i="1" dirty="0">
                <a:latin typeface="Arial" panose="020B0604020202020204" pitchFamily="34" charset="0"/>
                <a:cs typeface="Arial" panose="020B0604020202020204" pitchFamily="34" charset="0"/>
              </a:rPr>
              <a:t>Rag1</a:t>
            </a:r>
            <a:r>
              <a:rPr lang="en-US" sz="2200" dirty="0">
                <a:latin typeface="Arial" panose="020B0604020202020204" pitchFamily="34" charset="0"/>
                <a:cs typeface="Arial" panose="020B0604020202020204" pitchFamily="34" charset="0"/>
              </a:rPr>
              <a:t> genes were obtained from NCBI. These genes were chosen because they have good number of sequencing records and are well-studied. </a:t>
            </a:r>
          </a:p>
          <a:p>
            <a:pPr algn="just"/>
            <a:endParaRPr lang="en-US" sz="2200" dirty="0">
              <a:latin typeface="Arial" panose="020B0604020202020204" pitchFamily="34" charset="0"/>
              <a:cs typeface="Arial" panose="020B0604020202020204" pitchFamily="34" charset="0"/>
            </a:endParaRPr>
          </a:p>
          <a:p>
            <a:pPr algn="just"/>
            <a:r>
              <a:rPr lang="en-US" sz="2200" dirty="0">
                <a:latin typeface="Arial" panose="020B0604020202020204" pitchFamily="34" charset="0"/>
                <a:cs typeface="Arial" panose="020B0604020202020204" pitchFamily="34" charset="0"/>
              </a:rPr>
              <a:t>These genes were filtered for 1000 – 1500 base pairs because this was their average gene sequence size. In fact, some entries were over 100,000,000 base pairs long (shotgun sequences, see below for an example) and some sequences were low quality and are error prone such as short read sequences. </a:t>
            </a:r>
          </a:p>
          <a:p>
            <a:pPr algn="just"/>
            <a:r>
              <a:rPr lang="en-US" sz="2200" dirty="0">
                <a:latin typeface="Arial" panose="020B0604020202020204" pitchFamily="34" charset="0"/>
                <a:cs typeface="Arial" panose="020B0604020202020204" pitchFamily="34" charset="0"/>
              </a:rPr>
              <a:t>Therefore, both needed to be</a:t>
            </a:r>
          </a:p>
        </p:txBody>
      </p:sp>
      <p:pic>
        <p:nvPicPr>
          <p:cNvPr id="11" name="Picture 10" descr="A blue sign with white text&#10;&#10;AI-generated content may be incorrect.">
            <a:extLst>
              <a:ext uri="{FF2B5EF4-FFF2-40B4-BE49-F238E27FC236}">
                <a16:creationId xmlns:a16="http://schemas.microsoft.com/office/drawing/2014/main" id="{6041F75B-8EFA-802B-FAF4-AD077B3B4F6C}"/>
              </a:ext>
            </a:extLst>
          </p:cNvPr>
          <p:cNvPicPr>
            <a:picLocks noChangeAspect="1"/>
          </p:cNvPicPr>
          <p:nvPr/>
        </p:nvPicPr>
        <p:blipFill>
          <a:blip r:embed="rId2"/>
          <a:srcRect l="4037" t="13295" r="4405" b="18675"/>
          <a:stretch>
            <a:fillRect/>
          </a:stretch>
        </p:blipFill>
        <p:spPr>
          <a:xfrm>
            <a:off x="430347" y="5448015"/>
            <a:ext cx="3491534" cy="692872"/>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21933AB1-11A7-9BD1-799F-856C00907A2F}"/>
              </a:ext>
            </a:extLst>
          </p:cNvPr>
          <p:cNvPicPr>
            <a:picLocks noChangeAspect="1"/>
          </p:cNvPicPr>
          <p:nvPr/>
        </p:nvPicPr>
        <p:blipFill>
          <a:blip r:embed="rId3"/>
          <a:srcRect t="74904" r="13384" b="6489"/>
          <a:stretch>
            <a:fillRect/>
          </a:stretch>
        </p:blipFill>
        <p:spPr>
          <a:xfrm>
            <a:off x="5206832" y="5252357"/>
            <a:ext cx="6732104" cy="969006"/>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737D2551-AFF5-B5A1-2D4D-6BF204213E21}"/>
              </a:ext>
            </a:extLst>
          </p:cNvPr>
          <p:cNvPicPr>
            <a:picLocks noChangeAspect="1"/>
          </p:cNvPicPr>
          <p:nvPr/>
        </p:nvPicPr>
        <p:blipFill>
          <a:blip r:embed="rId3"/>
          <a:srcRect t="2281" r="13384" b="67425"/>
          <a:stretch>
            <a:fillRect/>
          </a:stretch>
        </p:blipFill>
        <p:spPr>
          <a:xfrm>
            <a:off x="5312342" y="3549509"/>
            <a:ext cx="6732104" cy="1577572"/>
          </a:xfrm>
          <a:prstGeom prst="rect">
            <a:avLst/>
          </a:prstGeom>
        </p:spPr>
      </p:pic>
      <p:sp>
        <p:nvSpPr>
          <p:cNvPr id="16" name="Rectangle 15">
            <a:extLst>
              <a:ext uri="{FF2B5EF4-FFF2-40B4-BE49-F238E27FC236}">
                <a16:creationId xmlns:a16="http://schemas.microsoft.com/office/drawing/2014/main" id="{FF9CCCB8-7B9D-5A66-119B-F0FEAF4BAF3B}"/>
              </a:ext>
            </a:extLst>
          </p:cNvPr>
          <p:cNvSpPr/>
          <p:nvPr/>
        </p:nvSpPr>
        <p:spPr>
          <a:xfrm>
            <a:off x="5379886" y="5921877"/>
            <a:ext cx="2286000" cy="213360"/>
          </a:xfrm>
          <a:prstGeom prst="rect">
            <a:avLst/>
          </a:prstGeom>
          <a:solidFill>
            <a:srgbClr val="92D050">
              <a:alpha val="50196"/>
            </a:srgbClr>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DA01830-55B4-47F2-3A4B-CD0E5AD07A2F}"/>
              </a:ext>
            </a:extLst>
          </p:cNvPr>
          <p:cNvSpPr txBox="1"/>
          <p:nvPr/>
        </p:nvSpPr>
        <p:spPr>
          <a:xfrm>
            <a:off x="0" y="3999741"/>
            <a:ext cx="4923184" cy="1446550"/>
          </a:xfrm>
          <a:prstGeom prst="rect">
            <a:avLst/>
          </a:prstGeom>
          <a:noFill/>
        </p:spPr>
        <p:txBody>
          <a:bodyPr wrap="square" rtlCol="0">
            <a:spAutoFit/>
          </a:bodyPr>
          <a:lstStyle/>
          <a:p>
            <a:pPr algn="just"/>
            <a:r>
              <a:rPr lang="en-US" sz="2200" dirty="0">
                <a:latin typeface="Arial" panose="020B0604020202020204" pitchFamily="34" charset="0"/>
                <a:cs typeface="Arial" panose="020B0604020202020204" pitchFamily="34" charset="0"/>
              </a:rPr>
              <a:t>filtered out. In addition, the </a:t>
            </a:r>
            <a:r>
              <a:rPr lang="en-US" sz="2200" dirty="0" err="1">
                <a:latin typeface="Arial" panose="020B0604020202020204" pitchFamily="34" charset="0"/>
                <a:cs typeface="Arial" panose="020B0604020202020204" pitchFamily="34" charset="0"/>
              </a:rPr>
              <a:t>Rentrez</a:t>
            </a:r>
            <a:r>
              <a:rPr lang="en-US" sz="2200" dirty="0">
                <a:latin typeface="Arial" panose="020B0604020202020204" pitchFamily="34" charset="0"/>
                <a:cs typeface="Arial" panose="020B0604020202020204" pitchFamily="34" charset="0"/>
              </a:rPr>
              <a:t> R Package was used to interact with the NCBI database to also download nucleotide sequences (Winter, 2017).</a:t>
            </a:r>
          </a:p>
        </p:txBody>
      </p:sp>
    </p:spTree>
    <p:extLst>
      <p:ext uri="{BB962C8B-B14F-4D97-AF65-F5344CB8AC3E}">
        <p14:creationId xmlns:p14="http://schemas.microsoft.com/office/powerpoint/2010/main" val="497552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FDCDD-3E17-3996-B823-6CFBED73AF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955BA-68B4-4973-0CF8-BAC0D694734F}"/>
              </a:ext>
            </a:extLst>
          </p:cNvPr>
          <p:cNvSpPr txBox="1">
            <a:spLocks/>
          </p:cNvSpPr>
          <p:nvPr/>
        </p:nvSpPr>
        <p:spPr>
          <a:xfrm>
            <a:off x="0" y="1"/>
            <a:ext cx="12192000" cy="622570"/>
          </a:xfrm>
          <a:prstGeom prst="rect">
            <a:avLst/>
          </a:prstGeom>
          <a:solidFill>
            <a:schemeClr val="tx2"/>
          </a:solidFill>
        </p:spPr>
        <p:txBody>
          <a:bodyP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chemeClr val="bg1"/>
                </a:solidFill>
                <a:latin typeface="Arial" panose="020B0604020202020204" pitchFamily="34" charset="0"/>
                <a:cs typeface="Arial" panose="020B0604020202020204" pitchFamily="34" charset="0"/>
              </a:rPr>
              <a:t>STEP 2: The dataset includes key properties and sequencing information</a:t>
            </a:r>
          </a:p>
        </p:txBody>
      </p:sp>
      <p:sp>
        <p:nvSpPr>
          <p:cNvPr id="3" name="TextBox 2">
            <a:extLst>
              <a:ext uri="{FF2B5EF4-FFF2-40B4-BE49-F238E27FC236}">
                <a16:creationId xmlns:a16="http://schemas.microsoft.com/office/drawing/2014/main" id="{45C9CB90-FF9E-2DE8-C718-CDEF5E56AC9C}"/>
              </a:ext>
            </a:extLst>
          </p:cNvPr>
          <p:cNvSpPr txBox="1"/>
          <p:nvPr/>
        </p:nvSpPr>
        <p:spPr>
          <a:xfrm>
            <a:off x="-19878" y="622571"/>
            <a:ext cx="12192000" cy="4524315"/>
          </a:xfrm>
          <a:prstGeom prst="rect">
            <a:avLst/>
          </a:prstGeom>
          <a:noFill/>
        </p:spPr>
        <p:txBody>
          <a:bodyPr wrap="square" rtlCol="0">
            <a:spAutoFit/>
          </a:bodyPr>
          <a:lstStyle/>
          <a:p>
            <a:pPr algn="just"/>
            <a:r>
              <a:rPr lang="en-US" sz="2400" dirty="0">
                <a:latin typeface="Arial" panose="020B0604020202020204" pitchFamily="34" charset="0"/>
                <a:cs typeface="Arial" panose="020B0604020202020204" pitchFamily="34" charset="0"/>
              </a:rPr>
              <a:t>Properties of the data from NCBI include metadata such as </a:t>
            </a:r>
            <a:r>
              <a:rPr lang="en-US" sz="2400" dirty="0">
                <a:solidFill>
                  <a:srgbClr val="C00000"/>
                </a:solidFill>
                <a:latin typeface="Arial" panose="020B0604020202020204" pitchFamily="34" charset="0"/>
                <a:cs typeface="Arial" panose="020B0604020202020204" pitchFamily="34" charset="0"/>
              </a:rPr>
              <a:t>the accession number</a:t>
            </a:r>
            <a:r>
              <a:rPr lang="en-US" sz="2400" dirty="0">
                <a:latin typeface="Arial" panose="020B0604020202020204" pitchFamily="34" charset="0"/>
                <a:cs typeface="Arial" panose="020B0604020202020204" pitchFamily="34" charset="0"/>
              </a:rPr>
              <a:t>, </a:t>
            </a:r>
            <a:r>
              <a:rPr lang="en-US" sz="2400" dirty="0">
                <a:solidFill>
                  <a:schemeClr val="accent2"/>
                </a:solidFill>
                <a:latin typeface="Arial" panose="020B0604020202020204" pitchFamily="34" charset="0"/>
                <a:cs typeface="Arial" panose="020B0604020202020204" pitchFamily="34" charset="0"/>
              </a:rPr>
              <a:t>the species name </a:t>
            </a:r>
            <a:r>
              <a:rPr lang="en-US" sz="2400" dirty="0">
                <a:latin typeface="Arial" panose="020B0604020202020204" pitchFamily="34" charset="0"/>
                <a:cs typeface="Arial" panose="020B0604020202020204" pitchFamily="34" charset="0"/>
              </a:rPr>
              <a:t>(useful for grabbing species name for classifier), </a:t>
            </a:r>
            <a:r>
              <a:rPr lang="en-US" sz="2400" dirty="0">
                <a:solidFill>
                  <a:srgbClr val="FFC000"/>
                </a:solidFill>
                <a:latin typeface="Arial" panose="020B0604020202020204" pitchFamily="34" charset="0"/>
                <a:cs typeface="Arial" panose="020B0604020202020204" pitchFamily="34" charset="0"/>
              </a:rPr>
              <a:t>the isolate number</a:t>
            </a:r>
            <a:r>
              <a:rPr lang="en-US" sz="2400" dirty="0">
                <a:latin typeface="Arial" panose="020B0604020202020204" pitchFamily="34" charset="0"/>
                <a:cs typeface="Arial" panose="020B0604020202020204" pitchFamily="34" charset="0"/>
              </a:rPr>
              <a:t>, </a:t>
            </a:r>
            <a:r>
              <a:rPr lang="en-US" sz="2400" dirty="0">
                <a:solidFill>
                  <a:schemeClr val="accent3"/>
                </a:solidFill>
                <a:latin typeface="Arial" panose="020B0604020202020204" pitchFamily="34" charset="0"/>
                <a:cs typeface="Arial" panose="020B0604020202020204" pitchFamily="34" charset="0"/>
              </a:rPr>
              <a:t>the gene/protein name and its full name</a:t>
            </a:r>
            <a:r>
              <a:rPr lang="en-US" sz="2400" dirty="0">
                <a:latin typeface="Arial" panose="020B0604020202020204" pitchFamily="34" charset="0"/>
                <a:cs typeface="Arial" panose="020B0604020202020204" pitchFamily="34" charset="0"/>
              </a:rPr>
              <a:t>, </a:t>
            </a:r>
            <a:r>
              <a:rPr lang="en-US" sz="2400" dirty="0">
                <a:solidFill>
                  <a:srgbClr val="0070C0"/>
                </a:solidFill>
                <a:latin typeface="Arial" panose="020B0604020202020204" pitchFamily="34" charset="0"/>
                <a:cs typeface="Arial" panose="020B0604020202020204" pitchFamily="34" charset="0"/>
              </a:rPr>
              <a:t>its coding DNA sequence (CDS) status </a:t>
            </a:r>
            <a:r>
              <a:rPr lang="en-US" sz="2400" dirty="0">
                <a:latin typeface="Arial" panose="020B0604020202020204" pitchFamily="34" charset="0"/>
                <a:cs typeface="Arial" panose="020B0604020202020204" pitchFamily="34" charset="0"/>
              </a:rPr>
              <a:t>and its </a:t>
            </a:r>
            <a:r>
              <a:rPr lang="en-US" sz="2400" dirty="0">
                <a:solidFill>
                  <a:srgbClr val="7030A0"/>
                </a:solidFill>
                <a:latin typeface="Arial" panose="020B0604020202020204" pitchFamily="34" charset="0"/>
                <a:cs typeface="Arial" panose="020B0604020202020204" pitchFamily="34" charset="0"/>
              </a:rPr>
              <a:t>accompanying nucleotide sequence</a:t>
            </a:r>
            <a:r>
              <a:rPr lang="en-US" sz="2400" dirty="0">
                <a:latin typeface="Arial" panose="020B0604020202020204" pitchFamily="34" charset="0"/>
                <a:cs typeface="Arial" panose="020B0604020202020204" pitchFamily="34" charset="0"/>
              </a:rPr>
              <a:t> in a FASTA file format. See below for an example:</a:t>
            </a:r>
          </a:p>
          <a:p>
            <a:pPr algn="just"/>
            <a:endParaRPr lang="en-US" sz="2400" dirty="0">
              <a:latin typeface="Arial" panose="020B0604020202020204" pitchFamily="34" charset="0"/>
              <a:cs typeface="Arial" panose="020B0604020202020204" pitchFamily="34" charset="0"/>
            </a:endParaRPr>
          </a:p>
          <a:p>
            <a:pPr algn="just"/>
            <a:endParaRPr lang="en-US" sz="2400" dirty="0">
              <a:latin typeface="Arial" panose="020B0604020202020204" pitchFamily="34" charset="0"/>
              <a:cs typeface="Arial" panose="020B0604020202020204" pitchFamily="34" charset="0"/>
            </a:endParaRPr>
          </a:p>
          <a:p>
            <a:pPr algn="just"/>
            <a:endParaRPr lang="en-US" sz="2400" dirty="0">
              <a:latin typeface="Arial" panose="020B0604020202020204" pitchFamily="34" charset="0"/>
              <a:cs typeface="Arial" panose="020B0604020202020204" pitchFamily="34" charset="0"/>
            </a:endParaRPr>
          </a:p>
          <a:p>
            <a:pPr algn="just"/>
            <a:endParaRPr lang="en-US" sz="2400" dirty="0">
              <a:latin typeface="Arial" panose="020B0604020202020204" pitchFamily="34" charset="0"/>
              <a:cs typeface="Arial" panose="020B0604020202020204" pitchFamily="34" charset="0"/>
            </a:endParaRPr>
          </a:p>
          <a:p>
            <a:pPr algn="just"/>
            <a:endParaRPr lang="en-US" sz="2400" dirty="0">
              <a:latin typeface="Arial" panose="020B0604020202020204" pitchFamily="34" charset="0"/>
              <a:cs typeface="Arial" panose="020B0604020202020204" pitchFamily="34" charset="0"/>
            </a:endParaRPr>
          </a:p>
          <a:p>
            <a:pPr algn="just"/>
            <a:endParaRPr lang="en-US" sz="2400" dirty="0">
              <a:latin typeface="Arial" panose="020B0604020202020204" pitchFamily="34" charset="0"/>
              <a:cs typeface="Arial" panose="020B0604020202020204" pitchFamily="34" charset="0"/>
            </a:endParaRPr>
          </a:p>
          <a:p>
            <a:pPr algn="just"/>
            <a:endParaRPr lang="en-US" sz="2400"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These were the number of hits (sample size) for each gene search result with the</a:t>
            </a:r>
          </a:p>
        </p:txBody>
      </p:sp>
      <p:pic>
        <p:nvPicPr>
          <p:cNvPr id="12" name="Picture 11" descr="A screen shot of a computer&#10;&#10;AI-generated content may be incorrect.">
            <a:extLst>
              <a:ext uri="{FF2B5EF4-FFF2-40B4-BE49-F238E27FC236}">
                <a16:creationId xmlns:a16="http://schemas.microsoft.com/office/drawing/2014/main" id="{A39AB75A-191C-ED74-1E5D-634863E52D21}"/>
              </a:ext>
            </a:extLst>
          </p:cNvPr>
          <p:cNvPicPr>
            <a:picLocks noChangeAspect="1"/>
          </p:cNvPicPr>
          <p:nvPr/>
        </p:nvPicPr>
        <p:blipFill>
          <a:blip r:embed="rId2"/>
          <a:srcRect r="3573" b="25774"/>
          <a:stretch>
            <a:fillRect/>
          </a:stretch>
        </p:blipFill>
        <p:spPr>
          <a:xfrm>
            <a:off x="173162" y="2205006"/>
            <a:ext cx="9787062" cy="2323888"/>
          </a:xfrm>
          <a:prstGeom prst="rect">
            <a:avLst/>
          </a:prstGeom>
        </p:spPr>
      </p:pic>
      <p:graphicFrame>
        <p:nvGraphicFramePr>
          <p:cNvPr id="4" name="Table 3">
            <a:extLst>
              <a:ext uri="{FF2B5EF4-FFF2-40B4-BE49-F238E27FC236}">
                <a16:creationId xmlns:a16="http://schemas.microsoft.com/office/drawing/2014/main" id="{5978E149-E742-6A57-5BB8-A9395B5A1870}"/>
              </a:ext>
            </a:extLst>
          </p:cNvPr>
          <p:cNvGraphicFramePr>
            <a:graphicFrameLocks noGrp="1"/>
          </p:cNvGraphicFramePr>
          <p:nvPr>
            <p:extLst>
              <p:ext uri="{D42A27DB-BD31-4B8C-83A1-F6EECF244321}">
                <p14:modId xmlns:p14="http://schemas.microsoft.com/office/powerpoint/2010/main" val="2683553646"/>
              </p:ext>
            </p:extLst>
          </p:nvPr>
        </p:nvGraphicFramePr>
        <p:xfrm>
          <a:off x="6629400" y="5100682"/>
          <a:ext cx="5374198" cy="1706880"/>
        </p:xfrm>
        <a:graphic>
          <a:graphicData uri="http://schemas.openxmlformats.org/drawingml/2006/table">
            <a:tbl>
              <a:tblPr firstRow="1" bandRow="1">
                <a:tableStyleId>{5C22544A-7EE6-4342-B048-85BDC9FD1C3A}</a:tableStyleId>
              </a:tblPr>
              <a:tblGrid>
                <a:gridCol w="2280572">
                  <a:extLst>
                    <a:ext uri="{9D8B030D-6E8A-4147-A177-3AD203B41FA5}">
                      <a16:colId xmlns:a16="http://schemas.microsoft.com/office/drawing/2014/main" val="2305112737"/>
                    </a:ext>
                  </a:extLst>
                </a:gridCol>
                <a:gridCol w="3093626">
                  <a:extLst>
                    <a:ext uri="{9D8B030D-6E8A-4147-A177-3AD203B41FA5}">
                      <a16:colId xmlns:a16="http://schemas.microsoft.com/office/drawing/2014/main" val="713512551"/>
                    </a:ext>
                  </a:extLst>
                </a:gridCol>
              </a:tblGrid>
              <a:tr h="0">
                <a:tc>
                  <a:txBody>
                    <a:bodyPr/>
                    <a:lstStyle/>
                    <a:p>
                      <a:r>
                        <a:rPr lang="en-US" sz="2200" dirty="0">
                          <a:solidFill>
                            <a:schemeClr val="tx1"/>
                          </a:solidFill>
                          <a:latin typeface="Arial" panose="020B0604020202020204" pitchFamily="34" charset="0"/>
                          <a:cs typeface="Arial" panose="020B0604020202020204" pitchFamily="34" charset="0"/>
                        </a:rPr>
                        <a:t>Gene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200" dirty="0">
                          <a:solidFill>
                            <a:schemeClr val="tx1"/>
                          </a:solidFill>
                          <a:latin typeface="Arial" panose="020B0604020202020204" pitchFamily="34" charset="0"/>
                          <a:cs typeface="Arial" panose="020B0604020202020204" pitchFamily="34" charset="0"/>
                        </a:rPr>
                        <a:t>Number of hits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64582671"/>
                  </a:ext>
                </a:extLst>
              </a:tr>
              <a:tr h="321680">
                <a:tc>
                  <a:txBody>
                    <a:bodyPr/>
                    <a:lstStyle/>
                    <a:p>
                      <a:r>
                        <a:rPr lang="en-US" sz="2200" dirty="0" err="1">
                          <a:solidFill>
                            <a:schemeClr val="tx1"/>
                          </a:solidFill>
                          <a:latin typeface="Arial" panose="020B0604020202020204" pitchFamily="34" charset="0"/>
                          <a:cs typeface="Arial" panose="020B0604020202020204" pitchFamily="34" charset="0"/>
                        </a:rPr>
                        <a:t>Cytb</a:t>
                      </a:r>
                      <a:endParaRPr lang="en-US" sz="22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200" dirty="0">
                          <a:solidFill>
                            <a:schemeClr val="tx1"/>
                          </a:solidFill>
                          <a:latin typeface="Arial" panose="020B0604020202020204" pitchFamily="34" charset="0"/>
                          <a:cs typeface="Arial" panose="020B0604020202020204" pitchFamily="34" charset="0"/>
                        </a:rPr>
                        <a:t>740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68868063"/>
                  </a:ext>
                </a:extLst>
              </a:tr>
              <a:tr h="370840">
                <a:tc>
                  <a:txBody>
                    <a:bodyPr/>
                    <a:lstStyle/>
                    <a:p>
                      <a:r>
                        <a:rPr lang="en-US" sz="2200" dirty="0" err="1">
                          <a:solidFill>
                            <a:schemeClr val="tx1"/>
                          </a:solidFill>
                          <a:latin typeface="Arial" panose="020B0604020202020204" pitchFamily="34" charset="0"/>
                          <a:cs typeface="Arial" panose="020B0604020202020204" pitchFamily="34" charset="0"/>
                        </a:rPr>
                        <a:t>Irbp</a:t>
                      </a:r>
                      <a:endParaRPr lang="en-US" sz="220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200" dirty="0">
                          <a:solidFill>
                            <a:schemeClr val="tx1"/>
                          </a:solidFill>
                          <a:latin typeface="Arial" panose="020B0604020202020204" pitchFamily="34" charset="0"/>
                          <a:cs typeface="Arial" panose="020B0604020202020204" pitchFamily="34" charset="0"/>
                        </a:rPr>
                        <a:t>1804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83296699"/>
                  </a:ext>
                </a:extLst>
              </a:tr>
              <a:tr h="370840">
                <a:tc>
                  <a:txBody>
                    <a:bodyPr/>
                    <a:lstStyle/>
                    <a:p>
                      <a:r>
                        <a:rPr lang="en-US" sz="2200" dirty="0">
                          <a:solidFill>
                            <a:schemeClr val="tx1"/>
                          </a:solidFill>
                          <a:latin typeface="Arial" panose="020B0604020202020204" pitchFamily="34" charset="0"/>
                          <a:cs typeface="Arial" panose="020B0604020202020204" pitchFamily="34" charset="0"/>
                        </a:rPr>
                        <a:t>Rag1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200" dirty="0">
                          <a:solidFill>
                            <a:schemeClr val="tx1"/>
                          </a:solidFill>
                          <a:latin typeface="Arial" panose="020B0604020202020204" pitchFamily="34" charset="0"/>
                          <a:cs typeface="Arial" panose="020B0604020202020204" pitchFamily="34" charset="0"/>
                        </a:rPr>
                        <a:t>854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78477620"/>
                  </a:ext>
                </a:extLst>
              </a:tr>
            </a:tbl>
          </a:graphicData>
        </a:graphic>
      </p:graphicFrame>
      <p:sp>
        <p:nvSpPr>
          <p:cNvPr id="5" name="TextBox 4">
            <a:extLst>
              <a:ext uri="{FF2B5EF4-FFF2-40B4-BE49-F238E27FC236}">
                <a16:creationId xmlns:a16="http://schemas.microsoft.com/office/drawing/2014/main" id="{26B0BE17-37C4-0944-F330-71A4A5218115}"/>
              </a:ext>
            </a:extLst>
          </p:cNvPr>
          <p:cNvSpPr txBox="1"/>
          <p:nvPr/>
        </p:nvSpPr>
        <p:spPr>
          <a:xfrm>
            <a:off x="2293" y="5019796"/>
            <a:ext cx="6609522" cy="1569660"/>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following search features in both NCBI and </a:t>
            </a:r>
            <a:r>
              <a:rPr lang="en-US" sz="2400" dirty="0" err="1">
                <a:latin typeface="Arial" panose="020B0604020202020204" pitchFamily="34" charset="0"/>
                <a:cs typeface="Arial" panose="020B0604020202020204" pitchFamily="34" charset="0"/>
              </a:rPr>
              <a:t>Rentrez</a:t>
            </a:r>
            <a:r>
              <a:rPr lang="en-US" sz="2400" dirty="0">
                <a:latin typeface="Arial" panose="020B0604020202020204" pitchFamily="34" charset="0"/>
                <a:cs typeface="Arial" panose="020B0604020202020204" pitchFamily="34" charset="0"/>
              </a:rPr>
              <a:t> searches: </a:t>
            </a:r>
          </a:p>
          <a:p>
            <a:r>
              <a:rPr lang="en-US" sz="2400" dirty="0">
                <a:latin typeface="Arial" panose="020B0604020202020204" pitchFamily="34" charset="0"/>
                <a:cs typeface="Arial" panose="020B0604020202020204" pitchFamily="34" charset="0"/>
              </a:rPr>
              <a:t>Muridae[ORGN] AND </a:t>
            </a:r>
            <a:r>
              <a:rPr lang="en-US" sz="2400" i="1" dirty="0">
                <a:latin typeface="Arial" panose="020B0604020202020204" pitchFamily="34" charset="0"/>
                <a:cs typeface="Arial" panose="020B0604020202020204" pitchFamily="34" charset="0"/>
              </a:rPr>
              <a:t>Gene</a:t>
            </a:r>
            <a:r>
              <a:rPr lang="en-US" sz="2400" dirty="0">
                <a:latin typeface="Arial" panose="020B0604020202020204" pitchFamily="34" charset="0"/>
                <a:cs typeface="Arial" panose="020B0604020202020204" pitchFamily="34" charset="0"/>
              </a:rPr>
              <a:t>[gene] AND</a:t>
            </a:r>
          </a:p>
          <a:p>
            <a:r>
              <a:rPr lang="en-US" sz="2400" dirty="0">
                <a:latin typeface="Arial" panose="020B0604020202020204" pitchFamily="34" charset="0"/>
                <a:cs typeface="Arial" panose="020B0604020202020204" pitchFamily="34" charset="0"/>
              </a:rPr>
              <a:t>1000:1500[SLEN]</a:t>
            </a:r>
          </a:p>
        </p:txBody>
      </p:sp>
      <p:sp>
        <p:nvSpPr>
          <p:cNvPr id="6" name="Rectangle 5">
            <a:extLst>
              <a:ext uri="{FF2B5EF4-FFF2-40B4-BE49-F238E27FC236}">
                <a16:creationId xmlns:a16="http://schemas.microsoft.com/office/drawing/2014/main" id="{4C06B5A2-BF9A-F339-8707-1363486852A0}"/>
              </a:ext>
            </a:extLst>
          </p:cNvPr>
          <p:cNvSpPr/>
          <p:nvPr/>
        </p:nvSpPr>
        <p:spPr>
          <a:xfrm>
            <a:off x="153284" y="2205006"/>
            <a:ext cx="1119931" cy="179379"/>
          </a:xfrm>
          <a:prstGeom prst="rect">
            <a:avLst/>
          </a:prstGeom>
          <a:solidFill>
            <a:srgbClr val="C00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35F12F8-12D0-58A5-5899-E0A73F65E5E6}"/>
              </a:ext>
            </a:extLst>
          </p:cNvPr>
          <p:cNvSpPr/>
          <p:nvPr/>
        </p:nvSpPr>
        <p:spPr>
          <a:xfrm>
            <a:off x="1383929" y="2205006"/>
            <a:ext cx="1370845" cy="179379"/>
          </a:xfrm>
          <a:prstGeom prst="rect">
            <a:avLst/>
          </a:prstGeom>
          <a:solidFill>
            <a:schemeClr val="accent2">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8" name="Rectangle 7">
            <a:extLst>
              <a:ext uri="{FF2B5EF4-FFF2-40B4-BE49-F238E27FC236}">
                <a16:creationId xmlns:a16="http://schemas.microsoft.com/office/drawing/2014/main" id="{2B6A2104-BA43-6281-60AB-0E58E44B7F7D}"/>
              </a:ext>
            </a:extLst>
          </p:cNvPr>
          <p:cNvSpPr/>
          <p:nvPr/>
        </p:nvSpPr>
        <p:spPr>
          <a:xfrm>
            <a:off x="2819672" y="2225247"/>
            <a:ext cx="1289341" cy="179379"/>
          </a:xfrm>
          <a:prstGeom prst="rect">
            <a:avLst/>
          </a:prstGeom>
          <a:solidFill>
            <a:srgbClr val="FFC00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9" name="Rectangle 8">
            <a:extLst>
              <a:ext uri="{FF2B5EF4-FFF2-40B4-BE49-F238E27FC236}">
                <a16:creationId xmlns:a16="http://schemas.microsoft.com/office/drawing/2014/main" id="{5C5034F8-9FB5-A9B2-C1E7-F6D119B567C2}"/>
              </a:ext>
            </a:extLst>
          </p:cNvPr>
          <p:cNvSpPr/>
          <p:nvPr/>
        </p:nvSpPr>
        <p:spPr>
          <a:xfrm>
            <a:off x="4210395" y="2225247"/>
            <a:ext cx="4482192" cy="179379"/>
          </a:xfrm>
          <a:prstGeom prst="rect">
            <a:avLst/>
          </a:prstGeom>
          <a:solidFill>
            <a:schemeClr val="accent3">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0" name="Rectangle 9">
            <a:extLst>
              <a:ext uri="{FF2B5EF4-FFF2-40B4-BE49-F238E27FC236}">
                <a16:creationId xmlns:a16="http://schemas.microsoft.com/office/drawing/2014/main" id="{304F0CC0-C60C-2AB7-1E0E-A8A2A6777F19}"/>
              </a:ext>
            </a:extLst>
          </p:cNvPr>
          <p:cNvSpPr/>
          <p:nvPr/>
        </p:nvSpPr>
        <p:spPr>
          <a:xfrm>
            <a:off x="8793969" y="2219686"/>
            <a:ext cx="1067661" cy="216000"/>
          </a:xfrm>
          <a:prstGeom prst="rect">
            <a:avLst/>
          </a:prstGeom>
          <a:solidFill>
            <a:srgbClr val="0070C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1" name="Rectangle 10">
            <a:extLst>
              <a:ext uri="{FF2B5EF4-FFF2-40B4-BE49-F238E27FC236}">
                <a16:creationId xmlns:a16="http://schemas.microsoft.com/office/drawing/2014/main" id="{9D419A3A-94D6-0C5A-7F6D-1C65B7266C02}"/>
              </a:ext>
            </a:extLst>
          </p:cNvPr>
          <p:cNvSpPr/>
          <p:nvPr/>
        </p:nvSpPr>
        <p:spPr>
          <a:xfrm>
            <a:off x="173162" y="2435686"/>
            <a:ext cx="6875820" cy="2113449"/>
          </a:xfrm>
          <a:prstGeom prst="rect">
            <a:avLst/>
          </a:prstGeom>
          <a:solidFill>
            <a:srgbClr val="7030A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Tree>
    <p:extLst>
      <p:ext uri="{BB962C8B-B14F-4D97-AF65-F5344CB8AC3E}">
        <p14:creationId xmlns:p14="http://schemas.microsoft.com/office/powerpoint/2010/main" val="4139945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64A94B-AE6C-1804-EE2A-8925010F5915}"/>
              </a:ext>
            </a:extLst>
          </p:cNvPr>
          <p:cNvSpPr txBox="1"/>
          <p:nvPr/>
        </p:nvSpPr>
        <p:spPr>
          <a:xfrm>
            <a:off x="-14990" y="-14990"/>
            <a:ext cx="12240000" cy="553998"/>
          </a:xfrm>
          <a:prstGeom prst="rect">
            <a:avLst/>
          </a:prstGeom>
          <a:solidFill>
            <a:schemeClr val="tx2"/>
          </a:solidFill>
        </p:spPr>
        <p:txBody>
          <a:bodyPr wrap="square" rtlCol="0">
            <a:spAutoFit/>
          </a:bodyPr>
          <a:lstStyle/>
          <a:p>
            <a:r>
              <a:rPr lang="en-US" sz="3000" b="1" dirty="0" err="1">
                <a:solidFill>
                  <a:schemeClr val="bg1"/>
                </a:solidFill>
              </a:rPr>
              <a:t>Kmer</a:t>
            </a:r>
            <a:r>
              <a:rPr lang="en-US" sz="3000" b="1" dirty="0">
                <a:solidFill>
                  <a:schemeClr val="bg1"/>
                </a:solidFill>
              </a:rPr>
              <a:t> contributions for RF classifier differs for all 3 genes</a:t>
            </a:r>
          </a:p>
        </p:txBody>
      </p:sp>
      <p:pic>
        <p:nvPicPr>
          <p:cNvPr id="9" name="Picture 8" descr="A chart of a number of different colored squares&#10;&#10;AI-generated content may be incorrect.">
            <a:extLst>
              <a:ext uri="{FF2B5EF4-FFF2-40B4-BE49-F238E27FC236}">
                <a16:creationId xmlns:a16="http://schemas.microsoft.com/office/drawing/2014/main" id="{703EAD8A-EF1E-8D7C-F569-49ED90FA3205}"/>
              </a:ext>
            </a:extLst>
          </p:cNvPr>
          <p:cNvPicPr>
            <a:picLocks noChangeAspect="1"/>
          </p:cNvPicPr>
          <p:nvPr/>
        </p:nvPicPr>
        <p:blipFill>
          <a:blip r:embed="rId2"/>
          <a:srcRect/>
          <a:stretch>
            <a:fillRect/>
          </a:stretch>
        </p:blipFill>
        <p:spPr>
          <a:xfrm>
            <a:off x="2487161" y="539008"/>
            <a:ext cx="7217678" cy="6339615"/>
          </a:xfrm>
          <a:prstGeom prst="rect">
            <a:avLst/>
          </a:prstGeom>
        </p:spPr>
      </p:pic>
    </p:spTree>
    <p:extLst>
      <p:ext uri="{BB962C8B-B14F-4D97-AF65-F5344CB8AC3E}">
        <p14:creationId xmlns:p14="http://schemas.microsoft.com/office/powerpoint/2010/main" val="3822937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2D3D96-499B-8046-AD70-C382CE5F9680}"/>
              </a:ext>
            </a:extLst>
          </p:cNvPr>
          <p:cNvSpPr txBox="1"/>
          <p:nvPr/>
        </p:nvSpPr>
        <p:spPr>
          <a:xfrm>
            <a:off x="-14990" y="-14990"/>
            <a:ext cx="12240000" cy="553998"/>
          </a:xfrm>
          <a:prstGeom prst="rect">
            <a:avLst/>
          </a:prstGeom>
          <a:solidFill>
            <a:schemeClr val="tx2"/>
          </a:solidFill>
        </p:spPr>
        <p:txBody>
          <a:bodyPr wrap="square" rtlCol="0">
            <a:spAutoFit/>
          </a:bodyPr>
          <a:lstStyle/>
          <a:p>
            <a:r>
              <a:rPr lang="en-US" sz="3000" b="1" dirty="0" err="1">
                <a:solidFill>
                  <a:schemeClr val="bg1"/>
                </a:solidFill>
              </a:rPr>
              <a:t>Kmer</a:t>
            </a:r>
            <a:r>
              <a:rPr lang="en-US" sz="3000" b="1" dirty="0">
                <a:solidFill>
                  <a:schemeClr val="bg1"/>
                </a:solidFill>
              </a:rPr>
              <a:t> contributions for RF classifier differs for all 3 genes</a:t>
            </a:r>
          </a:p>
        </p:txBody>
      </p:sp>
      <p:sp>
        <p:nvSpPr>
          <p:cNvPr id="3" name="TextBox 2">
            <a:extLst>
              <a:ext uri="{FF2B5EF4-FFF2-40B4-BE49-F238E27FC236}">
                <a16:creationId xmlns:a16="http://schemas.microsoft.com/office/drawing/2014/main" id="{20832050-6EDF-4353-48A8-ABB837F0A74F}"/>
              </a:ext>
            </a:extLst>
          </p:cNvPr>
          <p:cNvSpPr txBox="1"/>
          <p:nvPr/>
        </p:nvSpPr>
        <p:spPr>
          <a:xfrm>
            <a:off x="-14989" y="555633"/>
            <a:ext cx="12240000" cy="5632311"/>
          </a:xfrm>
          <a:prstGeom prst="rect">
            <a:avLst/>
          </a:prstGeom>
          <a:noFill/>
        </p:spPr>
        <p:txBody>
          <a:bodyPr wrap="square" rtlCol="0">
            <a:spAutoFit/>
          </a:bodyPr>
          <a:lstStyle/>
          <a:p>
            <a:pPr algn="just"/>
            <a:r>
              <a:rPr lang="en-US" sz="2400" dirty="0">
                <a:latin typeface="Arial" panose="020B0604020202020204" pitchFamily="34" charset="0"/>
                <a:cs typeface="Arial" panose="020B0604020202020204" pitchFamily="34" charset="0"/>
              </a:rPr>
              <a:t>From the heatmap before, the proportions of k-</a:t>
            </a:r>
            <a:r>
              <a:rPr lang="en-US" sz="2400" dirty="0" err="1">
                <a:latin typeface="Arial" panose="020B0604020202020204" pitchFamily="34" charset="0"/>
                <a:cs typeface="Arial" panose="020B0604020202020204" pitchFamily="34" charset="0"/>
              </a:rPr>
              <a:t>mer</a:t>
            </a:r>
            <a:r>
              <a:rPr lang="en-US" sz="2400" dirty="0">
                <a:latin typeface="Arial" panose="020B0604020202020204" pitchFamily="34" charset="0"/>
                <a:cs typeface="Arial" panose="020B0604020202020204" pitchFamily="34" charset="0"/>
              </a:rPr>
              <a:t> contributions during the training classification for each gene differs. Specifically, some notable observations include:</a:t>
            </a:r>
          </a:p>
          <a:p>
            <a:pPr marL="342900" indent="-342900" algn="just">
              <a:buFont typeface="Arial" panose="020B0604020202020204" pitchFamily="34" charset="0"/>
              <a:buChar char="•"/>
            </a:pPr>
            <a:r>
              <a:rPr lang="en-US" sz="2400" i="1" dirty="0">
                <a:latin typeface="Arial" panose="020B0604020202020204" pitchFamily="34" charset="0"/>
                <a:cs typeface="Arial" panose="020B0604020202020204" pitchFamily="34" charset="0"/>
              </a:rPr>
              <a:t>Rag1 </a:t>
            </a:r>
            <a:r>
              <a:rPr lang="en-US" sz="2400" dirty="0">
                <a:latin typeface="Arial" panose="020B0604020202020204" pitchFamily="34" charset="0"/>
                <a:cs typeface="Arial" panose="020B0604020202020204" pitchFamily="34" charset="0"/>
              </a:rPr>
              <a:t>has all k-</a:t>
            </a:r>
            <a:r>
              <a:rPr lang="en-US" sz="2400" dirty="0" err="1">
                <a:latin typeface="Arial" panose="020B0604020202020204" pitchFamily="34" charset="0"/>
                <a:cs typeface="Arial" panose="020B0604020202020204" pitchFamily="34" charset="0"/>
              </a:rPr>
              <a:t>mers</a:t>
            </a:r>
            <a:r>
              <a:rPr lang="en-US" sz="2400" dirty="0">
                <a:latin typeface="Arial" panose="020B0604020202020204" pitchFamily="34" charset="0"/>
                <a:cs typeface="Arial" panose="020B0604020202020204" pitchFamily="34" charset="0"/>
              </a:rPr>
              <a:t> of varying frequency values contribute to the training except for </a:t>
            </a:r>
            <a:r>
              <a:rPr lang="en-US" sz="2400" b="1" dirty="0">
                <a:solidFill>
                  <a:srgbClr val="00B050"/>
                </a:solidFill>
                <a:latin typeface="Arial" panose="020B0604020202020204" pitchFamily="34" charset="0"/>
                <a:cs typeface="Arial" panose="020B0604020202020204" pitchFamily="34" charset="0"/>
              </a:rPr>
              <a:t>C</a:t>
            </a:r>
            <a:r>
              <a:rPr lang="en-US" sz="2400" b="1" dirty="0">
                <a:solidFill>
                  <a:srgbClr val="FFC000"/>
                </a:solidFill>
                <a:latin typeface="Arial" panose="020B0604020202020204" pitchFamily="34" charset="0"/>
                <a:cs typeface="Arial" panose="020B0604020202020204" pitchFamily="34" charset="0"/>
              </a:rPr>
              <a:t>G</a:t>
            </a:r>
            <a:r>
              <a:rPr lang="en-US" sz="2400" dirty="0">
                <a:latin typeface="Arial" panose="020B0604020202020204" pitchFamily="34" charset="0"/>
                <a:cs typeface="Arial" panose="020B0604020202020204" pitchFamily="34" charset="0"/>
              </a:rPr>
              <a:t> and </a:t>
            </a:r>
            <a:r>
              <a:rPr lang="en-US" sz="2400" b="1" dirty="0">
                <a:solidFill>
                  <a:srgbClr val="0070C0"/>
                </a:solidFill>
                <a:latin typeface="Arial" panose="020B0604020202020204" pitchFamily="34" charset="0"/>
                <a:cs typeface="Arial" panose="020B0604020202020204" pitchFamily="34" charset="0"/>
              </a:rPr>
              <a:t>T</a:t>
            </a:r>
            <a:r>
              <a:rPr lang="en-US" sz="2400" b="1" dirty="0">
                <a:solidFill>
                  <a:srgbClr val="7030A0"/>
                </a:solidFill>
                <a:latin typeface="Arial" panose="020B0604020202020204" pitchFamily="34" charset="0"/>
                <a:cs typeface="Arial" panose="020B0604020202020204" pitchFamily="34" charset="0"/>
              </a:rPr>
              <a:t>A</a:t>
            </a:r>
            <a:r>
              <a:rPr lang="en-US" sz="2400" dirty="0">
                <a:latin typeface="Arial" panose="020B0604020202020204" pitchFamily="34" charset="0"/>
                <a:cs typeface="Arial" panose="020B0604020202020204" pitchFamily="34" charset="0"/>
              </a:rPr>
              <a:t> where has low expression</a:t>
            </a:r>
          </a:p>
          <a:p>
            <a:pPr marL="342900" indent="-342900" algn="just">
              <a:buFont typeface="Arial" panose="020B0604020202020204" pitchFamily="34" charset="0"/>
              <a:buChar char="•"/>
            </a:pPr>
            <a:r>
              <a:rPr lang="en-US" sz="2400" i="1" dirty="0" err="1">
                <a:latin typeface="Arial" panose="020B0604020202020204" pitchFamily="34" charset="0"/>
                <a:cs typeface="Arial" panose="020B0604020202020204" pitchFamily="34" charset="0"/>
              </a:rPr>
              <a:t>Irbp</a:t>
            </a:r>
            <a:r>
              <a:rPr lang="en-US" sz="2400" dirty="0">
                <a:latin typeface="Arial" panose="020B0604020202020204" pitchFamily="34" charset="0"/>
                <a:cs typeface="Arial" panose="020B0604020202020204" pitchFamily="34" charset="0"/>
              </a:rPr>
              <a:t> has a greater frequency of </a:t>
            </a:r>
            <a:r>
              <a:rPr lang="en-US" sz="2400" b="1" dirty="0">
                <a:solidFill>
                  <a:srgbClr val="00B050"/>
                </a:solidFill>
                <a:latin typeface="Arial" panose="020B0604020202020204" pitchFamily="34" charset="0"/>
                <a:cs typeface="Arial" panose="020B0604020202020204" pitchFamily="34" charset="0"/>
              </a:rPr>
              <a:t>CC</a:t>
            </a:r>
            <a:r>
              <a:rPr lang="en-US" sz="2400" dirty="0">
                <a:latin typeface="Arial" panose="020B0604020202020204" pitchFamily="34" charset="0"/>
                <a:cs typeface="Arial" panose="020B0604020202020204" pitchFamily="34" charset="0"/>
              </a:rPr>
              <a:t>,</a:t>
            </a:r>
            <a:r>
              <a:rPr lang="en-US" sz="2400" dirty="0">
                <a:solidFill>
                  <a:srgbClr val="00B050"/>
                </a:solidFill>
                <a:latin typeface="Arial" panose="020B0604020202020204" pitchFamily="34" charset="0"/>
                <a:cs typeface="Arial" panose="020B0604020202020204" pitchFamily="34" charset="0"/>
              </a:rPr>
              <a:t> </a:t>
            </a:r>
            <a:r>
              <a:rPr lang="en-US" sz="2400" b="1" dirty="0">
                <a:solidFill>
                  <a:srgbClr val="00B050"/>
                </a:solidFill>
                <a:latin typeface="Arial" panose="020B0604020202020204" pitchFamily="34" charset="0"/>
                <a:cs typeface="Arial" panose="020B0604020202020204" pitchFamily="34" charset="0"/>
              </a:rPr>
              <a:t>C</a:t>
            </a:r>
            <a:r>
              <a:rPr lang="en-US" sz="2400" b="1" dirty="0">
                <a:solidFill>
                  <a:srgbClr val="0070C0"/>
                </a:solidFill>
                <a:latin typeface="Arial" panose="020B0604020202020204" pitchFamily="34" charset="0"/>
                <a:cs typeface="Arial" panose="020B0604020202020204" pitchFamily="34" charset="0"/>
              </a:rPr>
              <a:t>T</a:t>
            </a:r>
            <a:r>
              <a:rPr lang="en-US" sz="2400" dirty="0">
                <a:latin typeface="Arial" panose="020B0604020202020204" pitchFamily="34" charset="0"/>
                <a:cs typeface="Arial" panose="020B0604020202020204" pitchFamily="34" charset="0"/>
              </a:rPr>
              <a:t>,</a:t>
            </a:r>
            <a:r>
              <a:rPr lang="en-US" sz="2400" b="1" dirty="0">
                <a:solidFill>
                  <a:srgbClr val="0070C0"/>
                </a:solidFill>
                <a:latin typeface="Arial" panose="020B0604020202020204" pitchFamily="34" charset="0"/>
                <a:cs typeface="Arial" panose="020B0604020202020204" pitchFamily="34" charset="0"/>
              </a:rPr>
              <a:t> </a:t>
            </a:r>
            <a:r>
              <a:rPr lang="en-US" sz="2400" b="1" dirty="0">
                <a:solidFill>
                  <a:srgbClr val="FFC000"/>
                </a:solidFill>
                <a:latin typeface="Arial" panose="020B0604020202020204" pitchFamily="34" charset="0"/>
                <a:cs typeface="Arial" panose="020B0604020202020204" pitchFamily="34" charset="0"/>
              </a:rPr>
              <a:t>GG</a:t>
            </a:r>
            <a:r>
              <a:rPr lang="en-US" sz="2400" dirty="0">
                <a:latin typeface="Arial" panose="020B0604020202020204" pitchFamily="34" charset="0"/>
                <a:cs typeface="Arial" panose="020B0604020202020204" pitchFamily="34" charset="0"/>
              </a:rPr>
              <a:t> , and </a:t>
            </a:r>
            <a:r>
              <a:rPr lang="en-US" sz="2400" b="1" dirty="0">
                <a:solidFill>
                  <a:srgbClr val="0070C0"/>
                </a:solidFill>
                <a:latin typeface="Arial" panose="020B0604020202020204" pitchFamily="34" charset="0"/>
                <a:cs typeface="Arial" panose="020B0604020202020204" pitchFamily="34" charset="0"/>
              </a:rPr>
              <a:t>T</a:t>
            </a:r>
            <a:r>
              <a:rPr lang="en-US" sz="2400" b="1" dirty="0">
                <a:solidFill>
                  <a:srgbClr val="FFC000"/>
                </a:solidFill>
                <a:latin typeface="Arial" panose="020B0604020202020204" pitchFamily="34" charset="0"/>
                <a:cs typeface="Arial" panose="020B0604020202020204" pitchFamily="34" charset="0"/>
              </a:rPr>
              <a:t>G</a:t>
            </a:r>
            <a:r>
              <a:rPr lang="en-US" sz="2400" dirty="0">
                <a:latin typeface="Arial" panose="020B0604020202020204" pitchFamily="34" charset="0"/>
                <a:cs typeface="Arial" panose="020B0604020202020204" pitchFamily="34" charset="0"/>
              </a:rPr>
              <a:t> k-</a:t>
            </a:r>
            <a:r>
              <a:rPr lang="en-US" sz="2400" dirty="0" err="1">
                <a:latin typeface="Arial" panose="020B0604020202020204" pitchFamily="34" charset="0"/>
                <a:cs typeface="Arial" panose="020B0604020202020204" pitchFamily="34" charset="0"/>
              </a:rPr>
              <a:t>mers</a:t>
            </a:r>
            <a:r>
              <a:rPr lang="en-US" sz="2400" dirty="0">
                <a:latin typeface="Arial" panose="020B0604020202020204" pitchFamily="34" charset="0"/>
                <a:cs typeface="Arial" panose="020B0604020202020204" pitchFamily="34" charset="0"/>
              </a:rPr>
              <a:t> than </a:t>
            </a:r>
            <a:r>
              <a:rPr lang="en-US" sz="2400" i="1" dirty="0">
                <a:latin typeface="Arial" panose="020B0604020202020204" pitchFamily="34" charset="0"/>
                <a:cs typeface="Arial" panose="020B0604020202020204" pitchFamily="34" charset="0"/>
              </a:rPr>
              <a:t>Rag1</a:t>
            </a:r>
            <a:r>
              <a:rPr lang="en-US" sz="2400" dirty="0">
                <a:latin typeface="Arial" panose="020B0604020202020204" pitchFamily="34" charset="0"/>
                <a:cs typeface="Arial" panose="020B0604020202020204" pitchFamily="34" charset="0"/>
              </a:rPr>
              <a:t> and </a:t>
            </a:r>
            <a:r>
              <a:rPr lang="en-US" sz="2400" i="1" dirty="0" err="1">
                <a:latin typeface="Arial" panose="020B0604020202020204" pitchFamily="34" charset="0"/>
                <a:cs typeface="Arial" panose="020B0604020202020204" pitchFamily="34" charset="0"/>
              </a:rPr>
              <a:t>Cytb</a:t>
            </a:r>
            <a:r>
              <a:rPr lang="en-US" sz="2400" dirty="0">
                <a:latin typeface="Arial" panose="020B0604020202020204" pitchFamily="34" charset="0"/>
                <a:cs typeface="Arial" panose="020B0604020202020204" pitchFamily="34" charset="0"/>
              </a:rPr>
              <a:t>.</a:t>
            </a:r>
          </a:p>
          <a:p>
            <a:pPr marL="342900" indent="-342900" algn="just">
              <a:buFont typeface="Arial" panose="020B0604020202020204" pitchFamily="34" charset="0"/>
              <a:buChar char="•"/>
            </a:pPr>
            <a:r>
              <a:rPr lang="en-US" sz="2400" i="1" dirty="0" err="1">
                <a:latin typeface="Arial" panose="020B0604020202020204" pitchFamily="34" charset="0"/>
                <a:cs typeface="Arial" panose="020B0604020202020204" pitchFamily="34" charset="0"/>
              </a:rPr>
              <a:t>Cytb</a:t>
            </a:r>
            <a:r>
              <a:rPr lang="en-US" sz="2400" dirty="0">
                <a:latin typeface="Arial" panose="020B0604020202020204" pitchFamily="34" charset="0"/>
                <a:cs typeface="Arial" panose="020B0604020202020204" pitchFamily="34" charset="0"/>
              </a:rPr>
              <a:t> gene has a higher proportion of </a:t>
            </a:r>
            <a:r>
              <a:rPr lang="en-US" sz="2400" b="1" dirty="0">
                <a:solidFill>
                  <a:schemeClr val="accent5"/>
                </a:solidFill>
                <a:latin typeface="Arial" panose="020B0604020202020204" pitchFamily="34" charset="0"/>
                <a:cs typeface="Arial" panose="020B0604020202020204" pitchFamily="34" charset="0"/>
              </a:rPr>
              <a:t>AA</a:t>
            </a:r>
            <a:r>
              <a:rPr lang="en-US" sz="2400" dirty="0">
                <a:latin typeface="Arial" panose="020B0604020202020204" pitchFamily="34" charset="0"/>
                <a:cs typeface="Arial" panose="020B0604020202020204" pitchFamily="34" charset="0"/>
              </a:rPr>
              <a:t>, </a:t>
            </a:r>
            <a:r>
              <a:rPr lang="en-US" sz="2400" b="1" dirty="0">
                <a:solidFill>
                  <a:schemeClr val="accent5"/>
                </a:solidFill>
                <a:latin typeface="Arial" panose="020B0604020202020204" pitchFamily="34" charset="0"/>
                <a:cs typeface="Arial" panose="020B0604020202020204" pitchFamily="34" charset="0"/>
              </a:rPr>
              <a:t>A</a:t>
            </a:r>
            <a:r>
              <a:rPr lang="en-US" sz="2400" b="1" dirty="0">
                <a:solidFill>
                  <a:srgbClr val="0070C0"/>
                </a:solidFill>
                <a:latin typeface="Arial" panose="020B0604020202020204" pitchFamily="34" charset="0"/>
                <a:cs typeface="Arial" panose="020B0604020202020204" pitchFamily="34" charset="0"/>
              </a:rPr>
              <a:t>T</a:t>
            </a:r>
            <a:r>
              <a:rPr lang="en-US" sz="2400" dirty="0">
                <a:latin typeface="Arial" panose="020B0604020202020204" pitchFamily="34" charset="0"/>
                <a:cs typeface="Arial" panose="020B0604020202020204" pitchFamily="34" charset="0"/>
              </a:rPr>
              <a:t>,</a:t>
            </a:r>
            <a:r>
              <a:rPr lang="en-US" sz="2400" b="1" dirty="0">
                <a:solidFill>
                  <a:srgbClr val="0070C0"/>
                </a:solidFill>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and </a:t>
            </a:r>
            <a:r>
              <a:rPr lang="en-US" sz="2400" b="1" dirty="0">
                <a:solidFill>
                  <a:srgbClr val="0070C0"/>
                </a:solidFill>
                <a:latin typeface="Arial" panose="020B0604020202020204" pitchFamily="34" charset="0"/>
                <a:cs typeface="Arial" panose="020B0604020202020204" pitchFamily="34" charset="0"/>
              </a:rPr>
              <a:t>T</a:t>
            </a:r>
            <a:r>
              <a:rPr lang="en-US" sz="2400" b="1" dirty="0">
                <a:solidFill>
                  <a:schemeClr val="accent5"/>
                </a:solidFill>
                <a:latin typeface="Arial" panose="020B0604020202020204" pitchFamily="34" charset="0"/>
                <a:cs typeface="Arial" panose="020B0604020202020204" pitchFamily="34" charset="0"/>
              </a:rPr>
              <a:t>A</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kmer</a:t>
            </a:r>
            <a:r>
              <a:rPr lang="en-US" sz="2400" dirty="0">
                <a:latin typeface="Arial" panose="020B0604020202020204" pitchFamily="34" charset="0"/>
                <a:cs typeface="Arial" panose="020B0604020202020204" pitchFamily="34" charset="0"/>
              </a:rPr>
              <a:t> contributions than the proportions in </a:t>
            </a:r>
            <a:r>
              <a:rPr lang="en-US" sz="2400" i="1" dirty="0">
                <a:latin typeface="Arial" panose="020B0604020202020204" pitchFamily="34" charset="0"/>
                <a:cs typeface="Arial" panose="020B0604020202020204" pitchFamily="34" charset="0"/>
              </a:rPr>
              <a:t>Rag1</a:t>
            </a:r>
            <a:r>
              <a:rPr lang="en-US" sz="2400" dirty="0">
                <a:latin typeface="Arial" panose="020B0604020202020204" pitchFamily="34" charset="0"/>
                <a:cs typeface="Arial" panose="020B0604020202020204" pitchFamily="34" charset="0"/>
              </a:rPr>
              <a:t> and </a:t>
            </a:r>
            <a:r>
              <a:rPr lang="en-US" sz="2400" i="1" dirty="0" err="1">
                <a:latin typeface="Arial" panose="020B0604020202020204" pitchFamily="34" charset="0"/>
                <a:cs typeface="Arial" panose="020B0604020202020204" pitchFamily="34" charset="0"/>
              </a:rPr>
              <a:t>Irbp</a:t>
            </a:r>
            <a:r>
              <a:rPr lang="en-US" sz="2400" dirty="0">
                <a:latin typeface="Arial" panose="020B0604020202020204" pitchFamily="34" charset="0"/>
                <a:cs typeface="Arial" panose="020B0604020202020204" pitchFamily="34" charset="0"/>
              </a:rPr>
              <a:t>.</a:t>
            </a:r>
          </a:p>
          <a:p>
            <a:pPr marL="342900" indent="-342900" algn="just">
              <a:buFont typeface="Arial" panose="020B0604020202020204" pitchFamily="34" charset="0"/>
              <a:buChar char="•"/>
            </a:pPr>
            <a:r>
              <a:rPr lang="en-US" sz="2400" b="1" dirty="0">
                <a:solidFill>
                  <a:srgbClr val="00B050"/>
                </a:solidFill>
                <a:latin typeface="Arial" panose="020B0604020202020204" pitchFamily="34" charset="0"/>
                <a:cs typeface="Arial" panose="020B0604020202020204" pitchFamily="34" charset="0"/>
              </a:rPr>
              <a:t>C</a:t>
            </a:r>
            <a:r>
              <a:rPr lang="en-US" sz="2400" b="1" dirty="0">
                <a:solidFill>
                  <a:srgbClr val="FFC000"/>
                </a:solidFill>
                <a:latin typeface="Arial" panose="020B0604020202020204" pitchFamily="34" charset="0"/>
                <a:cs typeface="Arial" panose="020B0604020202020204" pitchFamily="34" charset="0"/>
              </a:rPr>
              <a:t>G </a:t>
            </a:r>
            <a:r>
              <a:rPr lang="en-US" sz="2400" dirty="0">
                <a:latin typeface="Arial" panose="020B0604020202020204" pitchFamily="34" charset="0"/>
                <a:cs typeface="Arial" panose="020B0604020202020204" pitchFamily="34" charset="0"/>
              </a:rPr>
              <a:t>k-</a:t>
            </a:r>
            <a:r>
              <a:rPr lang="en-US" sz="2400" dirty="0" err="1">
                <a:latin typeface="Arial" panose="020B0604020202020204" pitchFamily="34" charset="0"/>
                <a:cs typeface="Arial" panose="020B0604020202020204" pitchFamily="34" charset="0"/>
              </a:rPr>
              <a:t>mer</a:t>
            </a:r>
            <a:r>
              <a:rPr lang="en-US" sz="2400" dirty="0">
                <a:latin typeface="Arial" panose="020B0604020202020204" pitchFamily="34" charset="0"/>
                <a:cs typeface="Arial" panose="020B0604020202020204" pitchFamily="34" charset="0"/>
              </a:rPr>
              <a:t> contributed very little to all 3 genes for the classifier. This suggests that this may be a key feature that distinguishes the </a:t>
            </a:r>
            <a:r>
              <a:rPr lang="en-US" sz="2400" i="1" dirty="0">
                <a:latin typeface="Arial" panose="020B0604020202020204" pitchFamily="34" charset="0"/>
                <a:cs typeface="Arial" panose="020B0604020202020204" pitchFamily="34" charset="0"/>
              </a:rPr>
              <a:t>Muridae</a:t>
            </a:r>
            <a:r>
              <a:rPr lang="en-US" sz="2400" dirty="0">
                <a:latin typeface="Arial" panose="020B0604020202020204" pitchFamily="34" charset="0"/>
                <a:cs typeface="Arial" panose="020B0604020202020204" pitchFamily="34" charset="0"/>
              </a:rPr>
              <a:t> taxon from other </a:t>
            </a:r>
            <a:r>
              <a:rPr lang="en-US" sz="2400" dirty="0" err="1">
                <a:latin typeface="Arial" panose="020B0604020202020204" pitchFamily="34" charset="0"/>
                <a:cs typeface="Arial" panose="020B0604020202020204" pitchFamily="34" charset="0"/>
              </a:rPr>
              <a:t>taxons</a:t>
            </a:r>
            <a:r>
              <a:rPr lang="en-US" sz="2400" dirty="0">
                <a:latin typeface="Arial" panose="020B0604020202020204" pitchFamily="34" charset="0"/>
                <a:cs typeface="Arial" panose="020B0604020202020204" pitchFamily="34" charset="0"/>
              </a:rPr>
              <a:t>. </a:t>
            </a:r>
          </a:p>
          <a:p>
            <a:pPr marL="342900" indent="-342900" algn="just">
              <a:buFont typeface="Arial" panose="020B0604020202020204" pitchFamily="34" charset="0"/>
              <a:buChar char="•"/>
            </a:pPr>
            <a:endParaRPr lang="en-US" sz="2400"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This result suggest that each gene has different k-</a:t>
            </a:r>
            <a:r>
              <a:rPr lang="en-US" sz="2400" dirty="0" err="1">
                <a:latin typeface="Arial" panose="020B0604020202020204" pitchFamily="34" charset="0"/>
                <a:cs typeface="Arial" panose="020B0604020202020204" pitchFamily="34" charset="0"/>
              </a:rPr>
              <a:t>mer</a:t>
            </a:r>
            <a:r>
              <a:rPr lang="en-US" sz="2400" dirty="0">
                <a:latin typeface="Arial" panose="020B0604020202020204" pitchFamily="34" charset="0"/>
                <a:cs typeface="Arial" panose="020B0604020202020204" pitchFamily="34" charset="0"/>
              </a:rPr>
              <a:t> contributions and are different enough from each other for the RF machine learning model to classify each gene. This figure accomplished the first objective where machine learning (RF) was successfully applied for gene classifiers. The results were to be expected since each gene differs in their sequence composition.</a:t>
            </a:r>
          </a:p>
        </p:txBody>
      </p:sp>
    </p:spTree>
    <p:extLst>
      <p:ext uri="{BB962C8B-B14F-4D97-AF65-F5344CB8AC3E}">
        <p14:creationId xmlns:p14="http://schemas.microsoft.com/office/powerpoint/2010/main" val="366678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7EF4978-475E-C1A2-1DD2-045D59C3E7C1}"/>
              </a:ext>
            </a:extLst>
          </p:cNvPr>
          <p:cNvSpPr txBox="1"/>
          <p:nvPr/>
        </p:nvSpPr>
        <p:spPr>
          <a:xfrm>
            <a:off x="-14990" y="-14990"/>
            <a:ext cx="12206990" cy="523220"/>
          </a:xfrm>
          <a:prstGeom prst="rect">
            <a:avLst/>
          </a:prstGeom>
          <a:solidFill>
            <a:schemeClr val="tx2"/>
          </a:solidFill>
        </p:spPr>
        <p:txBody>
          <a:bodyPr wrap="square" rtlCol="0">
            <a:spAutoFit/>
          </a:bodyPr>
          <a:lstStyle/>
          <a:p>
            <a:r>
              <a:rPr lang="en-US" sz="2800" b="1" dirty="0">
                <a:solidFill>
                  <a:schemeClr val="bg1"/>
                </a:solidFill>
                <a:latin typeface="Arial" panose="020B0604020202020204" pitchFamily="34" charset="0"/>
                <a:cs typeface="Arial" panose="020B0604020202020204" pitchFamily="34" charset="0"/>
              </a:rPr>
              <a:t>ROC curves reveals perfect RF classifier for all 3 genes</a:t>
            </a:r>
          </a:p>
        </p:txBody>
      </p:sp>
      <p:pic>
        <p:nvPicPr>
          <p:cNvPr id="5" name="Picture 4" descr="A graph of a graph&#10;&#10;AI-generated content may be incorrect.">
            <a:extLst>
              <a:ext uri="{FF2B5EF4-FFF2-40B4-BE49-F238E27FC236}">
                <a16:creationId xmlns:a16="http://schemas.microsoft.com/office/drawing/2014/main" id="{1F23E49C-13F5-D5BD-B3E5-611CCAC7B0A1}"/>
              </a:ext>
            </a:extLst>
          </p:cNvPr>
          <p:cNvPicPr>
            <a:picLocks noChangeAspect="1"/>
          </p:cNvPicPr>
          <p:nvPr/>
        </p:nvPicPr>
        <p:blipFill>
          <a:blip r:embed="rId2"/>
          <a:srcRect l="545" r="1598"/>
          <a:stretch>
            <a:fillRect/>
          </a:stretch>
        </p:blipFill>
        <p:spPr>
          <a:xfrm>
            <a:off x="0" y="1410442"/>
            <a:ext cx="12214025" cy="4392000"/>
          </a:xfrm>
          <a:prstGeom prst="rect">
            <a:avLst/>
          </a:prstGeom>
        </p:spPr>
      </p:pic>
    </p:spTree>
    <p:extLst>
      <p:ext uri="{BB962C8B-B14F-4D97-AF65-F5344CB8AC3E}">
        <p14:creationId xmlns:p14="http://schemas.microsoft.com/office/powerpoint/2010/main" val="3599251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530057-6ED7-8AA9-1246-802C2F41D64B}"/>
              </a:ext>
            </a:extLst>
          </p:cNvPr>
          <p:cNvSpPr txBox="1"/>
          <p:nvPr/>
        </p:nvSpPr>
        <p:spPr>
          <a:xfrm>
            <a:off x="-14990" y="508230"/>
            <a:ext cx="12206990" cy="4693593"/>
          </a:xfrm>
          <a:prstGeom prst="rect">
            <a:avLst/>
          </a:prstGeom>
          <a:noFill/>
        </p:spPr>
        <p:txBody>
          <a:bodyPr wrap="square">
            <a:spAutoFit/>
          </a:bodyPr>
          <a:lstStyle/>
          <a:p>
            <a:pPr algn="just"/>
            <a:r>
              <a:rPr lang="en-US" sz="2300" dirty="0">
                <a:latin typeface="Arial" panose="020B0604020202020204" pitchFamily="34" charset="0"/>
                <a:cs typeface="Arial" panose="020B0604020202020204" pitchFamily="34" charset="0"/>
              </a:rPr>
              <a:t>The receiving operator characteristics (ROC) curve can indicate performance on a machine learning model. The steep rise on the left side for each plot indicate that the model rarely makes false positives and indicate a perfect classifier for all 3 genes: </a:t>
            </a:r>
            <a:r>
              <a:rPr lang="en-US" sz="2300" i="1" dirty="0" err="1">
                <a:latin typeface="Arial" panose="020B0604020202020204" pitchFamily="34" charset="0"/>
                <a:cs typeface="Arial" panose="020B0604020202020204" pitchFamily="34" charset="0"/>
              </a:rPr>
              <a:t>Cytb</a:t>
            </a:r>
            <a:r>
              <a:rPr lang="en-US" sz="2300" dirty="0">
                <a:latin typeface="Arial" panose="020B0604020202020204" pitchFamily="34" charset="0"/>
                <a:cs typeface="Arial" panose="020B0604020202020204" pitchFamily="34" charset="0"/>
              </a:rPr>
              <a:t>, </a:t>
            </a:r>
            <a:r>
              <a:rPr lang="en-US" sz="2300" i="1" dirty="0" err="1">
                <a:latin typeface="Arial" panose="020B0604020202020204" pitchFamily="34" charset="0"/>
                <a:cs typeface="Arial" panose="020B0604020202020204" pitchFamily="34" charset="0"/>
              </a:rPr>
              <a:t>Irbp</a:t>
            </a:r>
            <a:r>
              <a:rPr lang="en-US" sz="2300" dirty="0">
                <a:latin typeface="Arial" panose="020B0604020202020204" pitchFamily="34" charset="0"/>
                <a:cs typeface="Arial" panose="020B0604020202020204" pitchFamily="34" charset="0"/>
              </a:rPr>
              <a:t>, and </a:t>
            </a:r>
            <a:r>
              <a:rPr lang="en-US" sz="2300" i="1" dirty="0">
                <a:latin typeface="Arial" panose="020B0604020202020204" pitchFamily="34" charset="0"/>
                <a:cs typeface="Arial" panose="020B0604020202020204" pitchFamily="34" charset="0"/>
              </a:rPr>
              <a:t>Rag1</a:t>
            </a:r>
            <a:r>
              <a:rPr lang="en-US" sz="2300" dirty="0">
                <a:latin typeface="Arial" panose="020B0604020202020204" pitchFamily="34" charset="0"/>
                <a:cs typeface="Arial" panose="020B0604020202020204" pitchFamily="34" charset="0"/>
              </a:rPr>
              <a:t>. Confusion matrix was also calculated on </a:t>
            </a:r>
            <a:r>
              <a:rPr lang="en-US" sz="2300" dirty="0" err="1">
                <a:latin typeface="Arial" panose="020B0604020202020204" pitchFamily="34" charset="0"/>
                <a:cs typeface="Arial" panose="020B0604020202020204" pitchFamily="34" charset="0"/>
              </a:rPr>
              <a:t>Rstudio</a:t>
            </a:r>
            <a:r>
              <a:rPr lang="en-US" sz="2300" dirty="0">
                <a:latin typeface="Arial" panose="020B0604020202020204" pitchFamily="34" charset="0"/>
                <a:cs typeface="Arial" panose="020B0604020202020204" pitchFamily="34" charset="0"/>
              </a:rPr>
              <a:t> and indicated an accuracy of 1 (not shown here). </a:t>
            </a:r>
          </a:p>
          <a:p>
            <a:pPr algn="just"/>
            <a:endParaRPr lang="en-US" sz="2300" dirty="0">
              <a:latin typeface="Arial" panose="020B0604020202020204" pitchFamily="34" charset="0"/>
              <a:cs typeface="Arial" panose="020B0604020202020204" pitchFamily="34" charset="0"/>
            </a:endParaRPr>
          </a:p>
          <a:p>
            <a:pPr algn="just"/>
            <a:r>
              <a:rPr lang="en-US" sz="2300" dirty="0">
                <a:latin typeface="Arial" panose="020B0604020202020204" pitchFamily="34" charset="0"/>
                <a:cs typeface="Arial" panose="020B0604020202020204" pitchFamily="34" charset="0"/>
              </a:rPr>
              <a:t>This suggests that </a:t>
            </a:r>
            <a:r>
              <a:rPr lang="en-CA" sz="2300" dirty="0">
                <a:latin typeface="Arial" panose="020B0604020202020204" pitchFamily="34" charset="0"/>
                <a:cs typeface="Arial" panose="020B0604020202020204" pitchFamily="34" charset="0"/>
              </a:rPr>
              <a:t>the classifier can classify gene classes with extremely high specificity, even on unseen data. In fact, the k-</a:t>
            </a:r>
            <a:r>
              <a:rPr lang="en-CA" sz="2300" dirty="0" err="1">
                <a:latin typeface="Arial" panose="020B0604020202020204" pitchFamily="34" charset="0"/>
                <a:cs typeface="Arial" panose="020B0604020202020204" pitchFamily="34" charset="0"/>
              </a:rPr>
              <a:t>mer</a:t>
            </a:r>
            <a:r>
              <a:rPr lang="en-CA" sz="2300" dirty="0">
                <a:latin typeface="Arial" panose="020B0604020202020204" pitchFamily="34" charset="0"/>
                <a:cs typeface="Arial" panose="020B0604020202020204" pitchFamily="34" charset="0"/>
              </a:rPr>
              <a:t> gene classification for </a:t>
            </a:r>
            <a:r>
              <a:rPr lang="en-CA" sz="2300" i="1" dirty="0">
                <a:latin typeface="Arial" panose="020B0604020202020204" pitchFamily="34" charset="0"/>
                <a:cs typeface="Arial" panose="020B0604020202020204" pitchFamily="34" charset="0"/>
              </a:rPr>
              <a:t>Muridae</a:t>
            </a:r>
            <a:r>
              <a:rPr lang="en-CA" sz="2300" dirty="0">
                <a:latin typeface="Arial" panose="020B0604020202020204" pitchFamily="34" charset="0"/>
                <a:cs typeface="Arial" panose="020B0604020202020204" pitchFamily="34" charset="0"/>
              </a:rPr>
              <a:t> was able to separate each gene, indicating that the RF is a strong classifier for the gene classification task.</a:t>
            </a:r>
          </a:p>
          <a:p>
            <a:pPr algn="just"/>
            <a:endParaRPr lang="en-CA" sz="2300" dirty="0">
              <a:latin typeface="Arial" panose="020B0604020202020204" pitchFamily="34" charset="0"/>
              <a:cs typeface="Arial" panose="020B0604020202020204" pitchFamily="34" charset="0"/>
            </a:endParaRPr>
          </a:p>
          <a:p>
            <a:pPr algn="just"/>
            <a:r>
              <a:rPr lang="en-CA" sz="2300" dirty="0">
                <a:latin typeface="Arial" panose="020B0604020202020204" pitchFamily="34" charset="0"/>
                <a:cs typeface="Arial" panose="020B0604020202020204" pitchFamily="34" charset="0"/>
              </a:rPr>
              <a:t>This figure supports the main hypothesis where</a:t>
            </a:r>
            <a:r>
              <a:rPr lang="en-US" sz="2300" dirty="0">
                <a:latin typeface="Arial" panose="020B0604020202020204" pitchFamily="34" charset="0"/>
                <a:cs typeface="Arial" panose="020B0604020202020204" pitchFamily="34" charset="0"/>
              </a:rPr>
              <a:t> features such as dinucleotide k-</a:t>
            </a:r>
            <a:r>
              <a:rPr lang="en-US" sz="2300" dirty="0" err="1">
                <a:latin typeface="Arial" panose="020B0604020202020204" pitchFamily="34" charset="0"/>
                <a:cs typeface="Arial" panose="020B0604020202020204" pitchFamily="34" charset="0"/>
              </a:rPr>
              <a:t>mers</a:t>
            </a:r>
            <a:r>
              <a:rPr lang="en-US" sz="2300" dirty="0">
                <a:latin typeface="Arial" panose="020B0604020202020204" pitchFamily="34" charset="0"/>
                <a:cs typeface="Arial" panose="020B0604020202020204" pitchFamily="34" charset="0"/>
              </a:rPr>
              <a:t> in machine learning algorithms can accurately train and detect different gene sequences and </a:t>
            </a:r>
            <a:r>
              <a:rPr lang="en-US" sz="2300" i="1" dirty="0">
                <a:latin typeface="Arial" panose="020B0604020202020204" pitchFamily="34" charset="0"/>
                <a:cs typeface="Arial" panose="020B0604020202020204" pitchFamily="34" charset="0"/>
              </a:rPr>
              <a:t>Muridae</a:t>
            </a:r>
            <a:r>
              <a:rPr lang="en-US" sz="2300" dirty="0">
                <a:latin typeface="Arial" panose="020B0604020202020204" pitchFamily="34" charset="0"/>
                <a:cs typeface="Arial" panose="020B0604020202020204" pitchFamily="34" charset="0"/>
              </a:rPr>
              <a:t> species.</a:t>
            </a:r>
          </a:p>
        </p:txBody>
      </p:sp>
      <p:sp>
        <p:nvSpPr>
          <p:cNvPr id="4" name="TextBox 3">
            <a:extLst>
              <a:ext uri="{FF2B5EF4-FFF2-40B4-BE49-F238E27FC236}">
                <a16:creationId xmlns:a16="http://schemas.microsoft.com/office/drawing/2014/main" id="{86640ECD-ACE7-E309-88A7-339EB0E09466}"/>
              </a:ext>
            </a:extLst>
          </p:cNvPr>
          <p:cNvSpPr txBox="1"/>
          <p:nvPr/>
        </p:nvSpPr>
        <p:spPr>
          <a:xfrm>
            <a:off x="-14990" y="-14990"/>
            <a:ext cx="12206990" cy="523220"/>
          </a:xfrm>
          <a:prstGeom prst="rect">
            <a:avLst/>
          </a:prstGeom>
          <a:solidFill>
            <a:schemeClr val="tx2"/>
          </a:solidFill>
        </p:spPr>
        <p:txBody>
          <a:bodyPr wrap="square" rtlCol="0">
            <a:spAutoFit/>
          </a:bodyPr>
          <a:lstStyle/>
          <a:p>
            <a:r>
              <a:rPr lang="en-US" sz="2800" b="1" dirty="0">
                <a:solidFill>
                  <a:schemeClr val="bg1"/>
                </a:solidFill>
                <a:latin typeface="Arial" panose="020B0604020202020204" pitchFamily="34" charset="0"/>
                <a:cs typeface="Arial" panose="020B0604020202020204" pitchFamily="34" charset="0"/>
              </a:rPr>
              <a:t>ROC curves reveals perfect RF classifier for all 3 genes</a:t>
            </a:r>
          </a:p>
        </p:txBody>
      </p:sp>
    </p:spTree>
    <p:extLst>
      <p:ext uri="{BB962C8B-B14F-4D97-AF65-F5344CB8AC3E}">
        <p14:creationId xmlns:p14="http://schemas.microsoft.com/office/powerpoint/2010/main" val="1540768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with a line&#10;&#10;AI-generated content may be incorrect.">
            <a:extLst>
              <a:ext uri="{FF2B5EF4-FFF2-40B4-BE49-F238E27FC236}">
                <a16:creationId xmlns:a16="http://schemas.microsoft.com/office/drawing/2014/main" id="{1FF9DBAD-A951-446C-9AB1-F5BCFA95146F}"/>
              </a:ext>
            </a:extLst>
          </p:cNvPr>
          <p:cNvPicPr>
            <a:picLocks noChangeAspect="1"/>
          </p:cNvPicPr>
          <p:nvPr/>
        </p:nvPicPr>
        <p:blipFill>
          <a:blip r:embed="rId2"/>
          <a:stretch>
            <a:fillRect/>
          </a:stretch>
        </p:blipFill>
        <p:spPr>
          <a:xfrm>
            <a:off x="1743892" y="796895"/>
            <a:ext cx="8689225" cy="5905455"/>
          </a:xfrm>
          <a:prstGeom prst="rect">
            <a:avLst/>
          </a:prstGeom>
        </p:spPr>
      </p:pic>
      <p:sp>
        <p:nvSpPr>
          <p:cNvPr id="6" name="TextBox 5">
            <a:extLst>
              <a:ext uri="{FF2B5EF4-FFF2-40B4-BE49-F238E27FC236}">
                <a16:creationId xmlns:a16="http://schemas.microsoft.com/office/drawing/2014/main" id="{1686344A-920F-924F-EE73-05B35A00D5C8}"/>
              </a:ext>
            </a:extLst>
          </p:cNvPr>
          <p:cNvSpPr txBox="1"/>
          <p:nvPr/>
        </p:nvSpPr>
        <p:spPr>
          <a:xfrm>
            <a:off x="-14990" y="-14990"/>
            <a:ext cx="12240000" cy="553998"/>
          </a:xfrm>
          <a:prstGeom prst="rect">
            <a:avLst/>
          </a:prstGeom>
          <a:solidFill>
            <a:schemeClr val="tx2"/>
          </a:solidFill>
        </p:spPr>
        <p:txBody>
          <a:bodyPr wrap="square" rtlCol="0">
            <a:spAutoFit/>
          </a:bodyPr>
          <a:lstStyle/>
          <a:p>
            <a:r>
              <a:rPr lang="en-US" sz="3000" b="1" dirty="0">
                <a:solidFill>
                  <a:schemeClr val="bg1"/>
                </a:solidFill>
              </a:rPr>
              <a:t>Accuracy increases as number of components increases in PLS</a:t>
            </a:r>
          </a:p>
        </p:txBody>
      </p:sp>
    </p:spTree>
    <p:extLst>
      <p:ext uri="{BB962C8B-B14F-4D97-AF65-F5344CB8AC3E}">
        <p14:creationId xmlns:p14="http://schemas.microsoft.com/office/powerpoint/2010/main" val="2888017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EFD250C-EBAF-7E8B-D762-7D182CCF1FE3}"/>
              </a:ext>
            </a:extLst>
          </p:cNvPr>
          <p:cNvSpPr txBox="1"/>
          <p:nvPr/>
        </p:nvSpPr>
        <p:spPr>
          <a:xfrm>
            <a:off x="-30213" y="-19525"/>
            <a:ext cx="12239999" cy="1015663"/>
          </a:xfrm>
          <a:prstGeom prst="rect">
            <a:avLst/>
          </a:prstGeom>
          <a:solidFill>
            <a:schemeClr val="tx2"/>
          </a:solidFill>
        </p:spPr>
        <p:txBody>
          <a:bodyPr wrap="square">
            <a:spAutoFit/>
          </a:bodyPr>
          <a:lstStyle/>
          <a:p>
            <a:r>
              <a:rPr lang="en-US" sz="3000" b="1" dirty="0">
                <a:solidFill>
                  <a:schemeClr val="bg1"/>
                </a:solidFill>
              </a:rPr>
              <a:t>K-</a:t>
            </a:r>
            <a:r>
              <a:rPr lang="en-US" sz="3000" b="1" dirty="0" err="1">
                <a:solidFill>
                  <a:schemeClr val="bg1"/>
                </a:solidFill>
              </a:rPr>
              <a:t>mers</a:t>
            </a:r>
            <a:r>
              <a:rPr lang="en-US" sz="3000" b="1" dirty="0">
                <a:solidFill>
                  <a:schemeClr val="bg1"/>
                </a:solidFill>
              </a:rPr>
              <a:t> contributions differs for each gene of the PLS classifier during training</a:t>
            </a:r>
          </a:p>
        </p:txBody>
      </p:sp>
      <p:pic>
        <p:nvPicPr>
          <p:cNvPr id="9" name="Picture 8" descr="A graph with blue dots and white text&#10;&#10;AI-generated content may be incorrect.">
            <a:extLst>
              <a:ext uri="{FF2B5EF4-FFF2-40B4-BE49-F238E27FC236}">
                <a16:creationId xmlns:a16="http://schemas.microsoft.com/office/drawing/2014/main" id="{23A244C8-8EEC-11F6-87C9-91E34A5C8D1C}"/>
              </a:ext>
            </a:extLst>
          </p:cNvPr>
          <p:cNvPicPr>
            <a:picLocks noChangeAspect="1"/>
          </p:cNvPicPr>
          <p:nvPr/>
        </p:nvPicPr>
        <p:blipFill>
          <a:blip r:embed="rId2"/>
          <a:srcRect b="3219"/>
          <a:stretch>
            <a:fillRect/>
          </a:stretch>
        </p:blipFill>
        <p:spPr>
          <a:xfrm>
            <a:off x="66603" y="996138"/>
            <a:ext cx="12046365" cy="5883900"/>
          </a:xfrm>
          <a:prstGeom prst="rect">
            <a:avLst/>
          </a:prstGeom>
        </p:spPr>
      </p:pic>
    </p:spTree>
    <p:extLst>
      <p:ext uri="{BB962C8B-B14F-4D97-AF65-F5344CB8AC3E}">
        <p14:creationId xmlns:p14="http://schemas.microsoft.com/office/powerpoint/2010/main" val="1391739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E7022B-4631-934E-B0BB-8733AFD27EAB}"/>
              </a:ext>
            </a:extLst>
          </p:cNvPr>
          <p:cNvSpPr txBox="1"/>
          <p:nvPr/>
        </p:nvSpPr>
        <p:spPr>
          <a:xfrm>
            <a:off x="-14990" y="-14990"/>
            <a:ext cx="12240000" cy="553998"/>
          </a:xfrm>
          <a:prstGeom prst="rect">
            <a:avLst/>
          </a:prstGeom>
          <a:solidFill>
            <a:schemeClr val="tx2"/>
          </a:solidFill>
        </p:spPr>
        <p:txBody>
          <a:bodyPr wrap="square" rtlCol="0">
            <a:spAutoFit/>
          </a:bodyPr>
          <a:lstStyle/>
          <a:p>
            <a:r>
              <a:rPr lang="en-CA" sz="3000" b="1" noProof="0" dirty="0">
                <a:solidFill>
                  <a:schemeClr val="bg1"/>
                </a:solidFill>
              </a:rPr>
              <a:t>PLS and its classification on </a:t>
            </a:r>
            <a:r>
              <a:rPr lang="en-CA" sz="3000" b="1" i="1" noProof="0" dirty="0">
                <a:solidFill>
                  <a:schemeClr val="bg1"/>
                </a:solidFill>
              </a:rPr>
              <a:t>Muridae</a:t>
            </a:r>
            <a:r>
              <a:rPr lang="en-CA" sz="3000" b="1" noProof="0" dirty="0">
                <a:solidFill>
                  <a:schemeClr val="bg1"/>
                </a:solidFill>
              </a:rPr>
              <a:t> gene</a:t>
            </a:r>
          </a:p>
        </p:txBody>
      </p:sp>
      <p:sp>
        <p:nvSpPr>
          <p:cNvPr id="3" name="TextBox 2">
            <a:extLst>
              <a:ext uri="{FF2B5EF4-FFF2-40B4-BE49-F238E27FC236}">
                <a16:creationId xmlns:a16="http://schemas.microsoft.com/office/drawing/2014/main" id="{22753F02-EFF0-D6D5-0449-869ECCB22547}"/>
              </a:ext>
            </a:extLst>
          </p:cNvPr>
          <p:cNvSpPr txBox="1"/>
          <p:nvPr/>
        </p:nvSpPr>
        <p:spPr>
          <a:xfrm>
            <a:off x="-14989" y="555633"/>
            <a:ext cx="12240000" cy="6109365"/>
          </a:xfrm>
          <a:prstGeom prst="rect">
            <a:avLst/>
          </a:prstGeom>
          <a:noFill/>
        </p:spPr>
        <p:txBody>
          <a:bodyPr wrap="square" rtlCol="0">
            <a:spAutoFit/>
          </a:bodyPr>
          <a:lstStyle/>
          <a:p>
            <a:pPr algn="just"/>
            <a:r>
              <a:rPr lang="en-US" sz="2300" dirty="0">
                <a:latin typeface="Arial" panose="020B0604020202020204" pitchFamily="34" charset="0"/>
                <a:cs typeface="Arial" panose="020B0604020202020204" pitchFamily="34" charset="0"/>
              </a:rPr>
              <a:t>From the previous figures, the accuracy of gene classifiers increased as the number of components increased, up to a maximum accuracy of 1.0 at 2 components and plateaus.</a:t>
            </a:r>
          </a:p>
          <a:p>
            <a:pPr algn="just"/>
            <a:endParaRPr lang="en-US" sz="2300" dirty="0">
              <a:latin typeface="Arial" panose="020B0604020202020204" pitchFamily="34" charset="0"/>
              <a:cs typeface="Arial" panose="020B0604020202020204" pitchFamily="34" charset="0"/>
            </a:endParaRPr>
          </a:p>
          <a:p>
            <a:pPr algn="just"/>
            <a:r>
              <a:rPr lang="en-US" sz="2300" dirty="0">
                <a:latin typeface="Arial" panose="020B0604020202020204" pitchFamily="34" charset="0"/>
                <a:cs typeface="Arial" panose="020B0604020202020204" pitchFamily="34" charset="0"/>
              </a:rPr>
              <a:t>In addition, the proportions of k-</a:t>
            </a:r>
            <a:r>
              <a:rPr lang="en-US" sz="2300" dirty="0" err="1">
                <a:latin typeface="Arial" panose="020B0604020202020204" pitchFamily="34" charset="0"/>
                <a:cs typeface="Arial" panose="020B0604020202020204" pitchFamily="34" charset="0"/>
              </a:rPr>
              <a:t>mer</a:t>
            </a:r>
            <a:r>
              <a:rPr lang="en-US" sz="2300" dirty="0">
                <a:latin typeface="Arial" panose="020B0604020202020204" pitchFamily="34" charset="0"/>
                <a:cs typeface="Arial" panose="020B0604020202020204" pitchFamily="34" charset="0"/>
              </a:rPr>
              <a:t> contributions during the training classification for each gene differs. Specifically, some observations include:</a:t>
            </a:r>
          </a:p>
          <a:p>
            <a:pPr marL="342900" indent="-342900" algn="just">
              <a:buFont typeface="Arial" panose="020B0604020202020204" pitchFamily="34" charset="0"/>
              <a:buChar char="•"/>
            </a:pPr>
            <a:r>
              <a:rPr lang="en-US" sz="2300" i="1" dirty="0" err="1">
                <a:latin typeface="Arial" panose="020B0604020202020204" pitchFamily="34" charset="0"/>
                <a:cs typeface="Arial" panose="020B0604020202020204" pitchFamily="34" charset="0"/>
              </a:rPr>
              <a:t>Cytb</a:t>
            </a:r>
            <a:r>
              <a:rPr lang="en-US" sz="2300" dirty="0">
                <a:latin typeface="Arial" panose="020B0604020202020204" pitchFamily="34" charset="0"/>
                <a:cs typeface="Arial" panose="020B0604020202020204" pitchFamily="34" charset="0"/>
              </a:rPr>
              <a:t> gene has equal importance of k-</a:t>
            </a:r>
            <a:r>
              <a:rPr lang="en-US" sz="2300" dirty="0" err="1">
                <a:latin typeface="Arial" panose="020B0604020202020204" pitchFamily="34" charset="0"/>
                <a:cs typeface="Arial" panose="020B0604020202020204" pitchFamily="34" charset="0"/>
              </a:rPr>
              <a:t>mer</a:t>
            </a:r>
            <a:r>
              <a:rPr lang="en-US" sz="2300" dirty="0">
                <a:latin typeface="Arial" panose="020B0604020202020204" pitchFamily="34" charset="0"/>
                <a:cs typeface="Arial" panose="020B0604020202020204" pitchFamily="34" charset="0"/>
              </a:rPr>
              <a:t> contribution but is low for </a:t>
            </a:r>
            <a:r>
              <a:rPr lang="en-US" sz="2300" b="1" dirty="0">
                <a:solidFill>
                  <a:srgbClr val="00B050"/>
                </a:solidFill>
                <a:latin typeface="Arial" panose="020B0604020202020204" pitchFamily="34" charset="0"/>
                <a:cs typeface="Arial" panose="020B0604020202020204" pitchFamily="34" charset="0"/>
              </a:rPr>
              <a:t>C</a:t>
            </a:r>
            <a:r>
              <a:rPr lang="en-US" sz="2300" b="1" dirty="0">
                <a:solidFill>
                  <a:srgbClr val="0070C0"/>
                </a:solidFill>
                <a:latin typeface="Arial" panose="020B0604020202020204" pitchFamily="34" charset="0"/>
                <a:cs typeface="Arial" panose="020B0604020202020204" pitchFamily="34" charset="0"/>
              </a:rPr>
              <a:t>T</a:t>
            </a:r>
            <a:r>
              <a:rPr lang="en-US" sz="2300" dirty="0">
                <a:latin typeface="Arial" panose="020B0604020202020204" pitchFamily="34" charset="0"/>
                <a:cs typeface="Arial" panose="020B0604020202020204" pitchFamily="34" charset="0"/>
              </a:rPr>
              <a:t>,</a:t>
            </a:r>
            <a:r>
              <a:rPr lang="en-US" sz="2300" b="1" dirty="0">
                <a:solidFill>
                  <a:srgbClr val="0070C0"/>
                </a:solidFill>
                <a:latin typeface="Arial" panose="020B0604020202020204" pitchFamily="34" charset="0"/>
                <a:cs typeface="Arial" panose="020B0604020202020204" pitchFamily="34" charset="0"/>
              </a:rPr>
              <a:t> </a:t>
            </a:r>
            <a:r>
              <a:rPr lang="en-US" sz="2300" dirty="0">
                <a:latin typeface="Arial" panose="020B0604020202020204" pitchFamily="34" charset="0"/>
                <a:cs typeface="Arial" panose="020B0604020202020204" pitchFamily="34" charset="0"/>
              </a:rPr>
              <a:t>results are not consistent RF model</a:t>
            </a:r>
          </a:p>
          <a:p>
            <a:pPr marL="342900" indent="-342900" algn="just">
              <a:buFont typeface="Arial" panose="020B0604020202020204" pitchFamily="34" charset="0"/>
              <a:buChar char="•"/>
            </a:pPr>
            <a:r>
              <a:rPr lang="en-US" sz="2300" i="1" dirty="0" err="1">
                <a:latin typeface="Arial" panose="020B0604020202020204" pitchFamily="34" charset="0"/>
                <a:cs typeface="Arial" panose="020B0604020202020204" pitchFamily="34" charset="0"/>
              </a:rPr>
              <a:t>Irbp</a:t>
            </a:r>
            <a:r>
              <a:rPr lang="en-US" sz="2300" i="1" dirty="0">
                <a:latin typeface="Arial" panose="020B0604020202020204" pitchFamily="34" charset="0"/>
                <a:cs typeface="Arial" panose="020B0604020202020204" pitchFamily="34" charset="0"/>
              </a:rPr>
              <a:t> </a:t>
            </a:r>
            <a:r>
              <a:rPr lang="en-US" sz="2300" dirty="0">
                <a:latin typeface="Arial" panose="020B0604020202020204" pitchFamily="34" charset="0"/>
                <a:cs typeface="Arial" panose="020B0604020202020204" pitchFamily="34" charset="0"/>
              </a:rPr>
              <a:t>has a wide variety of k-</a:t>
            </a:r>
            <a:r>
              <a:rPr lang="en-US" sz="2300" dirty="0" err="1">
                <a:latin typeface="Arial" panose="020B0604020202020204" pitchFamily="34" charset="0"/>
                <a:cs typeface="Arial" panose="020B0604020202020204" pitchFamily="34" charset="0"/>
              </a:rPr>
              <a:t>mer</a:t>
            </a:r>
            <a:r>
              <a:rPr lang="en-US" sz="2300" dirty="0">
                <a:latin typeface="Arial" panose="020B0604020202020204" pitchFamily="34" charset="0"/>
                <a:cs typeface="Arial" panose="020B0604020202020204" pitchFamily="34" charset="0"/>
              </a:rPr>
              <a:t> contributing to the training model, with the </a:t>
            </a:r>
            <a:r>
              <a:rPr lang="en-US" sz="2300" b="1" dirty="0">
                <a:solidFill>
                  <a:srgbClr val="00B050"/>
                </a:solidFill>
                <a:latin typeface="Arial" panose="020B0604020202020204" pitchFamily="34" charset="0"/>
                <a:cs typeface="Arial" panose="020B0604020202020204" pitchFamily="34" charset="0"/>
              </a:rPr>
              <a:t>CC</a:t>
            </a:r>
            <a:r>
              <a:rPr lang="en-US" sz="2300" dirty="0">
                <a:latin typeface="Arial" panose="020B0604020202020204" pitchFamily="34" charset="0"/>
                <a:cs typeface="Arial" panose="020B0604020202020204" pitchFamily="34" charset="0"/>
              </a:rPr>
              <a:t> k-</a:t>
            </a:r>
            <a:r>
              <a:rPr lang="en-US" sz="2300" dirty="0" err="1">
                <a:latin typeface="Arial" panose="020B0604020202020204" pitchFamily="34" charset="0"/>
                <a:cs typeface="Arial" panose="020B0604020202020204" pitchFamily="34" charset="0"/>
              </a:rPr>
              <a:t>mer</a:t>
            </a:r>
            <a:r>
              <a:rPr lang="en-US" sz="2300" dirty="0">
                <a:latin typeface="Arial" panose="020B0604020202020204" pitchFamily="34" charset="0"/>
                <a:cs typeface="Arial" panose="020B0604020202020204" pitchFamily="34" charset="0"/>
              </a:rPr>
              <a:t> contributing the most(</a:t>
            </a:r>
            <a:r>
              <a:rPr lang="en-US" sz="2300" b="1" dirty="0">
                <a:solidFill>
                  <a:srgbClr val="00B050"/>
                </a:solidFill>
                <a:latin typeface="Arial" panose="020B0604020202020204" pitchFamily="34" charset="0"/>
                <a:cs typeface="Arial" panose="020B0604020202020204" pitchFamily="34" charset="0"/>
              </a:rPr>
              <a:t>CC</a:t>
            </a:r>
            <a:r>
              <a:rPr lang="en-US" sz="2300" dirty="0">
                <a:latin typeface="Arial" panose="020B0604020202020204" pitchFamily="34" charset="0"/>
                <a:cs typeface="Arial" panose="020B0604020202020204" pitchFamily="34" charset="0"/>
              </a:rPr>
              <a:t> k-</a:t>
            </a:r>
            <a:r>
              <a:rPr lang="en-US" sz="2300" dirty="0" err="1">
                <a:latin typeface="Arial" panose="020B0604020202020204" pitchFamily="34" charset="0"/>
                <a:cs typeface="Arial" panose="020B0604020202020204" pitchFamily="34" charset="0"/>
              </a:rPr>
              <a:t>mer</a:t>
            </a:r>
            <a:r>
              <a:rPr lang="en-US" sz="2300" dirty="0">
                <a:latin typeface="Arial" panose="020B0604020202020204" pitchFamily="34" charset="0"/>
                <a:cs typeface="Arial" panose="020B0604020202020204" pitchFamily="34" charset="0"/>
              </a:rPr>
              <a:t> consistent with the RF model)</a:t>
            </a:r>
          </a:p>
          <a:p>
            <a:pPr marL="342900" indent="-342900" algn="just">
              <a:buFont typeface="Arial" panose="020B0604020202020204" pitchFamily="34" charset="0"/>
              <a:buChar char="•"/>
            </a:pPr>
            <a:r>
              <a:rPr lang="en-US" sz="2300" i="1" dirty="0">
                <a:latin typeface="Arial" panose="020B0604020202020204" pitchFamily="34" charset="0"/>
                <a:cs typeface="Arial" panose="020B0604020202020204" pitchFamily="34" charset="0"/>
              </a:rPr>
              <a:t>Rag1</a:t>
            </a:r>
            <a:r>
              <a:rPr lang="en-US" sz="2300" dirty="0">
                <a:latin typeface="Arial" panose="020B0604020202020204" pitchFamily="34" charset="0"/>
                <a:cs typeface="Arial" panose="020B0604020202020204" pitchFamily="34" charset="0"/>
              </a:rPr>
              <a:t> shows more distinct contributions, with </a:t>
            </a:r>
            <a:r>
              <a:rPr lang="en-US" sz="2300" b="1" dirty="0">
                <a:solidFill>
                  <a:srgbClr val="00B050"/>
                </a:solidFill>
                <a:latin typeface="Arial" panose="020B0604020202020204" pitchFamily="34" charset="0"/>
                <a:cs typeface="Arial" panose="020B0604020202020204" pitchFamily="34" charset="0"/>
              </a:rPr>
              <a:t>C</a:t>
            </a:r>
            <a:r>
              <a:rPr lang="en-US" sz="2300" b="1" dirty="0">
                <a:solidFill>
                  <a:srgbClr val="0070C0"/>
                </a:solidFill>
                <a:latin typeface="Arial" panose="020B0604020202020204" pitchFamily="34" charset="0"/>
                <a:cs typeface="Arial" panose="020B0604020202020204" pitchFamily="34" charset="0"/>
              </a:rPr>
              <a:t>T</a:t>
            </a:r>
            <a:r>
              <a:rPr lang="en-US" sz="2300" dirty="0">
                <a:latin typeface="Arial" panose="020B0604020202020204" pitchFamily="34" charset="0"/>
                <a:cs typeface="Arial" panose="020B0604020202020204" pitchFamily="34" charset="0"/>
              </a:rPr>
              <a:t>, </a:t>
            </a:r>
            <a:r>
              <a:rPr lang="en-US" sz="2300" b="1" dirty="0">
                <a:solidFill>
                  <a:srgbClr val="00B050"/>
                </a:solidFill>
                <a:latin typeface="Arial" panose="020B0604020202020204" pitchFamily="34" charset="0"/>
                <a:cs typeface="Arial" panose="020B0604020202020204" pitchFamily="34" charset="0"/>
              </a:rPr>
              <a:t>CC</a:t>
            </a:r>
            <a:r>
              <a:rPr lang="en-US" sz="2300" b="1" dirty="0">
                <a:latin typeface="Arial" panose="020B0604020202020204" pitchFamily="34" charset="0"/>
                <a:cs typeface="Arial" panose="020B0604020202020204" pitchFamily="34" charset="0"/>
              </a:rPr>
              <a:t>,</a:t>
            </a:r>
            <a:r>
              <a:rPr lang="en-US" sz="2300" b="1" dirty="0">
                <a:solidFill>
                  <a:srgbClr val="00B050"/>
                </a:solidFill>
                <a:latin typeface="Arial" panose="020B0604020202020204" pitchFamily="34" charset="0"/>
                <a:cs typeface="Arial" panose="020B0604020202020204" pitchFamily="34" charset="0"/>
              </a:rPr>
              <a:t> </a:t>
            </a:r>
            <a:r>
              <a:rPr lang="en-US" sz="2300" b="1" dirty="0">
                <a:solidFill>
                  <a:schemeClr val="accent5"/>
                </a:solidFill>
                <a:latin typeface="Arial" panose="020B0604020202020204" pitchFamily="34" charset="0"/>
                <a:cs typeface="Arial" panose="020B0604020202020204" pitchFamily="34" charset="0"/>
              </a:rPr>
              <a:t>A</a:t>
            </a:r>
            <a:r>
              <a:rPr lang="en-US" sz="2300" b="1" dirty="0">
                <a:solidFill>
                  <a:srgbClr val="00B050"/>
                </a:solidFill>
                <a:latin typeface="Arial" panose="020B0604020202020204" pitchFamily="34" charset="0"/>
                <a:cs typeface="Arial" panose="020B0604020202020204" pitchFamily="34" charset="0"/>
              </a:rPr>
              <a:t>C</a:t>
            </a:r>
            <a:r>
              <a:rPr lang="en-US" sz="2300" b="1" dirty="0">
                <a:latin typeface="Arial" panose="020B0604020202020204" pitchFamily="34" charset="0"/>
                <a:cs typeface="Arial" panose="020B0604020202020204" pitchFamily="34" charset="0"/>
              </a:rPr>
              <a:t>,</a:t>
            </a:r>
            <a:r>
              <a:rPr lang="en-US" sz="2300" b="1" dirty="0">
                <a:solidFill>
                  <a:schemeClr val="accent5"/>
                </a:solidFill>
                <a:latin typeface="Arial" panose="020B0604020202020204" pitchFamily="34" charset="0"/>
                <a:cs typeface="Arial" panose="020B0604020202020204" pitchFamily="34" charset="0"/>
              </a:rPr>
              <a:t> AA </a:t>
            </a:r>
            <a:r>
              <a:rPr lang="en-US" sz="2300" dirty="0">
                <a:latin typeface="Arial" panose="020B0604020202020204" pitchFamily="34" charset="0"/>
                <a:cs typeface="Arial" panose="020B0604020202020204" pitchFamily="34" charset="0"/>
              </a:rPr>
              <a:t>contributing the most while </a:t>
            </a:r>
            <a:r>
              <a:rPr lang="en-US" sz="2300" b="1" dirty="0">
                <a:solidFill>
                  <a:schemeClr val="accent5"/>
                </a:solidFill>
                <a:latin typeface="Arial" panose="020B0604020202020204" pitchFamily="34" charset="0"/>
                <a:cs typeface="Arial" panose="020B0604020202020204" pitchFamily="34" charset="0"/>
              </a:rPr>
              <a:t>A</a:t>
            </a:r>
            <a:r>
              <a:rPr lang="en-US" sz="2300" b="1" dirty="0">
                <a:solidFill>
                  <a:srgbClr val="0070C0"/>
                </a:solidFill>
                <a:latin typeface="Arial" panose="020B0604020202020204" pitchFamily="34" charset="0"/>
                <a:cs typeface="Arial" panose="020B0604020202020204" pitchFamily="34" charset="0"/>
              </a:rPr>
              <a:t>T</a:t>
            </a:r>
            <a:r>
              <a:rPr lang="en-US" sz="2300" dirty="0">
                <a:latin typeface="Arial" panose="020B0604020202020204" pitchFamily="34" charset="0"/>
                <a:cs typeface="Arial" panose="020B0604020202020204" pitchFamily="34" charset="0"/>
              </a:rPr>
              <a:t> and </a:t>
            </a:r>
            <a:r>
              <a:rPr lang="en-US" sz="2300" b="1" dirty="0">
                <a:solidFill>
                  <a:srgbClr val="FFC000"/>
                </a:solidFill>
                <a:latin typeface="Arial" panose="020B0604020202020204" pitchFamily="34" charset="0"/>
                <a:cs typeface="Arial" panose="020B0604020202020204" pitchFamily="34" charset="0"/>
              </a:rPr>
              <a:t>G</a:t>
            </a:r>
            <a:r>
              <a:rPr lang="en-US" sz="2300" b="1" dirty="0">
                <a:solidFill>
                  <a:srgbClr val="00B050"/>
                </a:solidFill>
                <a:latin typeface="Arial" panose="020B0604020202020204" pitchFamily="34" charset="0"/>
                <a:cs typeface="Arial" panose="020B0604020202020204" pitchFamily="34" charset="0"/>
              </a:rPr>
              <a:t>C </a:t>
            </a:r>
            <a:r>
              <a:rPr lang="en-US" sz="2300" dirty="0">
                <a:latin typeface="Arial" panose="020B0604020202020204" pitchFamily="34" charset="0"/>
                <a:cs typeface="Arial" panose="020B0604020202020204" pitchFamily="34" charset="0"/>
              </a:rPr>
              <a:t>k-</a:t>
            </a:r>
            <a:r>
              <a:rPr lang="en-US" sz="2300" dirty="0" err="1">
                <a:latin typeface="Arial" panose="020B0604020202020204" pitchFamily="34" charset="0"/>
                <a:cs typeface="Arial" panose="020B0604020202020204" pitchFamily="34" charset="0"/>
              </a:rPr>
              <a:t>mer</a:t>
            </a:r>
            <a:r>
              <a:rPr lang="en-US" sz="2300" dirty="0">
                <a:latin typeface="Arial" panose="020B0604020202020204" pitchFamily="34" charset="0"/>
                <a:cs typeface="Arial" panose="020B0604020202020204" pitchFamily="34" charset="0"/>
              </a:rPr>
              <a:t> contributing the least (</a:t>
            </a:r>
            <a:r>
              <a:rPr lang="en-US" sz="2300" b="1" dirty="0">
                <a:solidFill>
                  <a:srgbClr val="FFC000"/>
                </a:solidFill>
                <a:latin typeface="Arial" panose="020B0604020202020204" pitchFamily="34" charset="0"/>
                <a:cs typeface="Arial" panose="020B0604020202020204" pitchFamily="34" charset="0"/>
              </a:rPr>
              <a:t>G</a:t>
            </a:r>
            <a:r>
              <a:rPr lang="en-US" sz="2300" b="1" dirty="0">
                <a:solidFill>
                  <a:srgbClr val="00B050"/>
                </a:solidFill>
                <a:latin typeface="Arial" panose="020B0604020202020204" pitchFamily="34" charset="0"/>
                <a:cs typeface="Arial" panose="020B0604020202020204" pitchFamily="34" charset="0"/>
              </a:rPr>
              <a:t>C </a:t>
            </a:r>
            <a:r>
              <a:rPr lang="en-US" sz="2300" dirty="0">
                <a:latin typeface="Arial" panose="020B0604020202020204" pitchFamily="34" charset="0"/>
                <a:cs typeface="Arial" panose="020B0604020202020204" pitchFamily="34" charset="0"/>
              </a:rPr>
              <a:t>k-</a:t>
            </a:r>
            <a:r>
              <a:rPr lang="en-US" sz="2300" dirty="0" err="1">
                <a:latin typeface="Arial" panose="020B0604020202020204" pitchFamily="34" charset="0"/>
                <a:cs typeface="Arial" panose="020B0604020202020204" pitchFamily="34" charset="0"/>
              </a:rPr>
              <a:t>mer</a:t>
            </a:r>
            <a:r>
              <a:rPr lang="en-US" sz="2300" dirty="0">
                <a:latin typeface="Arial" panose="020B0604020202020204" pitchFamily="34" charset="0"/>
                <a:cs typeface="Arial" panose="020B0604020202020204" pitchFamily="34" charset="0"/>
              </a:rPr>
              <a:t> consistent with the RF model)</a:t>
            </a:r>
          </a:p>
          <a:p>
            <a:pPr algn="just"/>
            <a:endParaRPr lang="en-US" sz="2300" dirty="0">
              <a:latin typeface="Arial" panose="020B0604020202020204" pitchFamily="34" charset="0"/>
              <a:cs typeface="Arial" panose="020B0604020202020204" pitchFamily="34" charset="0"/>
            </a:endParaRPr>
          </a:p>
          <a:p>
            <a:pPr algn="just"/>
            <a:r>
              <a:rPr lang="en-US" sz="2300" dirty="0">
                <a:latin typeface="Arial" panose="020B0604020202020204" pitchFamily="34" charset="0"/>
                <a:cs typeface="Arial" panose="020B0604020202020204" pitchFamily="34" charset="0"/>
              </a:rPr>
              <a:t>This suggests that each gene has different k-</a:t>
            </a:r>
            <a:r>
              <a:rPr lang="en-US" sz="2300" dirty="0" err="1">
                <a:latin typeface="Arial" panose="020B0604020202020204" pitchFamily="34" charset="0"/>
                <a:cs typeface="Arial" panose="020B0604020202020204" pitchFamily="34" charset="0"/>
              </a:rPr>
              <a:t>mer</a:t>
            </a:r>
            <a:r>
              <a:rPr lang="en-US" sz="2300" dirty="0">
                <a:latin typeface="Arial" panose="020B0604020202020204" pitchFamily="34" charset="0"/>
                <a:cs typeface="Arial" panose="020B0604020202020204" pitchFamily="34" charset="0"/>
              </a:rPr>
              <a:t> contributions and are different enough for the PLS algorithm learning to classify each gene. Some PLS k-</a:t>
            </a:r>
            <a:r>
              <a:rPr lang="en-US" sz="2300" dirty="0" err="1">
                <a:latin typeface="Arial" panose="020B0604020202020204" pitchFamily="34" charset="0"/>
                <a:cs typeface="Arial" panose="020B0604020202020204" pitchFamily="34" charset="0"/>
              </a:rPr>
              <a:t>mer</a:t>
            </a:r>
            <a:r>
              <a:rPr lang="en-US" sz="2300" dirty="0">
                <a:latin typeface="Arial" panose="020B0604020202020204" pitchFamily="34" charset="0"/>
                <a:cs typeface="Arial" panose="020B0604020202020204" pitchFamily="34" charset="0"/>
              </a:rPr>
              <a:t> contributions are consistent with the RF model.</a:t>
            </a:r>
          </a:p>
          <a:p>
            <a:pPr algn="just"/>
            <a:r>
              <a:rPr lang="en-US" sz="2300" dirty="0">
                <a:latin typeface="Arial" panose="020B0604020202020204" pitchFamily="34" charset="0"/>
                <a:cs typeface="Arial" panose="020B0604020202020204" pitchFamily="34" charset="0"/>
              </a:rPr>
              <a:t>This figure accomplished the first and second objectives where machine learning (RF) was successfully applied for gene classifiers and comparisons were made.</a:t>
            </a:r>
          </a:p>
        </p:txBody>
      </p:sp>
    </p:spTree>
    <p:extLst>
      <p:ext uri="{BB962C8B-B14F-4D97-AF65-F5344CB8AC3E}">
        <p14:creationId xmlns:p14="http://schemas.microsoft.com/office/powerpoint/2010/main" val="891137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3595E0A5-94FF-4A47-AD8F-FBB3A5D2EA20}"/>
              </a:ext>
            </a:extLst>
          </p:cNvPr>
          <p:cNvSpPr txBox="1"/>
          <p:nvPr/>
        </p:nvSpPr>
        <p:spPr>
          <a:xfrm>
            <a:off x="5514382" y="-17929"/>
            <a:ext cx="6695547" cy="1938992"/>
          </a:xfrm>
          <a:prstGeom prst="rect">
            <a:avLst/>
          </a:prstGeom>
          <a:solidFill>
            <a:schemeClr val="tx2"/>
          </a:solidFill>
        </p:spPr>
        <p:txBody>
          <a:bodyPr wrap="square" rtlCol="0">
            <a:spAutoFit/>
          </a:bodyPr>
          <a:lstStyle/>
          <a:p>
            <a:r>
              <a:rPr lang="en-US" sz="3000" b="1" dirty="0">
                <a:solidFill>
                  <a:schemeClr val="bg1"/>
                </a:solidFill>
                <a:latin typeface="Arial" panose="020B0604020202020204" pitchFamily="34" charset="0"/>
                <a:cs typeface="Arial" panose="020B0604020202020204" pitchFamily="34" charset="0"/>
              </a:rPr>
              <a:t>The RF model uses different </a:t>
            </a:r>
            <a:r>
              <a:rPr lang="en-US" sz="3000" b="1" dirty="0" err="1">
                <a:solidFill>
                  <a:schemeClr val="bg1"/>
                </a:solidFill>
                <a:latin typeface="Arial" panose="020B0604020202020204" pitchFamily="34" charset="0"/>
                <a:cs typeface="Arial" panose="020B0604020202020204" pitchFamily="34" charset="0"/>
              </a:rPr>
              <a:t>kmers</a:t>
            </a:r>
            <a:r>
              <a:rPr lang="en-US" sz="3000" b="1" dirty="0">
                <a:solidFill>
                  <a:schemeClr val="bg1"/>
                </a:solidFill>
                <a:latin typeface="Arial" panose="020B0604020202020204" pitchFamily="34" charset="0"/>
                <a:cs typeface="Arial" panose="020B0604020202020204" pitchFamily="34" charset="0"/>
              </a:rPr>
              <a:t> combinations during training to classify each </a:t>
            </a:r>
            <a:r>
              <a:rPr lang="en-US" sz="3000" b="1" i="1" dirty="0">
                <a:solidFill>
                  <a:schemeClr val="bg1"/>
                </a:solidFill>
                <a:latin typeface="Arial" panose="020B0604020202020204" pitchFamily="34" charset="0"/>
                <a:cs typeface="Arial" panose="020B0604020202020204" pitchFamily="34" charset="0"/>
              </a:rPr>
              <a:t>Muridae</a:t>
            </a:r>
            <a:r>
              <a:rPr lang="en-US" sz="3000" b="1" dirty="0">
                <a:solidFill>
                  <a:schemeClr val="bg1"/>
                </a:solidFill>
                <a:latin typeface="Arial" panose="020B0604020202020204" pitchFamily="34" charset="0"/>
                <a:cs typeface="Arial" panose="020B0604020202020204" pitchFamily="34" charset="0"/>
              </a:rPr>
              <a:t> species based on the </a:t>
            </a:r>
            <a:r>
              <a:rPr lang="en-US" sz="3000" b="1" i="1" dirty="0" err="1">
                <a:solidFill>
                  <a:schemeClr val="bg1"/>
                </a:solidFill>
                <a:latin typeface="Arial" panose="020B0604020202020204" pitchFamily="34" charset="0"/>
                <a:cs typeface="Arial" panose="020B0604020202020204" pitchFamily="34" charset="0"/>
              </a:rPr>
              <a:t>Cytb</a:t>
            </a:r>
            <a:r>
              <a:rPr lang="en-US" sz="3000" b="1" dirty="0">
                <a:solidFill>
                  <a:schemeClr val="bg1"/>
                </a:solidFill>
                <a:latin typeface="Arial" panose="020B0604020202020204" pitchFamily="34" charset="0"/>
                <a:cs typeface="Arial" panose="020B0604020202020204" pitchFamily="34" charset="0"/>
              </a:rPr>
              <a:t> gene</a:t>
            </a:r>
          </a:p>
        </p:txBody>
      </p:sp>
      <p:sp>
        <p:nvSpPr>
          <p:cNvPr id="11" name="TextBox 10">
            <a:extLst>
              <a:ext uri="{FF2B5EF4-FFF2-40B4-BE49-F238E27FC236}">
                <a16:creationId xmlns:a16="http://schemas.microsoft.com/office/drawing/2014/main" id="{9AACA98A-3230-C8D7-9BF9-794BCB3DC373}"/>
              </a:ext>
            </a:extLst>
          </p:cNvPr>
          <p:cNvSpPr txBox="1">
            <a:spLocks/>
          </p:cNvSpPr>
          <p:nvPr/>
        </p:nvSpPr>
        <p:spPr>
          <a:xfrm>
            <a:off x="7472697" y="2544413"/>
            <a:ext cx="981359" cy="4031873"/>
          </a:xfrm>
          <a:prstGeom prst="rect">
            <a:avLst/>
          </a:prstGeom>
          <a:noFill/>
        </p:spPr>
        <p:txBody>
          <a:bodyPr wrap="none" rtlCol="0">
            <a:spAutoFit/>
          </a:bodyPr>
          <a:lstStyle/>
          <a:p>
            <a:pPr algn="just"/>
            <a:r>
              <a:rPr lang="en-US" sz="3200" b="1" dirty="0">
                <a:solidFill>
                  <a:schemeClr val="accent5"/>
                </a:solidFill>
                <a:latin typeface="Arial" panose="020B0604020202020204" pitchFamily="34" charset="0"/>
                <a:cs typeface="Arial" panose="020B0604020202020204" pitchFamily="34" charset="0"/>
              </a:rPr>
              <a:t>AA</a:t>
            </a:r>
          </a:p>
          <a:p>
            <a:pPr algn="just"/>
            <a:r>
              <a:rPr lang="en-US" sz="3200" b="1" dirty="0">
                <a:solidFill>
                  <a:schemeClr val="accent5"/>
                </a:solidFill>
                <a:latin typeface="Arial" panose="020B0604020202020204" pitchFamily="34" charset="0"/>
                <a:cs typeface="Arial" panose="020B0604020202020204" pitchFamily="34" charset="0"/>
              </a:rPr>
              <a:t>A</a:t>
            </a:r>
            <a:r>
              <a:rPr lang="en-US" sz="3200" b="1" dirty="0">
                <a:solidFill>
                  <a:srgbClr val="0070C0"/>
                </a:solidFill>
                <a:latin typeface="Arial" panose="020B0604020202020204" pitchFamily="34" charset="0"/>
                <a:cs typeface="Arial" panose="020B0604020202020204" pitchFamily="34" charset="0"/>
              </a:rPr>
              <a:t>T</a:t>
            </a:r>
          </a:p>
          <a:p>
            <a:pPr algn="just"/>
            <a:r>
              <a:rPr lang="en-US" sz="3200" b="1" dirty="0">
                <a:solidFill>
                  <a:schemeClr val="accent5"/>
                </a:solidFill>
                <a:latin typeface="Arial" panose="020B0604020202020204" pitchFamily="34" charset="0"/>
                <a:cs typeface="Arial" panose="020B0604020202020204" pitchFamily="34" charset="0"/>
              </a:rPr>
              <a:t>A</a:t>
            </a:r>
            <a:r>
              <a:rPr lang="en-US" sz="3200" b="1" dirty="0">
                <a:solidFill>
                  <a:srgbClr val="00B050"/>
                </a:solidFill>
                <a:latin typeface="Arial" panose="020B0604020202020204" pitchFamily="34" charset="0"/>
                <a:cs typeface="Arial" panose="020B0604020202020204" pitchFamily="34" charset="0"/>
              </a:rPr>
              <a:t>C </a:t>
            </a:r>
          </a:p>
          <a:p>
            <a:pPr algn="just"/>
            <a:r>
              <a:rPr lang="en-US" sz="3200" b="1" dirty="0">
                <a:solidFill>
                  <a:schemeClr val="accent5"/>
                </a:solidFill>
                <a:latin typeface="Arial" panose="020B0604020202020204" pitchFamily="34" charset="0"/>
                <a:cs typeface="Arial" panose="020B0604020202020204" pitchFamily="34" charset="0"/>
              </a:rPr>
              <a:t>A</a:t>
            </a:r>
            <a:r>
              <a:rPr lang="en-US" sz="3200" b="1" dirty="0">
                <a:solidFill>
                  <a:srgbClr val="FFC000"/>
                </a:solidFill>
                <a:latin typeface="Arial" panose="020B0604020202020204" pitchFamily="34" charset="0"/>
                <a:cs typeface="Arial" panose="020B0604020202020204" pitchFamily="34" charset="0"/>
              </a:rPr>
              <a:t>G </a:t>
            </a:r>
          </a:p>
          <a:p>
            <a:pPr algn="just"/>
            <a:r>
              <a:rPr lang="en-US" sz="3200" b="1" dirty="0">
                <a:solidFill>
                  <a:srgbClr val="0070C0"/>
                </a:solidFill>
                <a:latin typeface="Arial" panose="020B0604020202020204" pitchFamily="34" charset="0"/>
                <a:cs typeface="Arial" panose="020B0604020202020204" pitchFamily="34" charset="0"/>
              </a:rPr>
              <a:t>T</a:t>
            </a:r>
            <a:r>
              <a:rPr lang="en-US" sz="3200" b="1" dirty="0">
                <a:solidFill>
                  <a:schemeClr val="accent5"/>
                </a:solidFill>
                <a:latin typeface="Arial" panose="020B0604020202020204" pitchFamily="34" charset="0"/>
                <a:cs typeface="Arial" panose="020B0604020202020204" pitchFamily="34" charset="0"/>
              </a:rPr>
              <a:t>A</a:t>
            </a:r>
          </a:p>
          <a:p>
            <a:pPr algn="just"/>
            <a:r>
              <a:rPr lang="en-US" sz="3200" b="1" dirty="0">
                <a:solidFill>
                  <a:srgbClr val="0070C0"/>
                </a:solidFill>
                <a:latin typeface="Arial" panose="020B0604020202020204" pitchFamily="34" charset="0"/>
                <a:cs typeface="Arial" panose="020B0604020202020204" pitchFamily="34" charset="0"/>
              </a:rPr>
              <a:t>TT </a:t>
            </a:r>
          </a:p>
          <a:p>
            <a:pPr algn="just"/>
            <a:r>
              <a:rPr lang="en-US" sz="3200" b="1" dirty="0">
                <a:solidFill>
                  <a:srgbClr val="0070C0"/>
                </a:solidFill>
                <a:latin typeface="Arial" panose="020B0604020202020204" pitchFamily="34" charset="0"/>
                <a:cs typeface="Arial" panose="020B0604020202020204" pitchFamily="34" charset="0"/>
              </a:rPr>
              <a:t>T</a:t>
            </a:r>
            <a:r>
              <a:rPr lang="en-US" sz="3200" b="1" dirty="0">
                <a:solidFill>
                  <a:srgbClr val="00B050"/>
                </a:solidFill>
                <a:latin typeface="Arial" panose="020B0604020202020204" pitchFamily="34" charset="0"/>
                <a:cs typeface="Arial" panose="020B0604020202020204" pitchFamily="34" charset="0"/>
              </a:rPr>
              <a:t>C </a:t>
            </a:r>
          </a:p>
          <a:p>
            <a:pPr algn="just"/>
            <a:r>
              <a:rPr lang="en-US" sz="3200" b="1" dirty="0">
                <a:solidFill>
                  <a:srgbClr val="0070C0"/>
                </a:solidFill>
                <a:latin typeface="Arial" panose="020B0604020202020204" pitchFamily="34" charset="0"/>
                <a:cs typeface="Arial" panose="020B0604020202020204" pitchFamily="34" charset="0"/>
              </a:rPr>
              <a:t>T</a:t>
            </a:r>
            <a:r>
              <a:rPr lang="en-US" sz="3200" b="1" dirty="0">
                <a:solidFill>
                  <a:srgbClr val="FFC000"/>
                </a:solidFill>
                <a:latin typeface="Arial" panose="020B0604020202020204" pitchFamily="34" charset="0"/>
                <a:cs typeface="Arial" panose="020B0604020202020204" pitchFamily="34" charset="0"/>
              </a:rPr>
              <a:t>G </a:t>
            </a:r>
            <a:r>
              <a:rPr lang="en-US" sz="3200" b="1" dirty="0">
                <a:solidFill>
                  <a:srgbClr val="00B050"/>
                </a:solidFill>
                <a:latin typeface="Arial" panose="020B0604020202020204" pitchFamily="34" charset="0"/>
                <a:cs typeface="Arial" panose="020B0604020202020204" pitchFamily="34" charset="0"/>
              </a:rPr>
              <a:t> </a:t>
            </a:r>
          </a:p>
        </p:txBody>
      </p:sp>
      <p:sp>
        <p:nvSpPr>
          <p:cNvPr id="12" name="TextBox 11">
            <a:extLst>
              <a:ext uri="{FF2B5EF4-FFF2-40B4-BE49-F238E27FC236}">
                <a16:creationId xmlns:a16="http://schemas.microsoft.com/office/drawing/2014/main" id="{974F76CD-034C-07F1-F27B-DB326AF0483F}"/>
              </a:ext>
            </a:extLst>
          </p:cNvPr>
          <p:cNvSpPr txBox="1">
            <a:spLocks/>
          </p:cNvSpPr>
          <p:nvPr/>
        </p:nvSpPr>
        <p:spPr>
          <a:xfrm>
            <a:off x="8673353" y="2578044"/>
            <a:ext cx="822661" cy="4031873"/>
          </a:xfrm>
          <a:prstGeom prst="rect">
            <a:avLst/>
          </a:prstGeom>
          <a:noFill/>
        </p:spPr>
        <p:txBody>
          <a:bodyPr wrap="none" rtlCol="0">
            <a:spAutoFit/>
          </a:bodyPr>
          <a:lstStyle/>
          <a:p>
            <a:r>
              <a:rPr lang="en-US" sz="3200" b="1" dirty="0">
                <a:solidFill>
                  <a:srgbClr val="00B050"/>
                </a:solidFill>
                <a:latin typeface="Arial" panose="020B0604020202020204" pitchFamily="34" charset="0"/>
                <a:cs typeface="Arial" panose="020B0604020202020204" pitchFamily="34" charset="0"/>
              </a:rPr>
              <a:t>C</a:t>
            </a:r>
            <a:r>
              <a:rPr lang="en-US" sz="3200" b="1" dirty="0">
                <a:solidFill>
                  <a:schemeClr val="accent5"/>
                </a:solidFill>
                <a:latin typeface="Arial" panose="020B0604020202020204" pitchFamily="34" charset="0"/>
                <a:cs typeface="Arial" panose="020B0604020202020204" pitchFamily="34" charset="0"/>
              </a:rPr>
              <a:t>A</a:t>
            </a:r>
          </a:p>
          <a:p>
            <a:r>
              <a:rPr lang="en-US" sz="3200" b="1" dirty="0">
                <a:solidFill>
                  <a:srgbClr val="00B050"/>
                </a:solidFill>
                <a:latin typeface="Arial" panose="020B0604020202020204" pitchFamily="34" charset="0"/>
                <a:cs typeface="Arial" panose="020B0604020202020204" pitchFamily="34" charset="0"/>
              </a:rPr>
              <a:t>C</a:t>
            </a:r>
            <a:r>
              <a:rPr lang="en-US" sz="3200" b="1" dirty="0">
                <a:solidFill>
                  <a:srgbClr val="0070C0"/>
                </a:solidFill>
                <a:latin typeface="Arial" panose="020B0604020202020204" pitchFamily="34" charset="0"/>
                <a:cs typeface="Arial" panose="020B0604020202020204" pitchFamily="34" charset="0"/>
              </a:rPr>
              <a:t>T</a:t>
            </a:r>
          </a:p>
          <a:p>
            <a:r>
              <a:rPr lang="en-US" sz="3200" b="1" dirty="0">
                <a:solidFill>
                  <a:srgbClr val="00B050"/>
                </a:solidFill>
                <a:latin typeface="Arial" panose="020B0604020202020204" pitchFamily="34" charset="0"/>
                <a:cs typeface="Arial" panose="020B0604020202020204" pitchFamily="34" charset="0"/>
              </a:rPr>
              <a:t>CC</a:t>
            </a:r>
          </a:p>
          <a:p>
            <a:r>
              <a:rPr lang="en-US" sz="3200" b="1" dirty="0">
                <a:solidFill>
                  <a:srgbClr val="00B050"/>
                </a:solidFill>
                <a:latin typeface="Arial" panose="020B0604020202020204" pitchFamily="34" charset="0"/>
                <a:cs typeface="Arial" panose="020B0604020202020204" pitchFamily="34" charset="0"/>
              </a:rPr>
              <a:t>C</a:t>
            </a:r>
            <a:r>
              <a:rPr lang="en-US" sz="3200" b="1" dirty="0">
                <a:solidFill>
                  <a:srgbClr val="FFC000"/>
                </a:solidFill>
                <a:latin typeface="Arial" panose="020B0604020202020204" pitchFamily="34" charset="0"/>
                <a:cs typeface="Arial" panose="020B0604020202020204" pitchFamily="34" charset="0"/>
              </a:rPr>
              <a:t>G</a:t>
            </a:r>
          </a:p>
          <a:p>
            <a:r>
              <a:rPr lang="en-US" sz="3200" b="1" dirty="0">
                <a:solidFill>
                  <a:srgbClr val="FFC000"/>
                </a:solidFill>
                <a:latin typeface="Arial" panose="020B0604020202020204" pitchFamily="34" charset="0"/>
                <a:cs typeface="Arial" panose="020B0604020202020204" pitchFamily="34" charset="0"/>
              </a:rPr>
              <a:t>G</a:t>
            </a:r>
            <a:r>
              <a:rPr lang="en-US" sz="3200" b="1" dirty="0">
                <a:solidFill>
                  <a:schemeClr val="accent5"/>
                </a:solidFill>
                <a:latin typeface="Arial" panose="020B0604020202020204" pitchFamily="34" charset="0"/>
                <a:cs typeface="Arial" panose="020B0604020202020204" pitchFamily="34" charset="0"/>
              </a:rPr>
              <a:t>A</a:t>
            </a:r>
          </a:p>
          <a:p>
            <a:r>
              <a:rPr lang="en-US" sz="3200" b="1" dirty="0">
                <a:solidFill>
                  <a:srgbClr val="FFC000"/>
                </a:solidFill>
                <a:latin typeface="Arial" panose="020B0604020202020204" pitchFamily="34" charset="0"/>
                <a:cs typeface="Arial" panose="020B0604020202020204" pitchFamily="34" charset="0"/>
              </a:rPr>
              <a:t>G</a:t>
            </a:r>
            <a:r>
              <a:rPr lang="en-US" sz="3200" b="1" dirty="0">
                <a:solidFill>
                  <a:srgbClr val="0070C0"/>
                </a:solidFill>
                <a:latin typeface="Arial" panose="020B0604020202020204" pitchFamily="34" charset="0"/>
                <a:cs typeface="Arial" panose="020B0604020202020204" pitchFamily="34" charset="0"/>
              </a:rPr>
              <a:t>T</a:t>
            </a:r>
          </a:p>
          <a:p>
            <a:r>
              <a:rPr lang="en-US" sz="3200" b="1" dirty="0">
                <a:solidFill>
                  <a:srgbClr val="FFC000"/>
                </a:solidFill>
                <a:latin typeface="Arial" panose="020B0604020202020204" pitchFamily="34" charset="0"/>
                <a:cs typeface="Arial" panose="020B0604020202020204" pitchFamily="34" charset="0"/>
              </a:rPr>
              <a:t>G</a:t>
            </a:r>
            <a:r>
              <a:rPr lang="en-US" sz="3200" b="1" dirty="0">
                <a:solidFill>
                  <a:srgbClr val="00B050"/>
                </a:solidFill>
                <a:latin typeface="Arial" panose="020B0604020202020204" pitchFamily="34" charset="0"/>
                <a:cs typeface="Arial" panose="020B0604020202020204" pitchFamily="34" charset="0"/>
              </a:rPr>
              <a:t>C</a:t>
            </a:r>
          </a:p>
          <a:p>
            <a:r>
              <a:rPr lang="en-US" sz="3200" b="1" dirty="0">
                <a:solidFill>
                  <a:srgbClr val="FFC000"/>
                </a:solidFill>
                <a:latin typeface="Arial" panose="020B0604020202020204" pitchFamily="34" charset="0"/>
                <a:cs typeface="Arial" panose="020B0604020202020204" pitchFamily="34" charset="0"/>
              </a:rPr>
              <a:t>GG</a:t>
            </a:r>
            <a:endParaRPr lang="en-US" sz="3200" b="1" dirty="0">
              <a:solidFill>
                <a:srgbClr val="00B05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D3FB26FD-C8B8-B068-3C96-6D65E82F7795}"/>
              </a:ext>
            </a:extLst>
          </p:cNvPr>
          <p:cNvSpPr txBox="1"/>
          <p:nvPr/>
        </p:nvSpPr>
        <p:spPr>
          <a:xfrm>
            <a:off x="7243482" y="2116379"/>
            <a:ext cx="3294492" cy="461665"/>
          </a:xfrm>
          <a:prstGeom prst="rect">
            <a:avLst/>
          </a:prstGeom>
          <a:noFill/>
        </p:spPr>
        <p:txBody>
          <a:bodyPr wrap="none" rtlCol="0">
            <a:spAutoFit/>
          </a:bodyPr>
          <a:lstStyle/>
          <a:p>
            <a:r>
              <a:rPr lang="en-US" sz="2400" b="1" dirty="0">
                <a:latin typeface="Arial" panose="020B0604020202020204" pitchFamily="34" charset="0"/>
                <a:cs typeface="Arial" panose="020B0604020202020204" pitchFamily="34" charset="0"/>
              </a:rPr>
              <a:t>Dinucleotide combos</a:t>
            </a:r>
          </a:p>
        </p:txBody>
      </p:sp>
      <p:pic>
        <p:nvPicPr>
          <p:cNvPr id="17" name="Picture 16" descr="A pink and white chart&#10;&#10;AI-generated content may be incorrect.">
            <a:extLst>
              <a:ext uri="{FF2B5EF4-FFF2-40B4-BE49-F238E27FC236}">
                <a16:creationId xmlns:a16="http://schemas.microsoft.com/office/drawing/2014/main" id="{16210707-7D62-C629-0B96-D9B38A24E420}"/>
              </a:ext>
            </a:extLst>
          </p:cNvPr>
          <p:cNvPicPr>
            <a:picLocks noChangeAspect="1"/>
          </p:cNvPicPr>
          <p:nvPr/>
        </p:nvPicPr>
        <p:blipFill>
          <a:blip r:embed="rId2"/>
          <a:stretch>
            <a:fillRect/>
          </a:stretch>
        </p:blipFill>
        <p:spPr>
          <a:xfrm>
            <a:off x="332654" y="0"/>
            <a:ext cx="5062409" cy="6858000"/>
          </a:xfrm>
          <a:prstGeom prst="rect">
            <a:avLst/>
          </a:prstGeom>
        </p:spPr>
      </p:pic>
    </p:spTree>
    <p:extLst>
      <p:ext uri="{BB962C8B-B14F-4D97-AF65-F5344CB8AC3E}">
        <p14:creationId xmlns:p14="http://schemas.microsoft.com/office/powerpoint/2010/main" val="11775450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A536CC-704A-5478-164C-DF99A33AE27D}"/>
              </a:ext>
            </a:extLst>
          </p:cNvPr>
          <p:cNvSpPr txBox="1"/>
          <p:nvPr/>
        </p:nvSpPr>
        <p:spPr>
          <a:xfrm>
            <a:off x="-15241" y="-17929"/>
            <a:ext cx="12240000" cy="1015663"/>
          </a:xfrm>
          <a:prstGeom prst="rect">
            <a:avLst/>
          </a:prstGeom>
          <a:solidFill>
            <a:schemeClr val="tx2"/>
          </a:solidFill>
        </p:spPr>
        <p:txBody>
          <a:bodyPr wrap="square" rtlCol="0">
            <a:spAutoFit/>
          </a:bodyPr>
          <a:lstStyle/>
          <a:p>
            <a:r>
              <a:rPr lang="en-US" sz="3000" b="1" dirty="0">
                <a:solidFill>
                  <a:schemeClr val="bg1"/>
                </a:solidFill>
                <a:latin typeface="Arial" panose="020B0604020202020204" pitchFamily="34" charset="0"/>
                <a:cs typeface="Arial" panose="020B0604020202020204" pitchFamily="34" charset="0"/>
              </a:rPr>
              <a:t>RF model uses different </a:t>
            </a:r>
            <a:r>
              <a:rPr lang="en-US" sz="3000" b="1" dirty="0" err="1">
                <a:solidFill>
                  <a:schemeClr val="bg1"/>
                </a:solidFill>
                <a:latin typeface="Arial" panose="020B0604020202020204" pitchFamily="34" charset="0"/>
                <a:cs typeface="Arial" panose="020B0604020202020204" pitchFamily="34" charset="0"/>
              </a:rPr>
              <a:t>kmers</a:t>
            </a:r>
            <a:r>
              <a:rPr lang="en-US" sz="3000" b="1" dirty="0">
                <a:solidFill>
                  <a:schemeClr val="bg1"/>
                </a:solidFill>
                <a:latin typeface="Arial" panose="020B0604020202020204" pitchFamily="34" charset="0"/>
                <a:cs typeface="Arial" panose="020B0604020202020204" pitchFamily="34" charset="0"/>
              </a:rPr>
              <a:t> combinations to classify each </a:t>
            </a:r>
            <a:r>
              <a:rPr lang="en-US" sz="3000" b="1" i="1" dirty="0">
                <a:solidFill>
                  <a:schemeClr val="bg1"/>
                </a:solidFill>
                <a:latin typeface="Arial" panose="020B0604020202020204" pitchFamily="34" charset="0"/>
                <a:cs typeface="Arial" panose="020B0604020202020204" pitchFamily="34" charset="0"/>
              </a:rPr>
              <a:t>Muridae</a:t>
            </a:r>
            <a:r>
              <a:rPr lang="en-US" sz="3000" b="1" dirty="0">
                <a:solidFill>
                  <a:schemeClr val="bg1"/>
                </a:solidFill>
                <a:latin typeface="Arial" panose="020B0604020202020204" pitchFamily="34" charset="0"/>
                <a:cs typeface="Arial" panose="020B0604020202020204" pitchFamily="34" charset="0"/>
              </a:rPr>
              <a:t> species based on the </a:t>
            </a:r>
            <a:r>
              <a:rPr lang="en-US" sz="3000" b="1" i="1" dirty="0" err="1">
                <a:solidFill>
                  <a:schemeClr val="bg1"/>
                </a:solidFill>
                <a:latin typeface="Arial" panose="020B0604020202020204" pitchFamily="34" charset="0"/>
                <a:cs typeface="Arial" panose="020B0604020202020204" pitchFamily="34" charset="0"/>
              </a:rPr>
              <a:t>Cytb</a:t>
            </a:r>
            <a:r>
              <a:rPr lang="en-US" sz="3000" b="1" dirty="0">
                <a:solidFill>
                  <a:schemeClr val="bg1"/>
                </a:solidFill>
                <a:latin typeface="Arial" panose="020B0604020202020204" pitchFamily="34" charset="0"/>
                <a:cs typeface="Arial" panose="020B0604020202020204" pitchFamily="34" charset="0"/>
              </a:rPr>
              <a:t> gene</a:t>
            </a:r>
          </a:p>
        </p:txBody>
      </p:sp>
      <p:sp>
        <p:nvSpPr>
          <p:cNvPr id="3" name="TextBox 2">
            <a:extLst>
              <a:ext uri="{FF2B5EF4-FFF2-40B4-BE49-F238E27FC236}">
                <a16:creationId xmlns:a16="http://schemas.microsoft.com/office/drawing/2014/main" id="{5ACE5105-5E8B-77E3-561D-1969F05D53DB}"/>
              </a:ext>
            </a:extLst>
          </p:cNvPr>
          <p:cNvSpPr txBox="1"/>
          <p:nvPr/>
        </p:nvSpPr>
        <p:spPr>
          <a:xfrm>
            <a:off x="0" y="1009861"/>
            <a:ext cx="12192000" cy="4893647"/>
          </a:xfrm>
          <a:prstGeom prst="rect">
            <a:avLst/>
          </a:prstGeom>
          <a:noFill/>
        </p:spPr>
        <p:txBody>
          <a:bodyPr wrap="square" rtlCol="0">
            <a:spAutoFit/>
          </a:bodyPr>
          <a:lstStyle/>
          <a:p>
            <a:pPr algn="just"/>
            <a:r>
              <a:rPr lang="en-US" sz="2400" dirty="0">
                <a:latin typeface="Arial" panose="020B0604020202020204" pitchFamily="34" charset="0"/>
                <a:cs typeface="Arial" panose="020B0604020202020204" pitchFamily="34" charset="0"/>
              </a:rPr>
              <a:t>From the heatmap, it shows the proportions of K-</a:t>
            </a:r>
            <a:r>
              <a:rPr lang="en-US" sz="2400" dirty="0" err="1">
                <a:latin typeface="Arial" panose="020B0604020202020204" pitchFamily="34" charset="0"/>
                <a:cs typeface="Arial" panose="020B0604020202020204" pitchFamily="34" charset="0"/>
              </a:rPr>
              <a:t>mers</a:t>
            </a:r>
            <a:r>
              <a:rPr lang="en-US" sz="2400" dirty="0">
                <a:latin typeface="Arial" panose="020B0604020202020204" pitchFamily="34" charset="0"/>
                <a:cs typeface="Arial" panose="020B0604020202020204" pitchFamily="34" charset="0"/>
              </a:rPr>
              <a:t> contributions for each species and how it differs for each species. For example, </a:t>
            </a:r>
            <a:r>
              <a:rPr lang="en-US" sz="2400" i="1" dirty="0">
                <a:latin typeface="Arial" panose="020B0604020202020204" pitchFamily="34" charset="0"/>
                <a:cs typeface="Arial" panose="020B0604020202020204" pitchFamily="34" charset="0"/>
              </a:rPr>
              <a:t>Mus</a:t>
            </a:r>
            <a:r>
              <a:rPr lang="en-US" sz="2400" dirty="0">
                <a:latin typeface="Arial" panose="020B0604020202020204" pitchFamily="34" charset="0"/>
                <a:cs typeface="Arial" panose="020B0604020202020204" pitchFamily="34" charset="0"/>
              </a:rPr>
              <a:t> </a:t>
            </a:r>
            <a:r>
              <a:rPr lang="en-US" sz="2400" i="1" dirty="0">
                <a:latin typeface="Arial" panose="020B0604020202020204" pitchFamily="34" charset="0"/>
                <a:cs typeface="Arial" panose="020B0604020202020204" pitchFamily="34" charset="0"/>
              </a:rPr>
              <a:t>musculus</a:t>
            </a:r>
            <a:r>
              <a:rPr lang="en-US" sz="2400" dirty="0">
                <a:latin typeface="Arial" panose="020B0604020202020204" pitchFamily="34" charset="0"/>
                <a:cs typeface="Arial" panose="020B0604020202020204" pitchFamily="34" charset="0"/>
              </a:rPr>
              <a:t> has a higher frequency of </a:t>
            </a:r>
            <a:r>
              <a:rPr lang="en-US" sz="2400" b="1" dirty="0">
                <a:solidFill>
                  <a:schemeClr val="accent5"/>
                </a:solidFill>
                <a:latin typeface="Arial" panose="020B0604020202020204" pitchFamily="34" charset="0"/>
                <a:cs typeface="Arial" panose="020B0604020202020204" pitchFamily="34" charset="0"/>
              </a:rPr>
              <a:t>AA</a:t>
            </a:r>
            <a:r>
              <a:rPr lang="en-US" sz="2400" dirty="0">
                <a:latin typeface="Arial" panose="020B0604020202020204" pitchFamily="34" charset="0"/>
                <a:cs typeface="Arial" panose="020B0604020202020204" pitchFamily="34" charset="0"/>
              </a:rPr>
              <a:t> as compared to other species. This is consistent with the first heatmap, where the </a:t>
            </a:r>
            <a:r>
              <a:rPr lang="en-US" sz="2400" b="1" dirty="0">
                <a:solidFill>
                  <a:schemeClr val="accent5"/>
                </a:solidFill>
                <a:latin typeface="Arial" panose="020B0604020202020204" pitchFamily="34" charset="0"/>
                <a:cs typeface="Arial" panose="020B0604020202020204" pitchFamily="34" charset="0"/>
              </a:rPr>
              <a:t>AA</a:t>
            </a:r>
            <a:r>
              <a:rPr lang="en-US" sz="2400" dirty="0">
                <a:latin typeface="Arial" panose="020B0604020202020204" pitchFamily="34" charset="0"/>
                <a:cs typeface="Arial" panose="020B0604020202020204" pitchFamily="34" charset="0"/>
              </a:rPr>
              <a:t> k-</a:t>
            </a:r>
            <a:r>
              <a:rPr lang="en-US" sz="2400" dirty="0" err="1">
                <a:latin typeface="Arial" panose="020B0604020202020204" pitchFamily="34" charset="0"/>
                <a:cs typeface="Arial" panose="020B0604020202020204" pitchFamily="34" charset="0"/>
              </a:rPr>
              <a:t>mer</a:t>
            </a:r>
            <a:r>
              <a:rPr lang="en-US" sz="2400" dirty="0">
                <a:latin typeface="Arial" panose="020B0604020202020204" pitchFamily="34" charset="0"/>
                <a:cs typeface="Arial" panose="020B0604020202020204" pitchFamily="34" charset="0"/>
              </a:rPr>
              <a:t> contributes to the most and was probably biased by the </a:t>
            </a:r>
            <a:r>
              <a:rPr lang="en-US" sz="2400" i="1" dirty="0">
                <a:latin typeface="Arial" panose="020B0604020202020204" pitchFamily="34" charset="0"/>
                <a:cs typeface="Arial" panose="020B0604020202020204" pitchFamily="34" charset="0"/>
              </a:rPr>
              <a:t>Mus musculus </a:t>
            </a:r>
            <a:r>
              <a:rPr lang="en-US" sz="2400" dirty="0">
                <a:latin typeface="Arial" panose="020B0604020202020204" pitchFamily="34" charset="0"/>
                <a:cs typeface="Arial" panose="020B0604020202020204" pitchFamily="34" charset="0"/>
              </a:rPr>
              <a:t>species.</a:t>
            </a:r>
          </a:p>
          <a:p>
            <a:pPr algn="just"/>
            <a:endParaRPr lang="en-US" sz="2400" b="1" dirty="0">
              <a:solidFill>
                <a:srgbClr val="C00000"/>
              </a:solidFill>
              <a:latin typeface="Arial" panose="020B0604020202020204" pitchFamily="34" charset="0"/>
              <a:cs typeface="Arial" panose="020B0604020202020204" pitchFamily="34" charset="0"/>
            </a:endParaRPr>
          </a:p>
          <a:p>
            <a:pPr algn="just"/>
            <a:r>
              <a:rPr lang="en-US" sz="2400" b="1" dirty="0">
                <a:solidFill>
                  <a:schemeClr val="accent5"/>
                </a:solidFill>
                <a:latin typeface="Arial" panose="020B0604020202020204" pitchFamily="34" charset="0"/>
                <a:cs typeface="Arial" panose="020B0604020202020204" pitchFamily="34" charset="0"/>
              </a:rPr>
              <a:t>A</a:t>
            </a:r>
            <a:r>
              <a:rPr lang="en-US" sz="2400" b="1" dirty="0">
                <a:solidFill>
                  <a:srgbClr val="FFC000"/>
                </a:solidFill>
                <a:latin typeface="Arial" panose="020B0604020202020204" pitchFamily="34" charset="0"/>
                <a:cs typeface="Arial" panose="020B0604020202020204" pitchFamily="34" charset="0"/>
              </a:rPr>
              <a:t>G</a:t>
            </a:r>
            <a:r>
              <a:rPr lang="en-US" sz="2400" dirty="0">
                <a:latin typeface="Arial" panose="020B0604020202020204" pitchFamily="34" charset="0"/>
                <a:cs typeface="Arial" panose="020B0604020202020204" pitchFamily="34" charset="0"/>
              </a:rPr>
              <a:t>, </a:t>
            </a:r>
            <a:r>
              <a:rPr lang="en-US" sz="2400" b="1" dirty="0">
                <a:solidFill>
                  <a:srgbClr val="00B050"/>
                </a:solidFill>
                <a:latin typeface="Arial" panose="020B0604020202020204" pitchFamily="34" charset="0"/>
                <a:cs typeface="Arial" panose="020B0604020202020204" pitchFamily="34" charset="0"/>
              </a:rPr>
              <a:t>C</a:t>
            </a:r>
            <a:r>
              <a:rPr lang="en-US" sz="2400" b="1" dirty="0">
                <a:solidFill>
                  <a:srgbClr val="FFC000"/>
                </a:solidFill>
                <a:latin typeface="Arial" panose="020B0604020202020204" pitchFamily="34" charset="0"/>
                <a:cs typeface="Arial" panose="020B0604020202020204" pitchFamily="34" charset="0"/>
              </a:rPr>
              <a:t>G</a:t>
            </a:r>
            <a:r>
              <a:rPr lang="en-US" sz="2400" dirty="0">
                <a:latin typeface="Arial" panose="020B0604020202020204" pitchFamily="34" charset="0"/>
                <a:cs typeface="Arial" panose="020B0604020202020204" pitchFamily="34" charset="0"/>
              </a:rPr>
              <a:t>, </a:t>
            </a:r>
            <a:r>
              <a:rPr lang="en-US" sz="2400" b="1" dirty="0">
                <a:solidFill>
                  <a:srgbClr val="FFC000"/>
                </a:solidFill>
                <a:latin typeface="Arial" panose="020B0604020202020204" pitchFamily="34" charset="0"/>
                <a:cs typeface="Arial" panose="020B0604020202020204" pitchFamily="34" charset="0"/>
              </a:rPr>
              <a:t>G</a:t>
            </a:r>
            <a:r>
              <a:rPr lang="en-US" sz="2400" b="1" dirty="0">
                <a:solidFill>
                  <a:schemeClr val="accent5"/>
                </a:solidFill>
                <a:latin typeface="Arial" panose="020B0604020202020204" pitchFamily="34" charset="0"/>
                <a:cs typeface="Arial" panose="020B0604020202020204" pitchFamily="34" charset="0"/>
              </a:rPr>
              <a:t>A</a:t>
            </a:r>
            <a:r>
              <a:rPr lang="en-US" sz="2400" dirty="0">
                <a:latin typeface="Arial" panose="020B0604020202020204" pitchFamily="34" charset="0"/>
                <a:cs typeface="Arial" panose="020B0604020202020204" pitchFamily="34" charset="0"/>
              </a:rPr>
              <a:t>, </a:t>
            </a:r>
            <a:r>
              <a:rPr lang="en-US" sz="2400" b="1" dirty="0">
                <a:solidFill>
                  <a:srgbClr val="FFC000"/>
                </a:solidFill>
                <a:latin typeface="Arial" panose="020B0604020202020204" pitchFamily="34" charset="0"/>
                <a:cs typeface="Arial" panose="020B0604020202020204" pitchFamily="34" charset="0"/>
              </a:rPr>
              <a:t>G</a:t>
            </a:r>
            <a:r>
              <a:rPr lang="en-US" sz="2400" b="1" dirty="0">
                <a:solidFill>
                  <a:srgbClr val="00B050"/>
                </a:solidFill>
                <a:latin typeface="Arial" panose="020B0604020202020204" pitchFamily="34" charset="0"/>
                <a:cs typeface="Arial" panose="020B0604020202020204" pitchFamily="34" charset="0"/>
              </a:rPr>
              <a:t>C</a:t>
            </a:r>
            <a:r>
              <a:rPr lang="en-US" sz="2400" dirty="0">
                <a:latin typeface="Arial" panose="020B0604020202020204" pitchFamily="34" charset="0"/>
                <a:cs typeface="Arial" panose="020B0604020202020204" pitchFamily="34" charset="0"/>
              </a:rPr>
              <a:t>, </a:t>
            </a:r>
            <a:r>
              <a:rPr lang="en-US" sz="2400" b="1" dirty="0">
                <a:solidFill>
                  <a:srgbClr val="FFC000"/>
                </a:solidFill>
                <a:latin typeface="Arial" panose="020B0604020202020204" pitchFamily="34" charset="0"/>
                <a:cs typeface="Arial" panose="020B0604020202020204" pitchFamily="34" charset="0"/>
              </a:rPr>
              <a:t>GG</a:t>
            </a:r>
            <a:r>
              <a:rPr lang="en-US" sz="2400" dirty="0">
                <a:latin typeface="Arial" panose="020B0604020202020204" pitchFamily="34" charset="0"/>
                <a:cs typeface="Arial" panose="020B0604020202020204" pitchFamily="34" charset="0"/>
              </a:rPr>
              <a:t>, </a:t>
            </a:r>
            <a:r>
              <a:rPr lang="en-US" sz="2400" b="1" dirty="0">
                <a:solidFill>
                  <a:srgbClr val="FFC000"/>
                </a:solidFill>
                <a:latin typeface="Arial" panose="020B0604020202020204" pitchFamily="34" charset="0"/>
                <a:cs typeface="Arial" panose="020B0604020202020204" pitchFamily="34" charset="0"/>
              </a:rPr>
              <a:t>G</a:t>
            </a:r>
            <a:r>
              <a:rPr lang="en-US" sz="2400" b="1" dirty="0">
                <a:solidFill>
                  <a:srgbClr val="0070C0"/>
                </a:solidFill>
                <a:latin typeface="Arial" panose="020B0604020202020204" pitchFamily="34" charset="0"/>
                <a:cs typeface="Arial" panose="020B0604020202020204" pitchFamily="34" charset="0"/>
              </a:rPr>
              <a:t>T</a:t>
            </a:r>
            <a:r>
              <a:rPr lang="en-US" sz="2400" dirty="0">
                <a:latin typeface="Arial" panose="020B0604020202020204" pitchFamily="34" charset="0"/>
                <a:cs typeface="Arial" panose="020B0604020202020204" pitchFamily="34" charset="0"/>
              </a:rPr>
              <a:t> and </a:t>
            </a:r>
            <a:r>
              <a:rPr lang="en-US" sz="2400" b="1" dirty="0">
                <a:solidFill>
                  <a:srgbClr val="0070C0"/>
                </a:solidFill>
                <a:latin typeface="Arial" panose="020B0604020202020204" pitchFamily="34" charset="0"/>
                <a:cs typeface="Arial" panose="020B0604020202020204" pitchFamily="34" charset="0"/>
              </a:rPr>
              <a:t>T</a:t>
            </a:r>
            <a:r>
              <a:rPr lang="en-US" sz="2400" b="1" dirty="0">
                <a:solidFill>
                  <a:srgbClr val="FFC000"/>
                </a:solidFill>
                <a:latin typeface="Arial" panose="020B0604020202020204" pitchFamily="34" charset="0"/>
                <a:cs typeface="Arial" panose="020B0604020202020204" pitchFamily="34" charset="0"/>
              </a:rPr>
              <a:t>G </a:t>
            </a:r>
            <a:r>
              <a:rPr lang="en-US" sz="2400" dirty="0">
                <a:latin typeface="Arial" panose="020B0604020202020204" pitchFamily="34" charset="0"/>
                <a:cs typeface="Arial" panose="020B0604020202020204" pitchFamily="34" charset="0"/>
              </a:rPr>
              <a:t>k-</a:t>
            </a:r>
            <a:r>
              <a:rPr lang="en-US" sz="2400" dirty="0" err="1">
                <a:latin typeface="Arial" panose="020B0604020202020204" pitchFamily="34" charset="0"/>
                <a:cs typeface="Arial" panose="020B0604020202020204" pitchFamily="34" charset="0"/>
              </a:rPr>
              <a:t>mers</a:t>
            </a:r>
            <a:r>
              <a:rPr lang="en-US" sz="2400" dirty="0">
                <a:latin typeface="Arial" panose="020B0604020202020204" pitchFamily="34" charset="0"/>
                <a:cs typeface="Arial" panose="020B0604020202020204" pitchFamily="34" charset="0"/>
              </a:rPr>
              <a:t> has low frequency values across all species indicating a potentially conserved feature in the </a:t>
            </a:r>
            <a:r>
              <a:rPr lang="en-US" sz="2400" i="1" dirty="0">
                <a:latin typeface="Arial" panose="020B0604020202020204" pitchFamily="34" charset="0"/>
                <a:cs typeface="Arial" panose="020B0604020202020204" pitchFamily="34" charset="0"/>
              </a:rPr>
              <a:t>Muridae</a:t>
            </a:r>
            <a:r>
              <a:rPr lang="en-US" sz="2400" dirty="0">
                <a:latin typeface="Arial" panose="020B0604020202020204" pitchFamily="34" charset="0"/>
                <a:cs typeface="Arial" panose="020B0604020202020204" pitchFamily="34" charset="0"/>
              </a:rPr>
              <a:t> </a:t>
            </a:r>
            <a:r>
              <a:rPr lang="en-US" sz="2400" i="1" dirty="0" err="1">
                <a:latin typeface="Arial" panose="020B0604020202020204" pitchFamily="34" charset="0"/>
                <a:cs typeface="Arial" panose="020B0604020202020204" pitchFamily="34" charset="0"/>
              </a:rPr>
              <a:t>Cytb</a:t>
            </a:r>
            <a:r>
              <a:rPr lang="en-US" sz="2400" dirty="0">
                <a:latin typeface="Arial" panose="020B0604020202020204" pitchFamily="34" charset="0"/>
                <a:cs typeface="Arial" panose="020B0604020202020204" pitchFamily="34" charset="0"/>
              </a:rPr>
              <a:t> gene. To really confirm this observation, an outgroup from another taxon (i.e. </a:t>
            </a:r>
            <a:r>
              <a:rPr lang="en-US" sz="2400" i="1" dirty="0">
                <a:latin typeface="Arial" panose="020B0604020202020204" pitchFamily="34" charset="0"/>
                <a:cs typeface="Arial" panose="020B0604020202020204" pitchFamily="34" charset="0"/>
              </a:rPr>
              <a:t>Rodentia</a:t>
            </a:r>
            <a:r>
              <a:rPr lang="en-US" sz="2400" dirty="0">
                <a:latin typeface="Arial" panose="020B0604020202020204" pitchFamily="34" charset="0"/>
                <a:cs typeface="Arial" panose="020B0604020202020204" pitchFamily="34" charset="0"/>
              </a:rPr>
              <a:t> which is the higher classification or a sister taxon, </a:t>
            </a:r>
            <a:r>
              <a:rPr lang="en-CA" sz="2400" i="1" dirty="0" err="1">
                <a:latin typeface="Arial" panose="020B0604020202020204" pitchFamily="34" charset="0"/>
                <a:cs typeface="Arial" panose="020B0604020202020204" pitchFamily="34" charset="0"/>
              </a:rPr>
              <a:t>Cricetidae</a:t>
            </a:r>
            <a:r>
              <a:rPr lang="en-US" sz="2400" dirty="0">
                <a:latin typeface="Arial" panose="020B0604020202020204" pitchFamily="34" charset="0"/>
                <a:cs typeface="Arial" panose="020B0604020202020204" pitchFamily="34" charset="0"/>
              </a:rPr>
              <a:t>) should be included to perform comparisons.</a:t>
            </a:r>
          </a:p>
          <a:p>
            <a:pPr algn="just"/>
            <a:endParaRPr lang="en-US" sz="2400" dirty="0">
              <a:latin typeface="Arial" panose="020B0604020202020204" pitchFamily="34" charset="0"/>
              <a:cs typeface="Arial" panose="020B0604020202020204" pitchFamily="34" charset="0"/>
            </a:endParaRPr>
          </a:p>
          <a:p>
            <a:pPr algn="just"/>
            <a:r>
              <a:rPr lang="en-US" sz="2400" dirty="0">
                <a:latin typeface="Arial" panose="020B0604020202020204" pitchFamily="34" charset="0"/>
                <a:cs typeface="Arial" panose="020B0604020202020204" pitchFamily="34" charset="0"/>
              </a:rPr>
              <a:t>This figure supports the main hypothesis where k-</a:t>
            </a:r>
            <a:r>
              <a:rPr lang="en-US" sz="2400" dirty="0" err="1">
                <a:latin typeface="Arial" panose="020B0604020202020204" pitchFamily="34" charset="0"/>
                <a:cs typeface="Arial" panose="020B0604020202020204" pitchFamily="34" charset="0"/>
              </a:rPr>
              <a:t>mer</a:t>
            </a:r>
            <a:r>
              <a:rPr lang="en-US" sz="2400" dirty="0">
                <a:latin typeface="Arial" panose="020B0604020202020204" pitchFamily="34" charset="0"/>
                <a:cs typeface="Arial" panose="020B0604020202020204" pitchFamily="34" charset="0"/>
              </a:rPr>
              <a:t> dinucleotide frequencies contribute differently to each </a:t>
            </a:r>
            <a:r>
              <a:rPr lang="en-US" sz="2400" i="1" dirty="0">
                <a:latin typeface="Arial" panose="020B0604020202020204" pitchFamily="34" charset="0"/>
                <a:cs typeface="Arial" panose="020B0604020202020204" pitchFamily="34" charset="0"/>
              </a:rPr>
              <a:t>Muridae</a:t>
            </a:r>
            <a:r>
              <a:rPr lang="en-US" sz="2400" dirty="0">
                <a:latin typeface="Arial" panose="020B0604020202020204" pitchFamily="34" charset="0"/>
                <a:cs typeface="Arial" panose="020B0604020202020204" pitchFamily="34" charset="0"/>
              </a:rPr>
              <a:t> species.</a:t>
            </a:r>
          </a:p>
        </p:txBody>
      </p:sp>
    </p:spTree>
    <p:extLst>
      <p:ext uri="{BB962C8B-B14F-4D97-AF65-F5344CB8AC3E}">
        <p14:creationId xmlns:p14="http://schemas.microsoft.com/office/powerpoint/2010/main" val="23917830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DAF751E-9800-AA99-7639-03A8055937B6}"/>
              </a:ext>
            </a:extLst>
          </p:cNvPr>
          <p:cNvSpPr txBox="1"/>
          <p:nvPr/>
        </p:nvSpPr>
        <p:spPr>
          <a:xfrm>
            <a:off x="-14990" y="-14990"/>
            <a:ext cx="12206990" cy="584775"/>
          </a:xfrm>
          <a:prstGeom prst="rect">
            <a:avLst/>
          </a:prstGeom>
          <a:solidFill>
            <a:schemeClr val="tx2"/>
          </a:solidFill>
        </p:spPr>
        <p:txBody>
          <a:bodyPr wrap="square" rtlCol="0">
            <a:spAutoFit/>
          </a:bodyPr>
          <a:lstStyle/>
          <a:p>
            <a:r>
              <a:rPr lang="en-US" sz="3200" b="1" dirty="0">
                <a:solidFill>
                  <a:schemeClr val="bg1"/>
                </a:solidFill>
                <a:latin typeface="Arial" panose="020B0604020202020204" pitchFamily="34" charset="0"/>
                <a:cs typeface="Arial" panose="020B0604020202020204" pitchFamily="34" charset="0"/>
              </a:rPr>
              <a:t>The RF clusters </a:t>
            </a:r>
            <a:r>
              <a:rPr lang="en-US" sz="3200" b="1" i="1" dirty="0">
                <a:solidFill>
                  <a:schemeClr val="bg1"/>
                </a:solidFill>
                <a:latin typeface="Arial" panose="020B0604020202020204" pitchFamily="34" charset="0"/>
                <a:cs typeface="Arial" panose="020B0604020202020204" pitchFamily="34" charset="0"/>
              </a:rPr>
              <a:t>Muridae</a:t>
            </a:r>
            <a:r>
              <a:rPr lang="en-US" sz="3200" b="1" dirty="0">
                <a:solidFill>
                  <a:schemeClr val="bg1"/>
                </a:solidFill>
                <a:latin typeface="Arial" panose="020B0604020202020204" pitchFamily="34" charset="0"/>
                <a:cs typeface="Arial" panose="020B0604020202020204" pitchFamily="34" charset="0"/>
              </a:rPr>
              <a:t> species during training</a:t>
            </a:r>
          </a:p>
        </p:txBody>
      </p:sp>
      <p:pic>
        <p:nvPicPr>
          <p:cNvPr id="9" name="Picture 8" descr="A diagram of different colored dots&#10;&#10;AI-generated content may be incorrect.">
            <a:extLst>
              <a:ext uri="{FF2B5EF4-FFF2-40B4-BE49-F238E27FC236}">
                <a16:creationId xmlns:a16="http://schemas.microsoft.com/office/drawing/2014/main" id="{4E535E53-41D3-861B-34CB-14ADC086F86F}"/>
              </a:ext>
            </a:extLst>
          </p:cNvPr>
          <p:cNvPicPr>
            <a:picLocks noChangeAspect="1"/>
          </p:cNvPicPr>
          <p:nvPr/>
        </p:nvPicPr>
        <p:blipFill>
          <a:blip r:embed="rId2"/>
          <a:srcRect t="11879" b="2986"/>
          <a:stretch>
            <a:fillRect/>
          </a:stretch>
        </p:blipFill>
        <p:spPr>
          <a:xfrm>
            <a:off x="1693936" y="587700"/>
            <a:ext cx="8789137" cy="6270300"/>
          </a:xfrm>
          <a:prstGeom prst="rect">
            <a:avLst/>
          </a:prstGeom>
        </p:spPr>
      </p:pic>
    </p:spTree>
    <p:extLst>
      <p:ext uri="{BB962C8B-B14F-4D97-AF65-F5344CB8AC3E}">
        <p14:creationId xmlns:p14="http://schemas.microsoft.com/office/powerpoint/2010/main" val="3419046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80C0A8-3234-69EA-2119-9FCBFD2D192D}"/>
              </a:ext>
            </a:extLst>
          </p:cNvPr>
          <p:cNvSpPr txBox="1"/>
          <p:nvPr/>
        </p:nvSpPr>
        <p:spPr>
          <a:xfrm>
            <a:off x="-14990" y="-14990"/>
            <a:ext cx="12206990" cy="584775"/>
          </a:xfrm>
          <a:prstGeom prst="rect">
            <a:avLst/>
          </a:prstGeom>
          <a:solidFill>
            <a:schemeClr val="tx2"/>
          </a:solidFill>
        </p:spPr>
        <p:txBody>
          <a:bodyPr wrap="square" rtlCol="0">
            <a:spAutoFit/>
          </a:bodyPr>
          <a:lstStyle/>
          <a:p>
            <a:r>
              <a:rPr lang="en-US" sz="3200" b="1" dirty="0">
                <a:solidFill>
                  <a:schemeClr val="bg1"/>
                </a:solidFill>
                <a:latin typeface="Arial" panose="020B0604020202020204" pitchFamily="34" charset="0"/>
                <a:cs typeface="Arial" panose="020B0604020202020204" pitchFamily="34" charset="0"/>
              </a:rPr>
              <a:t>Discussion: RF model training on </a:t>
            </a:r>
            <a:r>
              <a:rPr lang="en-US" sz="3200" b="1" i="1" dirty="0">
                <a:solidFill>
                  <a:schemeClr val="bg1"/>
                </a:solidFill>
                <a:latin typeface="Arial" panose="020B0604020202020204" pitchFamily="34" charset="0"/>
                <a:cs typeface="Arial" panose="020B0604020202020204" pitchFamily="34" charset="0"/>
              </a:rPr>
              <a:t>Muridae </a:t>
            </a:r>
            <a:r>
              <a:rPr lang="en-US" sz="3200" b="1" dirty="0">
                <a:solidFill>
                  <a:schemeClr val="bg1"/>
                </a:solidFill>
                <a:latin typeface="Arial" panose="020B0604020202020204" pitchFamily="34" charset="0"/>
                <a:cs typeface="Arial" panose="020B0604020202020204" pitchFamily="34" charset="0"/>
              </a:rPr>
              <a:t>species</a:t>
            </a:r>
          </a:p>
        </p:txBody>
      </p:sp>
      <p:sp>
        <p:nvSpPr>
          <p:cNvPr id="3" name="TextBox 2">
            <a:extLst>
              <a:ext uri="{FF2B5EF4-FFF2-40B4-BE49-F238E27FC236}">
                <a16:creationId xmlns:a16="http://schemas.microsoft.com/office/drawing/2014/main" id="{61BD2AF8-3FAF-83FF-E716-5CA0F05F00CB}"/>
              </a:ext>
            </a:extLst>
          </p:cNvPr>
          <p:cNvSpPr txBox="1"/>
          <p:nvPr/>
        </p:nvSpPr>
        <p:spPr>
          <a:xfrm>
            <a:off x="-14990" y="569785"/>
            <a:ext cx="12206990" cy="5401479"/>
          </a:xfrm>
          <a:prstGeom prst="rect">
            <a:avLst/>
          </a:prstGeom>
          <a:noFill/>
        </p:spPr>
        <p:txBody>
          <a:bodyPr wrap="square" rtlCol="0">
            <a:spAutoFit/>
          </a:bodyPr>
          <a:lstStyle/>
          <a:p>
            <a:pPr algn="just"/>
            <a:r>
              <a:rPr lang="en-US" sz="2300" dirty="0">
                <a:latin typeface="Arial" panose="020B0604020202020204" pitchFamily="34" charset="0"/>
                <a:cs typeface="Arial" panose="020B0604020202020204" pitchFamily="34" charset="0"/>
              </a:rPr>
              <a:t>From the previous figure, we can observe that the </a:t>
            </a:r>
            <a:r>
              <a:rPr lang="en-US" sz="2300" i="1" dirty="0">
                <a:latin typeface="Arial" panose="020B0604020202020204" pitchFamily="34" charset="0"/>
                <a:cs typeface="Arial" panose="020B0604020202020204" pitchFamily="34" charset="0"/>
              </a:rPr>
              <a:t>Muridae</a:t>
            </a:r>
            <a:r>
              <a:rPr lang="en-US" sz="2300" dirty="0">
                <a:latin typeface="Arial" panose="020B0604020202020204" pitchFamily="34" charset="0"/>
                <a:cs typeface="Arial" panose="020B0604020202020204" pitchFamily="34" charset="0"/>
              </a:rPr>
              <a:t> species cluster in species. Specifically, this can be seen with the </a:t>
            </a:r>
            <a:r>
              <a:rPr lang="en-US" sz="2300" i="1" dirty="0">
                <a:latin typeface="Arial" panose="020B0604020202020204" pitchFamily="34" charset="0"/>
                <a:cs typeface="Arial" panose="020B0604020202020204" pitchFamily="34" charset="0"/>
              </a:rPr>
              <a:t>Mus musculus </a:t>
            </a:r>
            <a:r>
              <a:rPr lang="en-US" sz="2300" dirty="0">
                <a:latin typeface="Arial" panose="020B0604020202020204" pitchFamily="34" charset="0"/>
                <a:cs typeface="Arial" panose="020B0604020202020204" pitchFamily="34" charset="0"/>
              </a:rPr>
              <a:t>species as it makes its own distinct cluster on the middle right (</a:t>
            </a:r>
            <a:r>
              <a:rPr lang="en-US" sz="2300" dirty="0">
                <a:solidFill>
                  <a:srgbClr val="FFC000"/>
                </a:solidFill>
                <a:latin typeface="Arial" panose="020B0604020202020204" pitchFamily="34" charset="0"/>
                <a:cs typeface="Arial" panose="020B0604020202020204" pitchFamily="34" charset="0"/>
              </a:rPr>
              <a:t>yellow cluster</a:t>
            </a:r>
            <a:r>
              <a:rPr lang="en-US" sz="2300" dirty="0">
                <a:latin typeface="Arial" panose="020B0604020202020204" pitchFamily="34" charset="0"/>
                <a:cs typeface="Arial" panose="020B0604020202020204" pitchFamily="34" charset="0"/>
              </a:rPr>
              <a:t>). The </a:t>
            </a:r>
            <a:r>
              <a:rPr lang="en-US" sz="2300" i="1" dirty="0">
                <a:latin typeface="Arial" panose="020B0604020202020204" pitchFamily="34" charset="0"/>
                <a:cs typeface="Arial" panose="020B0604020202020204" pitchFamily="34" charset="0"/>
              </a:rPr>
              <a:t>Rattus</a:t>
            </a:r>
            <a:r>
              <a:rPr lang="en-US" sz="2300" dirty="0">
                <a:latin typeface="Arial" panose="020B0604020202020204" pitchFamily="34" charset="0"/>
                <a:cs typeface="Arial" panose="020B0604020202020204" pitchFamily="34" charset="0"/>
              </a:rPr>
              <a:t> </a:t>
            </a:r>
            <a:r>
              <a:rPr lang="en-US" sz="2300" i="1" dirty="0">
                <a:latin typeface="Arial" panose="020B0604020202020204" pitchFamily="34" charset="0"/>
                <a:cs typeface="Arial" panose="020B0604020202020204" pitchFamily="34" charset="0"/>
              </a:rPr>
              <a:t>norvegicus (</a:t>
            </a:r>
            <a:r>
              <a:rPr lang="en-US" sz="2300" dirty="0">
                <a:solidFill>
                  <a:schemeClr val="accent5">
                    <a:lumMod val="60000"/>
                    <a:lumOff val="40000"/>
                  </a:schemeClr>
                </a:solidFill>
                <a:latin typeface="Arial" panose="020B0604020202020204" pitchFamily="34" charset="0"/>
                <a:cs typeface="Arial" panose="020B0604020202020204" pitchFamily="34" charset="0"/>
              </a:rPr>
              <a:t>magenta cluster</a:t>
            </a:r>
            <a:r>
              <a:rPr lang="en-US" sz="2300" i="1" dirty="0">
                <a:latin typeface="Arial" panose="020B0604020202020204" pitchFamily="34" charset="0"/>
                <a:cs typeface="Arial" panose="020B0604020202020204" pitchFamily="34" charset="0"/>
              </a:rPr>
              <a:t>) </a:t>
            </a:r>
            <a:r>
              <a:rPr lang="en-US" sz="2300" dirty="0">
                <a:latin typeface="Arial" panose="020B0604020202020204" pitchFamily="34" charset="0"/>
                <a:cs typeface="Arial" panose="020B0604020202020204" pitchFamily="34" charset="0"/>
              </a:rPr>
              <a:t>and the </a:t>
            </a:r>
            <a:r>
              <a:rPr lang="en-US" sz="2300" i="1" dirty="0">
                <a:latin typeface="Arial" panose="020B0604020202020204" pitchFamily="34" charset="0"/>
                <a:cs typeface="Arial" panose="020B0604020202020204" pitchFamily="34" charset="0"/>
              </a:rPr>
              <a:t>Mus triton (</a:t>
            </a:r>
            <a:r>
              <a:rPr lang="en-US" sz="2300" dirty="0">
                <a:solidFill>
                  <a:srgbClr val="00B050"/>
                </a:solidFill>
                <a:latin typeface="Arial" panose="020B0604020202020204" pitchFamily="34" charset="0"/>
                <a:cs typeface="Arial" panose="020B0604020202020204" pitchFamily="34" charset="0"/>
              </a:rPr>
              <a:t>green cluster</a:t>
            </a:r>
            <a:r>
              <a:rPr lang="en-US" sz="2300" i="1" dirty="0">
                <a:latin typeface="Arial" panose="020B0604020202020204" pitchFamily="34" charset="0"/>
                <a:cs typeface="Arial" panose="020B0604020202020204" pitchFamily="34" charset="0"/>
              </a:rPr>
              <a:t>) </a:t>
            </a:r>
            <a:r>
              <a:rPr lang="en-US" sz="2300" dirty="0">
                <a:latin typeface="Arial" panose="020B0604020202020204" pitchFamily="34" charset="0"/>
                <a:cs typeface="Arial" panose="020B0604020202020204" pitchFamily="34" charset="0"/>
              </a:rPr>
              <a:t>species also form their own distinct cluster.</a:t>
            </a:r>
          </a:p>
          <a:p>
            <a:r>
              <a:rPr lang="en-US" sz="2300" dirty="0">
                <a:latin typeface="Arial" panose="020B0604020202020204" pitchFamily="34" charset="0"/>
                <a:cs typeface="Arial" panose="020B0604020202020204" pitchFamily="34" charset="0"/>
              </a:rPr>
              <a:t>The PERMANOVA test can also tell a lot of information:</a:t>
            </a:r>
          </a:p>
          <a:p>
            <a:pPr marL="342900" indent="-342900">
              <a:buFont typeface="Arial" panose="020B0604020202020204" pitchFamily="34" charset="0"/>
              <a:buChar char="•"/>
            </a:pPr>
            <a:r>
              <a:rPr lang="en-US" sz="2300" dirty="0">
                <a:latin typeface="Arial" panose="020B0604020202020204" pitchFamily="34" charset="0"/>
                <a:cs typeface="Arial" panose="020B0604020202020204" pitchFamily="34" charset="0"/>
              </a:rPr>
              <a:t>significant (p = 0.001)</a:t>
            </a:r>
          </a:p>
          <a:p>
            <a:pPr marL="342900" indent="-342900">
              <a:buFont typeface="Arial" panose="020B0604020202020204" pitchFamily="34" charset="0"/>
              <a:buChar char="•"/>
            </a:pPr>
            <a:r>
              <a:rPr lang="en-US" sz="2300" dirty="0">
                <a:latin typeface="Arial" panose="020B0604020202020204" pitchFamily="34" charset="0"/>
                <a:cs typeface="Arial" panose="020B0604020202020204" pitchFamily="34" charset="0"/>
              </a:rPr>
              <a:t>R</a:t>
            </a:r>
            <a:r>
              <a:rPr lang="en-US" sz="2300" baseline="30000" dirty="0">
                <a:latin typeface="Arial" panose="020B0604020202020204" pitchFamily="34" charset="0"/>
                <a:cs typeface="Arial" panose="020B0604020202020204" pitchFamily="34" charset="0"/>
              </a:rPr>
              <a:t>2</a:t>
            </a:r>
            <a:r>
              <a:rPr lang="en-US" sz="2300" dirty="0">
                <a:latin typeface="Arial" panose="020B0604020202020204" pitchFamily="34" charset="0"/>
                <a:cs typeface="Arial" panose="020B0604020202020204" pitchFamily="34" charset="0"/>
              </a:rPr>
              <a:t> value is 0.892 and is close to 1, indicating a good fit</a:t>
            </a:r>
          </a:p>
          <a:p>
            <a:pPr marL="342900" indent="-342900">
              <a:buFont typeface="Arial" panose="020B0604020202020204" pitchFamily="34" charset="0"/>
              <a:buChar char="•"/>
            </a:pPr>
            <a:r>
              <a:rPr lang="en-US" sz="2300" dirty="0">
                <a:latin typeface="Arial" panose="020B0604020202020204" pitchFamily="34" charset="0"/>
                <a:cs typeface="Arial" panose="020B0604020202020204" pitchFamily="34" charset="0"/>
              </a:rPr>
              <a:t>F statistic value of 40.564 which is a high value and indicates that there is a greater variation between sample means relative to the variations within samples</a:t>
            </a:r>
          </a:p>
          <a:p>
            <a:pPr marL="342900" indent="-342900">
              <a:buFont typeface="Arial" panose="020B0604020202020204" pitchFamily="34" charset="0"/>
              <a:buChar char="•"/>
            </a:pPr>
            <a:endParaRPr lang="en-US" sz="2300" dirty="0">
              <a:latin typeface="Arial" panose="020B0604020202020204" pitchFamily="34" charset="0"/>
              <a:cs typeface="Arial" panose="020B0604020202020204" pitchFamily="34" charset="0"/>
            </a:endParaRPr>
          </a:p>
          <a:p>
            <a:pPr algn="just"/>
            <a:r>
              <a:rPr lang="en-US" sz="2300" b="1" dirty="0">
                <a:latin typeface="Arial" panose="020B0604020202020204" pitchFamily="34" charset="0"/>
                <a:cs typeface="Arial" panose="020B0604020202020204" pitchFamily="34" charset="0"/>
              </a:rPr>
              <a:t>Potential bias </a:t>
            </a:r>
            <a:r>
              <a:rPr lang="en-US" sz="2300" dirty="0">
                <a:latin typeface="Arial" panose="020B0604020202020204" pitchFamily="34" charset="0"/>
                <a:cs typeface="Arial" panose="020B0604020202020204" pitchFamily="34" charset="0"/>
              </a:rPr>
              <a:t>- An explanation to the one cluster formed for the </a:t>
            </a:r>
            <a:r>
              <a:rPr lang="en-US" sz="2300" i="1" dirty="0">
                <a:latin typeface="Arial" panose="020B0604020202020204" pitchFamily="34" charset="0"/>
                <a:cs typeface="Arial" panose="020B0604020202020204" pitchFamily="34" charset="0"/>
              </a:rPr>
              <a:t>Mus musculus </a:t>
            </a:r>
            <a:r>
              <a:rPr lang="en-US" sz="2300" dirty="0">
                <a:latin typeface="Arial" panose="020B0604020202020204" pitchFamily="34" charset="0"/>
                <a:cs typeface="Arial" panose="020B0604020202020204" pitchFamily="34" charset="0"/>
              </a:rPr>
              <a:t>group is that it is such as well-studied model organism as compared to other </a:t>
            </a:r>
            <a:r>
              <a:rPr lang="en-US" sz="2300" i="1" dirty="0">
                <a:latin typeface="Arial" panose="020B0604020202020204" pitchFamily="34" charset="0"/>
                <a:cs typeface="Arial" panose="020B0604020202020204" pitchFamily="34" charset="0"/>
              </a:rPr>
              <a:t>Muridae</a:t>
            </a:r>
            <a:r>
              <a:rPr lang="en-US" sz="2300" dirty="0">
                <a:latin typeface="Arial" panose="020B0604020202020204" pitchFamily="34" charset="0"/>
                <a:cs typeface="Arial" panose="020B0604020202020204" pitchFamily="34" charset="0"/>
              </a:rPr>
              <a:t> species and thus they have vast amounts of information available (</a:t>
            </a:r>
            <a:r>
              <a:rPr lang="en-CA" sz="2300" dirty="0" err="1">
                <a:latin typeface="Arial" panose="020B0604020202020204" pitchFamily="34" charset="0"/>
                <a:cs typeface="Arial" panose="020B0604020202020204" pitchFamily="34" charset="0"/>
              </a:rPr>
              <a:t>Standley</a:t>
            </a:r>
            <a:r>
              <a:rPr lang="en-CA" sz="2300" dirty="0">
                <a:latin typeface="Arial" panose="020B0604020202020204" pitchFamily="34" charset="0"/>
                <a:cs typeface="Arial" panose="020B0604020202020204" pitchFamily="34" charset="0"/>
              </a:rPr>
              <a:t> &amp; Xie., 2024)</a:t>
            </a:r>
            <a:r>
              <a:rPr lang="en-US" sz="2300" dirty="0">
                <a:latin typeface="Arial" panose="020B0604020202020204" pitchFamily="34" charset="0"/>
                <a:cs typeface="Arial" panose="020B0604020202020204" pitchFamily="34" charset="0"/>
              </a:rPr>
              <a:t>. If more sampling was done to other </a:t>
            </a:r>
            <a:r>
              <a:rPr lang="en-US" sz="2300" i="1" dirty="0">
                <a:latin typeface="Arial" panose="020B0604020202020204" pitchFamily="34" charset="0"/>
                <a:cs typeface="Arial" panose="020B0604020202020204" pitchFamily="34" charset="0"/>
              </a:rPr>
              <a:t>Muridae</a:t>
            </a:r>
            <a:r>
              <a:rPr lang="en-US" sz="2300" dirty="0">
                <a:latin typeface="Arial" panose="020B0604020202020204" pitchFamily="34" charset="0"/>
                <a:cs typeface="Arial" panose="020B0604020202020204" pitchFamily="34" charset="0"/>
              </a:rPr>
              <a:t> species, we can anticipate they can form their own distinct group as opposed to one giant mixed cluster.</a:t>
            </a:r>
          </a:p>
        </p:txBody>
      </p:sp>
    </p:spTree>
    <p:extLst>
      <p:ext uri="{BB962C8B-B14F-4D97-AF65-F5344CB8AC3E}">
        <p14:creationId xmlns:p14="http://schemas.microsoft.com/office/powerpoint/2010/main" val="3351172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FE4D3E-BCA3-9254-17EF-5847B7B4676F}"/>
              </a:ext>
            </a:extLst>
          </p:cNvPr>
          <p:cNvSpPr txBox="1"/>
          <p:nvPr/>
        </p:nvSpPr>
        <p:spPr>
          <a:xfrm>
            <a:off x="-14990" y="-14990"/>
            <a:ext cx="12206990" cy="584775"/>
          </a:xfrm>
          <a:prstGeom prst="rect">
            <a:avLst/>
          </a:prstGeom>
          <a:solidFill>
            <a:schemeClr val="tx2"/>
          </a:solidFill>
        </p:spPr>
        <p:txBody>
          <a:bodyPr wrap="square" rtlCol="0">
            <a:spAutoFit/>
          </a:bodyPr>
          <a:lstStyle/>
          <a:p>
            <a:r>
              <a:rPr lang="en-US" sz="3200" b="1" dirty="0">
                <a:solidFill>
                  <a:schemeClr val="bg1"/>
                </a:solidFill>
                <a:latin typeface="Arial" panose="020B0604020202020204" pitchFamily="34" charset="0"/>
                <a:cs typeface="Arial" panose="020B0604020202020204" pitchFamily="34" charset="0"/>
              </a:rPr>
              <a:t>Next steps and follow-ups in investigating </a:t>
            </a:r>
            <a:r>
              <a:rPr lang="en-US" sz="3200" b="1" i="1" dirty="0">
                <a:solidFill>
                  <a:schemeClr val="bg1"/>
                </a:solidFill>
                <a:latin typeface="Arial" panose="020B0604020202020204" pitchFamily="34" charset="0"/>
                <a:cs typeface="Arial" panose="020B0604020202020204" pitchFamily="34" charset="0"/>
              </a:rPr>
              <a:t>Muridae</a:t>
            </a:r>
            <a:r>
              <a:rPr lang="en-US" sz="3200" b="1" dirty="0">
                <a:solidFill>
                  <a:schemeClr val="bg1"/>
                </a:solidFill>
                <a:latin typeface="Arial" panose="020B0604020202020204" pitchFamily="34" charset="0"/>
                <a:cs typeface="Arial" panose="020B0604020202020204" pitchFamily="34" charset="0"/>
              </a:rPr>
              <a:t> species</a:t>
            </a:r>
          </a:p>
        </p:txBody>
      </p:sp>
      <p:sp>
        <p:nvSpPr>
          <p:cNvPr id="3" name="TextBox 2">
            <a:extLst>
              <a:ext uri="{FF2B5EF4-FFF2-40B4-BE49-F238E27FC236}">
                <a16:creationId xmlns:a16="http://schemas.microsoft.com/office/drawing/2014/main" id="{4551E434-9703-D3D5-6B4A-54FEEA2A2314}"/>
              </a:ext>
            </a:extLst>
          </p:cNvPr>
          <p:cNvSpPr txBox="1"/>
          <p:nvPr/>
        </p:nvSpPr>
        <p:spPr>
          <a:xfrm>
            <a:off x="1" y="569785"/>
            <a:ext cx="12206990" cy="5847755"/>
          </a:xfrm>
          <a:prstGeom prst="rect">
            <a:avLst/>
          </a:prstGeom>
          <a:noFill/>
        </p:spPr>
        <p:txBody>
          <a:bodyPr wrap="square" rtlCol="0">
            <a:spAutoFit/>
          </a:bodyPr>
          <a:lstStyle/>
          <a:p>
            <a:pPr algn="just"/>
            <a:r>
              <a:rPr lang="en-US" sz="2200" dirty="0">
                <a:latin typeface="Arial" panose="020B0604020202020204" pitchFamily="34" charset="0"/>
                <a:cs typeface="Arial" panose="020B0604020202020204" pitchFamily="34" charset="0"/>
              </a:rPr>
              <a:t>Some of the </a:t>
            </a:r>
            <a:r>
              <a:rPr lang="en-US" sz="2200" i="1" dirty="0">
                <a:latin typeface="Arial" panose="020B0604020202020204" pitchFamily="34" charset="0"/>
                <a:cs typeface="Arial" panose="020B0604020202020204" pitchFamily="34" charset="0"/>
              </a:rPr>
              <a:t>Muridae</a:t>
            </a:r>
            <a:r>
              <a:rPr lang="en-US" sz="2200" dirty="0">
                <a:latin typeface="Arial" panose="020B0604020202020204" pitchFamily="34" charset="0"/>
                <a:cs typeface="Arial" panose="020B0604020202020204" pitchFamily="34" charset="0"/>
              </a:rPr>
              <a:t> species were misclassified in the RF model (such as the </a:t>
            </a:r>
            <a:r>
              <a:rPr lang="en-US" sz="2200" i="1" dirty="0">
                <a:latin typeface="Arial" panose="020B0604020202020204" pitchFamily="34" charset="0"/>
                <a:cs typeface="Arial" panose="020B0604020202020204" pitchFamily="34" charset="0"/>
              </a:rPr>
              <a:t>Apodemus</a:t>
            </a:r>
            <a:r>
              <a:rPr lang="en-US" sz="2200" dirty="0">
                <a:latin typeface="Arial" panose="020B0604020202020204" pitchFamily="34" charset="0"/>
                <a:cs typeface="Arial" panose="020B0604020202020204" pitchFamily="34" charset="0"/>
              </a:rPr>
              <a:t> </a:t>
            </a:r>
            <a:r>
              <a:rPr lang="en-US" sz="2200" i="1" dirty="0">
                <a:latin typeface="Arial" panose="020B0604020202020204" pitchFamily="34" charset="0"/>
                <a:cs typeface="Arial" panose="020B0604020202020204" pitchFamily="34" charset="0"/>
              </a:rPr>
              <a:t>draco</a:t>
            </a:r>
            <a:r>
              <a:rPr lang="en-US" sz="2200" dirty="0">
                <a:latin typeface="Arial" panose="020B0604020202020204" pitchFamily="34" charset="0"/>
                <a:cs typeface="Arial" panose="020B0604020202020204" pitchFamily="34" charset="0"/>
              </a:rPr>
              <a:t> misclassified as </a:t>
            </a:r>
            <a:r>
              <a:rPr lang="en-US" sz="2200" i="1" dirty="0">
                <a:latin typeface="Arial" panose="020B0604020202020204" pitchFamily="34" charset="0"/>
                <a:cs typeface="Arial" panose="020B0604020202020204" pitchFamily="34" charset="0"/>
              </a:rPr>
              <a:t>Apodemus</a:t>
            </a:r>
            <a:r>
              <a:rPr lang="en-US" sz="2200" dirty="0">
                <a:latin typeface="Arial" panose="020B0604020202020204" pitchFamily="34" charset="0"/>
                <a:cs typeface="Arial" panose="020B0604020202020204" pitchFamily="34" charset="0"/>
              </a:rPr>
              <a:t> </a:t>
            </a:r>
            <a:r>
              <a:rPr lang="en-US" sz="2200" i="1" dirty="0">
                <a:latin typeface="Arial" panose="020B0604020202020204" pitchFamily="34" charset="0"/>
                <a:cs typeface="Arial" panose="020B0604020202020204" pitchFamily="34" charset="0"/>
              </a:rPr>
              <a:t>ilex</a:t>
            </a:r>
            <a:r>
              <a:rPr lang="en-US" sz="2200" dirty="0">
                <a:latin typeface="Arial" panose="020B0604020202020204" pitchFamily="34" charset="0"/>
                <a:cs typeface="Arial" panose="020B0604020202020204" pitchFamily="34" charset="0"/>
              </a:rPr>
              <a:t>). To generate a more robust method of classification, other features and models can be used. Some include:</a:t>
            </a:r>
          </a:p>
          <a:p>
            <a:pPr marL="342900" indent="-342900" algn="just">
              <a:buFont typeface="Arial" panose="020B0604020202020204" pitchFamily="34" charset="0"/>
              <a:buChar char="•"/>
            </a:pPr>
            <a:r>
              <a:rPr lang="en-US" sz="2200" dirty="0">
                <a:latin typeface="Arial" panose="020B0604020202020204" pitchFamily="34" charset="0"/>
                <a:cs typeface="Arial" panose="020B0604020202020204" pitchFamily="34" charset="0"/>
              </a:rPr>
              <a:t>GC content and different k-</a:t>
            </a:r>
            <a:r>
              <a:rPr lang="en-US" sz="2200" dirty="0" err="1">
                <a:latin typeface="Arial" panose="020B0604020202020204" pitchFamily="34" charset="0"/>
                <a:cs typeface="Arial" panose="020B0604020202020204" pitchFamily="34" charset="0"/>
              </a:rPr>
              <a:t>mer</a:t>
            </a:r>
            <a:r>
              <a:rPr lang="en-US" sz="2200" dirty="0">
                <a:latin typeface="Arial" panose="020B0604020202020204" pitchFamily="34" charset="0"/>
                <a:cs typeface="Arial" panose="020B0604020202020204" pitchFamily="34" charset="0"/>
              </a:rPr>
              <a:t> sizes in </a:t>
            </a:r>
            <a:r>
              <a:rPr lang="en-US" sz="2200" i="1" dirty="0">
                <a:latin typeface="Arial" panose="020B0604020202020204" pitchFamily="34" charset="0"/>
                <a:cs typeface="Arial" panose="020B0604020202020204" pitchFamily="34" charset="0"/>
              </a:rPr>
              <a:t>Muridae</a:t>
            </a:r>
            <a:r>
              <a:rPr lang="en-US" sz="2200" dirty="0">
                <a:latin typeface="Arial" panose="020B0604020202020204" pitchFamily="34" charset="0"/>
                <a:cs typeface="Arial" panose="020B0604020202020204" pitchFamily="34" charset="0"/>
              </a:rPr>
              <a:t> species (Li et al., 2020)</a:t>
            </a:r>
          </a:p>
          <a:p>
            <a:pPr marL="342900" indent="-342900" algn="just">
              <a:buFont typeface="Arial" panose="020B0604020202020204" pitchFamily="34" charset="0"/>
              <a:buChar char="•"/>
            </a:pPr>
            <a:r>
              <a:rPr lang="en-US" sz="2200" dirty="0">
                <a:latin typeface="Arial" panose="020B0604020202020204" pitchFamily="34" charset="0"/>
                <a:cs typeface="Arial" panose="020B0604020202020204" pitchFamily="34" charset="0"/>
              </a:rPr>
              <a:t>Multi-gene classifier that combines the multiple genes at once instead of each gene separately (</a:t>
            </a:r>
            <a:r>
              <a:rPr lang="en-CA" sz="2200" dirty="0">
                <a:latin typeface="Arial" panose="020B0604020202020204" pitchFamily="34" charset="0"/>
                <a:cs typeface="Arial" panose="020B0604020202020204" pitchFamily="34" charset="0"/>
              </a:rPr>
              <a:t>Klimov et al., 2019)</a:t>
            </a:r>
            <a:r>
              <a:rPr lang="en-US" sz="2200" dirty="0">
                <a:latin typeface="Arial" panose="020B0604020202020204" pitchFamily="34" charset="0"/>
                <a:cs typeface="Arial" panose="020B0604020202020204" pitchFamily="34" charset="0"/>
              </a:rPr>
              <a:t>. For this analysis, it would be to use all 3 genes at once. This will let us see if using all 3 genes increases the accuracy of species classification.</a:t>
            </a:r>
          </a:p>
          <a:p>
            <a:pPr algn="just"/>
            <a:endParaRPr lang="en-US" sz="2200" dirty="0">
              <a:latin typeface="Arial" panose="020B0604020202020204" pitchFamily="34" charset="0"/>
              <a:cs typeface="Arial" panose="020B0604020202020204" pitchFamily="34" charset="0"/>
            </a:endParaRPr>
          </a:p>
          <a:p>
            <a:pPr algn="just"/>
            <a:r>
              <a:rPr lang="en-US" sz="2200" dirty="0">
                <a:latin typeface="Arial" panose="020B0604020202020204" pitchFamily="34" charset="0"/>
                <a:cs typeface="Arial" panose="020B0604020202020204" pitchFamily="34" charset="0"/>
              </a:rPr>
              <a:t>Due to the limit of time, some next steps is to graph the validation data to see whether it lines up with the training data. This way, we can see if the training model is either overfitted or underfitted. In addition, the PLS model can be used to apply to the species classifier. In addition, we can repeat the analysis with another gene such as </a:t>
            </a:r>
            <a:r>
              <a:rPr lang="en-US" sz="2200" i="1" dirty="0" err="1">
                <a:latin typeface="Arial" panose="020B0604020202020204" pitchFamily="34" charset="0"/>
                <a:cs typeface="Arial" panose="020B0604020202020204" pitchFamily="34" charset="0"/>
              </a:rPr>
              <a:t>Irbp</a:t>
            </a:r>
            <a:r>
              <a:rPr lang="en-US" sz="2200" dirty="0">
                <a:latin typeface="Arial" panose="020B0604020202020204" pitchFamily="34" charset="0"/>
                <a:cs typeface="Arial" panose="020B0604020202020204" pitchFamily="34" charset="0"/>
              </a:rPr>
              <a:t> and </a:t>
            </a:r>
            <a:r>
              <a:rPr lang="en-US" sz="2200" i="1" dirty="0">
                <a:latin typeface="Arial" panose="020B0604020202020204" pitchFamily="34" charset="0"/>
                <a:cs typeface="Arial" panose="020B0604020202020204" pitchFamily="34" charset="0"/>
              </a:rPr>
              <a:t>Rag1</a:t>
            </a:r>
            <a:r>
              <a:rPr lang="en-US" sz="2200" dirty="0">
                <a:latin typeface="Arial" panose="020B0604020202020204" pitchFamily="34" charset="0"/>
                <a:cs typeface="Arial" panose="020B0604020202020204" pitchFamily="34" charset="0"/>
              </a:rPr>
              <a:t> for the species classifier.</a:t>
            </a:r>
          </a:p>
          <a:p>
            <a:pPr algn="just"/>
            <a:endParaRPr lang="en-US" sz="2200" dirty="0">
              <a:latin typeface="Arial" panose="020B0604020202020204" pitchFamily="34" charset="0"/>
              <a:cs typeface="Arial" panose="020B0604020202020204" pitchFamily="34" charset="0"/>
            </a:endParaRPr>
          </a:p>
          <a:p>
            <a:pPr algn="just"/>
            <a:r>
              <a:rPr lang="en-US" sz="2200" dirty="0">
                <a:latin typeface="Arial" panose="020B0604020202020204" pitchFamily="34" charset="0"/>
                <a:cs typeface="Arial" panose="020B0604020202020204" pitchFamily="34" charset="0"/>
              </a:rPr>
              <a:t>In the broader context of classification, if there are unknown </a:t>
            </a:r>
            <a:r>
              <a:rPr lang="en-US" sz="2200" i="1" dirty="0">
                <a:latin typeface="Arial" panose="020B0604020202020204" pitchFamily="34" charset="0"/>
                <a:cs typeface="Arial" panose="020B0604020202020204" pitchFamily="34" charset="0"/>
              </a:rPr>
              <a:t>Muridae</a:t>
            </a:r>
            <a:r>
              <a:rPr lang="en-US" sz="2200" dirty="0">
                <a:latin typeface="Arial" panose="020B0604020202020204" pitchFamily="34" charset="0"/>
                <a:cs typeface="Arial" panose="020B0604020202020204" pitchFamily="34" charset="0"/>
              </a:rPr>
              <a:t> species with unknown IDs, analysis on machine learning models can identify these new sequences and identify them to be either current species or newly discovered species. In addition, population structure within species can be further investigated to see whether new species have emerged. </a:t>
            </a:r>
          </a:p>
        </p:txBody>
      </p:sp>
    </p:spTree>
    <p:extLst>
      <p:ext uri="{BB962C8B-B14F-4D97-AF65-F5344CB8AC3E}">
        <p14:creationId xmlns:p14="http://schemas.microsoft.com/office/powerpoint/2010/main" val="4575082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5D890D-3AAC-A4F0-AA73-B16AC7E2E072}"/>
              </a:ext>
            </a:extLst>
          </p:cNvPr>
          <p:cNvSpPr txBox="1"/>
          <p:nvPr/>
        </p:nvSpPr>
        <p:spPr>
          <a:xfrm>
            <a:off x="-14990" y="-14990"/>
            <a:ext cx="12206990" cy="584775"/>
          </a:xfrm>
          <a:prstGeom prst="rect">
            <a:avLst/>
          </a:prstGeom>
          <a:solidFill>
            <a:schemeClr val="tx2"/>
          </a:solidFill>
        </p:spPr>
        <p:txBody>
          <a:bodyPr wrap="square" rtlCol="0">
            <a:spAutoFit/>
          </a:bodyPr>
          <a:lstStyle/>
          <a:p>
            <a:r>
              <a:rPr lang="en-US" sz="3200" b="1" dirty="0">
                <a:solidFill>
                  <a:schemeClr val="bg1"/>
                </a:solidFill>
              </a:rPr>
              <a:t>Bonus Reflection slide</a:t>
            </a:r>
          </a:p>
        </p:txBody>
      </p:sp>
      <p:sp>
        <p:nvSpPr>
          <p:cNvPr id="10" name="TextBox 9">
            <a:extLst>
              <a:ext uri="{FF2B5EF4-FFF2-40B4-BE49-F238E27FC236}">
                <a16:creationId xmlns:a16="http://schemas.microsoft.com/office/drawing/2014/main" id="{279F51FB-3E38-57BC-8A05-F002457B5EEF}"/>
              </a:ext>
            </a:extLst>
          </p:cNvPr>
          <p:cNvSpPr txBox="1"/>
          <p:nvPr/>
        </p:nvSpPr>
        <p:spPr>
          <a:xfrm>
            <a:off x="1" y="569785"/>
            <a:ext cx="12192000" cy="5632311"/>
          </a:xfrm>
          <a:prstGeom prst="rect">
            <a:avLst/>
          </a:prstGeom>
          <a:noFill/>
        </p:spPr>
        <p:txBody>
          <a:bodyPr wrap="square" rtlCol="0">
            <a:spAutoFit/>
          </a:bodyPr>
          <a:lstStyle/>
          <a:p>
            <a:pPr algn="just"/>
            <a:r>
              <a:rPr lang="en-US" sz="2400" dirty="0">
                <a:latin typeface="Arial" panose="020B0604020202020204" pitchFamily="34" charset="0"/>
                <a:cs typeface="Arial" panose="020B0604020202020204" pitchFamily="34" charset="0"/>
              </a:rPr>
              <a:t>I learned a lot from this assignment. Specifically, I learned that many different types of machine learning model functions are finicky and only like specific data formats. Most of the time, I was troubleshooting on how to get the data to the right format. Else it will throw errors to the console. I now realized that bioinformatics is 90% data wrangling and 10% visualizations. </a:t>
            </a:r>
          </a:p>
          <a:p>
            <a:pPr algn="just"/>
            <a:r>
              <a:rPr lang="en-US" sz="2400" dirty="0">
                <a:latin typeface="Arial" panose="020B0604020202020204" pitchFamily="34" charset="0"/>
                <a:cs typeface="Arial" panose="020B0604020202020204" pitchFamily="34" charset="0"/>
              </a:rPr>
              <a:t>I want to work on my understanding on more machine learning pipelines and why some are used more often than others and the context behind it. I believe that with more opportunities to practice, the better I will become at it. Some opportunities include replicating published pipelines on GitHub and in publications. This would give me an opportunity to learn more about what is standard in the field, the rationale as to why it was done that way, and the advantages and disadvantage of each pipeline. Moving forward, I learned a lot from plotting heatmaps and MDS graph since it has applications to gene expression analysis which I am interested in analyzing. This </a:t>
            </a:r>
          </a:p>
          <a:p>
            <a:pPr algn="just"/>
            <a:r>
              <a:rPr lang="en-US" sz="2400" dirty="0">
                <a:latin typeface="Arial" panose="020B0604020202020204" pitchFamily="34" charset="0"/>
                <a:cs typeface="Arial" panose="020B0604020202020204" pitchFamily="34" charset="0"/>
              </a:rPr>
              <a:t>also may become relevant my future BINF6999 summer project where </a:t>
            </a:r>
          </a:p>
          <a:p>
            <a:pPr algn="just"/>
            <a:r>
              <a:rPr lang="en-US" sz="2400" dirty="0">
                <a:latin typeface="Arial" panose="020B0604020202020204" pitchFamily="34" charset="0"/>
                <a:cs typeface="Arial" panose="020B0604020202020204" pitchFamily="34" charset="0"/>
              </a:rPr>
              <a:t>I am interested in looking at gene expression in the mouse brain.</a:t>
            </a:r>
          </a:p>
        </p:txBody>
      </p:sp>
      <p:pic>
        <p:nvPicPr>
          <p:cNvPr id="20" name="Picture 19" descr="A group of cartoon mice&#10;&#10;AI-generated content may be incorrect.">
            <a:extLst>
              <a:ext uri="{FF2B5EF4-FFF2-40B4-BE49-F238E27FC236}">
                <a16:creationId xmlns:a16="http://schemas.microsoft.com/office/drawing/2014/main" id="{7D812B3D-5DDF-D1C3-AD9B-4D7366B8502F}"/>
              </a:ext>
            </a:extLst>
          </p:cNvPr>
          <p:cNvPicPr>
            <a:picLocks noChangeAspect="1"/>
          </p:cNvPicPr>
          <p:nvPr/>
        </p:nvPicPr>
        <p:blipFill>
          <a:blip r:embed="rId2"/>
          <a:srcRect l="48269" t="-5686" r="3702" b="47708"/>
          <a:stretch>
            <a:fillRect/>
          </a:stretch>
        </p:blipFill>
        <p:spPr>
          <a:xfrm>
            <a:off x="9698061" y="4747711"/>
            <a:ext cx="2377192" cy="2110289"/>
          </a:xfrm>
          <a:prstGeom prst="rect">
            <a:avLst/>
          </a:prstGeom>
        </p:spPr>
      </p:pic>
    </p:spTree>
    <p:extLst>
      <p:ext uri="{BB962C8B-B14F-4D97-AF65-F5344CB8AC3E}">
        <p14:creationId xmlns:p14="http://schemas.microsoft.com/office/powerpoint/2010/main" val="11865352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115D32-A17B-E898-1CED-FABBE0EE49B9}"/>
              </a:ext>
            </a:extLst>
          </p:cNvPr>
          <p:cNvSpPr txBox="1"/>
          <p:nvPr/>
        </p:nvSpPr>
        <p:spPr>
          <a:xfrm>
            <a:off x="-14990" y="-14990"/>
            <a:ext cx="12206990" cy="584775"/>
          </a:xfrm>
          <a:prstGeom prst="rect">
            <a:avLst/>
          </a:prstGeom>
          <a:solidFill>
            <a:schemeClr val="tx2"/>
          </a:solidFill>
        </p:spPr>
        <p:txBody>
          <a:bodyPr wrap="square" rtlCol="0">
            <a:spAutoFit/>
          </a:bodyPr>
          <a:lstStyle/>
          <a:p>
            <a:r>
              <a:rPr lang="en-US" sz="3200" b="1" dirty="0">
                <a:solidFill>
                  <a:schemeClr val="bg1"/>
                </a:solidFill>
              </a:rPr>
              <a:t>Acknowledgement Slide</a:t>
            </a:r>
          </a:p>
        </p:txBody>
      </p:sp>
      <p:sp>
        <p:nvSpPr>
          <p:cNvPr id="4" name="TextBox 3">
            <a:extLst>
              <a:ext uri="{FF2B5EF4-FFF2-40B4-BE49-F238E27FC236}">
                <a16:creationId xmlns:a16="http://schemas.microsoft.com/office/drawing/2014/main" id="{B7E367CE-9B4B-52A8-F635-C23C3D655E77}"/>
              </a:ext>
            </a:extLst>
          </p:cNvPr>
          <p:cNvSpPr txBox="1"/>
          <p:nvPr/>
        </p:nvSpPr>
        <p:spPr>
          <a:xfrm>
            <a:off x="1" y="569784"/>
            <a:ext cx="12192000" cy="5047536"/>
          </a:xfrm>
          <a:prstGeom prst="rect">
            <a:avLst/>
          </a:prstGeom>
          <a:noFill/>
        </p:spPr>
        <p:txBody>
          <a:bodyPr wrap="square" rtlCol="0">
            <a:spAutoFit/>
          </a:bodyPr>
          <a:lstStyle/>
          <a:p>
            <a:pPr algn="just"/>
            <a:r>
              <a:rPr lang="en-US" sz="2300" dirty="0">
                <a:latin typeface="Arial" panose="020B0604020202020204" pitchFamily="34" charset="0"/>
                <a:cs typeface="Arial" panose="020B0604020202020204" pitchFamily="34" charset="0"/>
              </a:rPr>
              <a:t>I would like to thank Farah Sadoon for helping me narrow down on some genes for my analysis and suggesting good ones. The </a:t>
            </a:r>
            <a:r>
              <a:rPr lang="en-CA" sz="2300" i="1" dirty="0">
                <a:latin typeface="Arial" panose="020B0604020202020204" pitchFamily="34" charset="0"/>
                <a:cs typeface="Arial" panose="020B0604020202020204" pitchFamily="34" charset="0"/>
              </a:rPr>
              <a:t>Shh</a:t>
            </a:r>
            <a:r>
              <a:rPr lang="en-CA" sz="2300" dirty="0">
                <a:latin typeface="Arial" panose="020B0604020202020204" pitchFamily="34" charset="0"/>
                <a:cs typeface="Arial" panose="020B0604020202020204" pitchFamily="34" charset="0"/>
              </a:rPr>
              <a:t> gene would have been interesting!</a:t>
            </a:r>
          </a:p>
          <a:p>
            <a:pPr algn="just"/>
            <a:endParaRPr lang="en-US" sz="2300" dirty="0">
              <a:latin typeface="Arial" panose="020B0604020202020204" pitchFamily="34" charset="0"/>
              <a:cs typeface="Arial" panose="020B0604020202020204" pitchFamily="34" charset="0"/>
            </a:endParaRPr>
          </a:p>
          <a:p>
            <a:pPr algn="just"/>
            <a:r>
              <a:rPr lang="en-US" sz="2300" dirty="0">
                <a:latin typeface="Arial" panose="020B0604020202020204" pitchFamily="34" charset="0"/>
                <a:cs typeface="Arial" panose="020B0604020202020204" pitchFamily="34" charset="0"/>
              </a:rPr>
              <a:t>I would also like to thank the teaching assistant, Saira Asif, for helping me choose some candidate genes for my analysis.</a:t>
            </a:r>
          </a:p>
          <a:p>
            <a:pPr algn="just"/>
            <a:endParaRPr lang="en-US" sz="2300" dirty="0">
              <a:latin typeface="Arial" panose="020B0604020202020204" pitchFamily="34" charset="0"/>
              <a:cs typeface="Arial" panose="020B0604020202020204" pitchFamily="34" charset="0"/>
            </a:endParaRPr>
          </a:p>
          <a:p>
            <a:pPr algn="just"/>
            <a:r>
              <a:rPr lang="en-US" sz="2300" dirty="0">
                <a:latin typeface="Arial" panose="020B0604020202020204" pitchFamily="34" charset="0"/>
                <a:cs typeface="Arial" panose="020B0604020202020204" pitchFamily="34" charset="0"/>
              </a:rPr>
              <a:t>I also want to thank Britany MacIntyre as her seminar, “</a:t>
            </a:r>
            <a:r>
              <a:rPr lang="en-CA" sz="2300" dirty="0">
                <a:latin typeface="Arial" panose="020B0604020202020204" pitchFamily="34" charset="0"/>
                <a:cs typeface="Arial" panose="020B0604020202020204" pitchFamily="34" charset="0"/>
              </a:rPr>
              <a:t>Urinary metabolites as non-invasive biomarkers of cardiometabolic health: identification and validation”</a:t>
            </a:r>
            <a:r>
              <a:rPr lang="en-US" sz="2300" dirty="0">
                <a:latin typeface="Arial" panose="020B0604020202020204" pitchFamily="34" charset="0"/>
                <a:cs typeface="Arial" panose="020B0604020202020204" pitchFamily="34" charset="0"/>
              </a:rPr>
              <a:t> helped me to ultimately decide on which machine learning model algorithm to choose. I noticed that she used partial least square which inspired me to try to do the same with my assignment.</a:t>
            </a:r>
          </a:p>
          <a:p>
            <a:pPr algn="just"/>
            <a:endParaRPr lang="en-US" sz="2300" dirty="0">
              <a:latin typeface="Arial" panose="020B0604020202020204" pitchFamily="34" charset="0"/>
              <a:cs typeface="Arial" panose="020B0604020202020204" pitchFamily="34" charset="0"/>
            </a:endParaRPr>
          </a:p>
          <a:p>
            <a:pPr algn="just"/>
            <a:r>
              <a:rPr lang="en-US" sz="2300" dirty="0">
                <a:latin typeface="Arial" panose="020B0604020202020204" pitchFamily="34" charset="0"/>
                <a:cs typeface="Arial" panose="020B0604020202020204" pitchFamily="34" charset="0"/>
              </a:rPr>
              <a:t>I want to thank my friends, </a:t>
            </a:r>
            <a:r>
              <a:rPr lang="en-US" sz="2300" dirty="0" err="1">
                <a:latin typeface="Arial" panose="020B0604020202020204" pitchFamily="34" charset="0"/>
                <a:cs typeface="Arial" panose="020B0604020202020204" pitchFamily="34" charset="0"/>
              </a:rPr>
              <a:t>Kazeera</a:t>
            </a:r>
            <a:r>
              <a:rPr lang="en-US" sz="2300" dirty="0">
                <a:latin typeface="Arial" panose="020B0604020202020204" pitchFamily="34" charset="0"/>
                <a:cs typeface="Arial" panose="020B0604020202020204" pitchFamily="34" charset="0"/>
              </a:rPr>
              <a:t> </a:t>
            </a:r>
            <a:r>
              <a:rPr lang="en-US" sz="2300" dirty="0" err="1">
                <a:latin typeface="Arial" panose="020B0604020202020204" pitchFamily="34" charset="0"/>
                <a:cs typeface="Arial" panose="020B0604020202020204" pitchFamily="34" charset="0"/>
              </a:rPr>
              <a:t>Aliar</a:t>
            </a:r>
            <a:r>
              <a:rPr lang="en-US" sz="2300" dirty="0">
                <a:latin typeface="Arial" panose="020B0604020202020204" pitchFamily="34" charset="0"/>
                <a:cs typeface="Arial" panose="020B0604020202020204" pitchFamily="34" charset="0"/>
              </a:rPr>
              <a:t> and Rebekah </a:t>
            </a:r>
            <a:r>
              <a:rPr lang="en-US" sz="2300" dirty="0" err="1">
                <a:latin typeface="Arial" panose="020B0604020202020204" pitchFamily="34" charset="0"/>
                <a:cs typeface="Arial" panose="020B0604020202020204" pitchFamily="34" charset="0"/>
              </a:rPr>
              <a:t>Hest</a:t>
            </a:r>
            <a:r>
              <a:rPr lang="en-US" sz="2300" dirty="0">
                <a:latin typeface="Arial" panose="020B0604020202020204" pitchFamily="34" charset="0"/>
                <a:cs typeface="Arial" panose="020B0604020202020204" pitchFamily="34" charset="0"/>
              </a:rPr>
              <a:t>, for helping me run the code and ensuring everything ran smoothly and providing me the suggestion to declutter my environment. I had a lot of data frames!</a:t>
            </a:r>
          </a:p>
        </p:txBody>
      </p:sp>
      <p:pic>
        <p:nvPicPr>
          <p:cNvPr id="8" name="Picture 7" descr="A group of cartoon mice&#10;&#10;AI-generated content may be incorrect.">
            <a:extLst>
              <a:ext uri="{FF2B5EF4-FFF2-40B4-BE49-F238E27FC236}">
                <a16:creationId xmlns:a16="http://schemas.microsoft.com/office/drawing/2014/main" id="{F1D44C2D-0077-C27D-26BF-8F8C2CD40DF5}"/>
              </a:ext>
            </a:extLst>
          </p:cNvPr>
          <p:cNvPicPr>
            <a:picLocks noChangeAspect="1"/>
          </p:cNvPicPr>
          <p:nvPr/>
        </p:nvPicPr>
        <p:blipFill>
          <a:blip r:embed="rId2"/>
          <a:srcRect l="-58049" t="43997" r="58049" b="-43997"/>
          <a:stretch>
            <a:fillRect/>
          </a:stretch>
        </p:blipFill>
        <p:spPr>
          <a:xfrm>
            <a:off x="8496299" y="5357923"/>
            <a:ext cx="3695700" cy="2717800"/>
          </a:xfrm>
          <a:prstGeom prst="rect">
            <a:avLst/>
          </a:prstGeom>
        </p:spPr>
      </p:pic>
    </p:spTree>
    <p:extLst>
      <p:ext uri="{BB962C8B-B14F-4D97-AF65-F5344CB8AC3E}">
        <p14:creationId xmlns:p14="http://schemas.microsoft.com/office/powerpoint/2010/main" val="2433829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7F4797-37C2-36E8-9394-B48675067613}"/>
              </a:ext>
            </a:extLst>
          </p:cNvPr>
          <p:cNvSpPr txBox="1"/>
          <p:nvPr/>
        </p:nvSpPr>
        <p:spPr>
          <a:xfrm>
            <a:off x="-14990" y="-14990"/>
            <a:ext cx="12240000" cy="584775"/>
          </a:xfrm>
          <a:prstGeom prst="rect">
            <a:avLst/>
          </a:prstGeom>
          <a:solidFill>
            <a:schemeClr val="tx2"/>
          </a:solidFill>
        </p:spPr>
        <p:txBody>
          <a:bodyPr wrap="square" rtlCol="0">
            <a:spAutoFit/>
          </a:bodyPr>
          <a:lstStyle/>
          <a:p>
            <a:r>
              <a:rPr lang="en-US" sz="3200" b="1" dirty="0">
                <a:solidFill>
                  <a:schemeClr val="bg1"/>
                </a:solidFill>
              </a:rPr>
              <a:t>References and Resources Consulted</a:t>
            </a:r>
          </a:p>
        </p:txBody>
      </p:sp>
      <p:sp>
        <p:nvSpPr>
          <p:cNvPr id="6" name="TextBox 5">
            <a:extLst>
              <a:ext uri="{FF2B5EF4-FFF2-40B4-BE49-F238E27FC236}">
                <a16:creationId xmlns:a16="http://schemas.microsoft.com/office/drawing/2014/main" id="{465D98F9-CD06-7FBB-BF37-FD3332AB98B5}"/>
              </a:ext>
            </a:extLst>
          </p:cNvPr>
          <p:cNvSpPr txBox="1"/>
          <p:nvPr/>
        </p:nvSpPr>
        <p:spPr>
          <a:xfrm>
            <a:off x="1" y="569785"/>
            <a:ext cx="12192000" cy="6186309"/>
          </a:xfrm>
          <a:prstGeom prst="rect">
            <a:avLst/>
          </a:prstGeom>
          <a:noFill/>
        </p:spPr>
        <p:txBody>
          <a:bodyPr wrap="square">
            <a:spAutoFit/>
          </a:bodyPr>
          <a:lstStyle/>
          <a:p>
            <a:pPr algn="just"/>
            <a:r>
              <a:rPr lang="en-CA" sz="1100" dirty="0" err="1">
                <a:latin typeface="Arial" panose="020B0604020202020204" pitchFamily="34" charset="0"/>
                <a:cs typeface="Arial" panose="020B0604020202020204" pitchFamily="34" charset="0"/>
              </a:rPr>
              <a:t>Standley</a:t>
            </a:r>
            <a:r>
              <a:rPr lang="en-CA" sz="1100" dirty="0">
                <a:latin typeface="Arial" panose="020B0604020202020204" pitchFamily="34" charset="0"/>
                <a:cs typeface="Arial" panose="020B0604020202020204" pitchFamily="34" charset="0"/>
              </a:rPr>
              <a:t> A, Xie J, Lau AW, Grote L, Gifford AJ. Working with Miraculous Mice: Mus musculus as a Model Organism. Curr </a:t>
            </a:r>
            <a:r>
              <a:rPr lang="en-CA" sz="1100" dirty="0" err="1">
                <a:latin typeface="Arial" panose="020B0604020202020204" pitchFamily="34" charset="0"/>
                <a:cs typeface="Arial" panose="020B0604020202020204" pitchFamily="34" charset="0"/>
              </a:rPr>
              <a:t>Protoc</a:t>
            </a:r>
            <a:r>
              <a:rPr lang="en-CA" sz="1100" dirty="0">
                <a:latin typeface="Arial" panose="020B0604020202020204" pitchFamily="34" charset="0"/>
                <a:cs typeface="Arial" panose="020B0604020202020204" pitchFamily="34" charset="0"/>
              </a:rPr>
              <a:t>. 2024 Oct;4(10):e70021. </a:t>
            </a:r>
            <a:r>
              <a:rPr lang="en-CA" sz="1100" dirty="0" err="1">
                <a:latin typeface="Arial" panose="020B0604020202020204" pitchFamily="34" charset="0"/>
                <a:cs typeface="Arial" panose="020B0604020202020204" pitchFamily="34" charset="0"/>
              </a:rPr>
              <a:t>doi</a:t>
            </a:r>
            <a:r>
              <a:rPr lang="en-CA" sz="1100" dirty="0">
                <a:latin typeface="Arial" panose="020B0604020202020204" pitchFamily="34" charset="0"/>
                <a:cs typeface="Arial" panose="020B0604020202020204" pitchFamily="34" charset="0"/>
              </a:rPr>
              <a:t>: 10.1002/cpz1.70021. PMID: 39435766.</a:t>
            </a:r>
          </a:p>
          <a:p>
            <a:pPr algn="just">
              <a:buNone/>
            </a:pPr>
            <a:endParaRPr lang="en-CA" sz="1100" dirty="0">
              <a:latin typeface="Arial" panose="020B0604020202020204" pitchFamily="34" charset="0"/>
              <a:cs typeface="Arial" panose="020B0604020202020204" pitchFamily="34" charset="0"/>
            </a:endParaRPr>
          </a:p>
          <a:p>
            <a:pPr algn="just">
              <a:buNone/>
            </a:pPr>
            <a:r>
              <a:rPr lang="en-CA" sz="1100" dirty="0" err="1">
                <a:latin typeface="Arial" panose="020B0604020202020204" pitchFamily="34" charset="0"/>
                <a:cs typeface="Arial" panose="020B0604020202020204" pitchFamily="34" charset="0"/>
              </a:rPr>
              <a:t>Modlinska</a:t>
            </a:r>
            <a:r>
              <a:rPr lang="en-CA" sz="1100" dirty="0">
                <a:latin typeface="Arial" panose="020B0604020202020204" pitchFamily="34" charset="0"/>
                <a:cs typeface="Arial" panose="020B0604020202020204" pitchFamily="34" charset="0"/>
              </a:rPr>
              <a:t>, K., &amp; Pisula, W. (2020). The Norway rat, from an obnoxious pest to a laboratory pet. </a:t>
            </a:r>
            <a:r>
              <a:rPr lang="en-CA" sz="1100" i="1" dirty="0">
                <a:latin typeface="Arial" panose="020B0604020202020204" pitchFamily="34" charset="0"/>
                <a:cs typeface="Arial" panose="020B0604020202020204" pitchFamily="34" charset="0"/>
              </a:rPr>
              <a:t>ELife</a:t>
            </a:r>
            <a:r>
              <a:rPr lang="en-CA" sz="1100" dirty="0">
                <a:latin typeface="Arial" panose="020B0604020202020204" pitchFamily="34" charset="0"/>
                <a:cs typeface="Arial" panose="020B0604020202020204" pitchFamily="34" charset="0"/>
              </a:rPr>
              <a:t>, </a:t>
            </a:r>
            <a:r>
              <a:rPr lang="en-CA" sz="1100" i="1" dirty="0">
                <a:latin typeface="Arial" panose="020B0604020202020204" pitchFamily="34" charset="0"/>
                <a:cs typeface="Arial" panose="020B0604020202020204" pitchFamily="34" charset="0"/>
              </a:rPr>
              <a:t>9</a:t>
            </a:r>
            <a:r>
              <a:rPr lang="en-CA" sz="1100" dirty="0">
                <a:latin typeface="Arial" panose="020B0604020202020204" pitchFamily="34" charset="0"/>
                <a:cs typeface="Arial" panose="020B0604020202020204" pitchFamily="34" charset="0"/>
              </a:rPr>
              <a:t>, e50651. https://</a:t>
            </a:r>
            <a:r>
              <a:rPr lang="en-CA" sz="1100" dirty="0" err="1">
                <a:latin typeface="Arial" panose="020B0604020202020204" pitchFamily="34" charset="0"/>
                <a:cs typeface="Arial" panose="020B0604020202020204" pitchFamily="34" charset="0"/>
              </a:rPr>
              <a:t>doi.org</a:t>
            </a:r>
            <a:r>
              <a:rPr lang="en-CA" sz="1100" dirty="0">
                <a:latin typeface="Arial" panose="020B0604020202020204" pitchFamily="34" charset="0"/>
                <a:cs typeface="Arial" panose="020B0604020202020204" pitchFamily="34" charset="0"/>
              </a:rPr>
              <a:t>/10.7554/eLife.50651</a:t>
            </a:r>
          </a:p>
          <a:p>
            <a:pPr algn="just"/>
            <a:endParaRPr lang="en-CA" sz="1100" dirty="0">
              <a:latin typeface="Arial" panose="020B0604020202020204" pitchFamily="34" charset="0"/>
              <a:cs typeface="Arial" panose="020B0604020202020204" pitchFamily="34" charset="0"/>
            </a:endParaRPr>
          </a:p>
          <a:p>
            <a:pPr algn="just"/>
            <a:r>
              <a:rPr lang="en-CA" sz="1100" dirty="0" err="1">
                <a:latin typeface="Arial" panose="020B0604020202020204" pitchFamily="34" charset="0"/>
                <a:cs typeface="Arial" panose="020B0604020202020204" pitchFamily="34" charset="0"/>
              </a:rPr>
              <a:t>Standley</a:t>
            </a:r>
            <a:r>
              <a:rPr lang="en-CA" sz="1100" dirty="0">
                <a:latin typeface="Arial" panose="020B0604020202020204" pitchFamily="34" charset="0"/>
                <a:cs typeface="Arial" panose="020B0604020202020204" pitchFamily="34" charset="0"/>
              </a:rPr>
              <a:t>, A., Xie, J., Lau, A. W., Grote, L., &amp; Gifford, A. J. (2024). Working with miraculous mice: </a:t>
            </a:r>
            <a:r>
              <a:rPr lang="en-CA" sz="1100" i="1" dirty="0">
                <a:latin typeface="Arial" panose="020B0604020202020204" pitchFamily="34" charset="0"/>
                <a:cs typeface="Arial" panose="020B0604020202020204" pitchFamily="34" charset="0"/>
              </a:rPr>
              <a:t>Mus musculus</a:t>
            </a:r>
            <a:r>
              <a:rPr lang="en-CA" sz="1100" dirty="0">
                <a:latin typeface="Arial" panose="020B0604020202020204" pitchFamily="34" charset="0"/>
                <a:cs typeface="Arial" panose="020B0604020202020204" pitchFamily="34" charset="0"/>
              </a:rPr>
              <a:t> as a model organism. </a:t>
            </a:r>
            <a:r>
              <a:rPr lang="en-CA" sz="1100" i="1" dirty="0">
                <a:latin typeface="Arial" panose="020B0604020202020204" pitchFamily="34" charset="0"/>
                <a:cs typeface="Arial" panose="020B0604020202020204" pitchFamily="34" charset="0"/>
              </a:rPr>
              <a:t>Current Protocols</a:t>
            </a:r>
            <a:r>
              <a:rPr lang="en-CA" sz="1100" dirty="0">
                <a:latin typeface="Arial" panose="020B0604020202020204" pitchFamily="34" charset="0"/>
                <a:cs typeface="Arial" panose="020B0604020202020204" pitchFamily="34" charset="0"/>
              </a:rPr>
              <a:t>, 4, e70021. </a:t>
            </a:r>
            <a:r>
              <a:rPr lang="en-CA" sz="1100" dirty="0" err="1">
                <a:latin typeface="Arial" panose="020B0604020202020204" pitchFamily="34" charset="0"/>
                <a:cs typeface="Arial" panose="020B0604020202020204" pitchFamily="34" charset="0"/>
              </a:rPr>
              <a:t>doi</a:t>
            </a:r>
            <a:r>
              <a:rPr lang="en-CA" sz="1100" dirty="0">
                <a:latin typeface="Arial" panose="020B0604020202020204" pitchFamily="34" charset="0"/>
                <a:cs typeface="Arial" panose="020B0604020202020204" pitchFamily="34" charset="0"/>
              </a:rPr>
              <a:t>: </a:t>
            </a:r>
            <a:r>
              <a:rPr lang="en-CA" sz="1100" dirty="0">
                <a:latin typeface="Arial" panose="020B0604020202020204" pitchFamily="34" charset="0"/>
                <a:cs typeface="Arial" panose="020B0604020202020204" pitchFamily="34" charset="0"/>
                <a:hlinkClick r:id="rId2"/>
              </a:rPr>
              <a:t>10.1002/cpz1.70021</a:t>
            </a:r>
            <a:r>
              <a:rPr lang="en-CA" sz="1100" dirty="0">
                <a:latin typeface="Arial" panose="020B0604020202020204" pitchFamily="34" charset="0"/>
                <a:cs typeface="Arial" panose="020B0604020202020204" pitchFamily="34" charset="0"/>
              </a:rPr>
              <a:t> </a:t>
            </a:r>
          </a:p>
          <a:p>
            <a:pPr algn="just">
              <a:buNone/>
            </a:pPr>
            <a:endParaRPr lang="en-CA" sz="1100" dirty="0">
              <a:latin typeface="Arial" panose="020B0604020202020204" pitchFamily="34" charset="0"/>
              <a:cs typeface="Arial" panose="020B0604020202020204" pitchFamily="34" charset="0"/>
            </a:endParaRPr>
          </a:p>
          <a:p>
            <a:pPr algn="just"/>
            <a:r>
              <a:rPr lang="en-CA" sz="1100" dirty="0">
                <a:latin typeface="Arial" panose="020B0604020202020204" pitchFamily="34" charset="0"/>
                <a:cs typeface="Arial" panose="020B0604020202020204" pitchFamily="34" charset="0"/>
              </a:rPr>
              <a:t>The </a:t>
            </a:r>
            <a:r>
              <a:rPr lang="en-CA" sz="1100" dirty="0" err="1">
                <a:latin typeface="Arial" panose="020B0604020202020204" pitchFamily="34" charset="0"/>
                <a:cs typeface="Arial" panose="020B0604020202020204" pitchFamily="34" charset="0"/>
              </a:rPr>
              <a:t>UniProt</a:t>
            </a:r>
            <a:r>
              <a:rPr lang="en-CA" sz="1100" dirty="0">
                <a:latin typeface="Arial" panose="020B0604020202020204" pitchFamily="34" charset="0"/>
                <a:cs typeface="Arial" panose="020B0604020202020204" pitchFamily="34" charset="0"/>
              </a:rPr>
              <a:t> Consortium , </a:t>
            </a:r>
            <a:r>
              <a:rPr lang="en-CA" sz="1100" dirty="0" err="1">
                <a:latin typeface="Arial" panose="020B0604020202020204" pitchFamily="34" charset="0"/>
                <a:cs typeface="Arial" panose="020B0604020202020204" pitchFamily="34" charset="0"/>
              </a:rPr>
              <a:t>UniProt</a:t>
            </a:r>
            <a:r>
              <a:rPr lang="en-CA" sz="1100" dirty="0">
                <a:latin typeface="Arial" panose="020B0604020202020204" pitchFamily="34" charset="0"/>
                <a:cs typeface="Arial" panose="020B0604020202020204" pitchFamily="34" charset="0"/>
              </a:rPr>
              <a:t>: the Universal Protein Knowledgebase in 2025, </a:t>
            </a:r>
            <a:r>
              <a:rPr lang="en-CA" sz="1100" i="1" dirty="0">
                <a:latin typeface="Arial" panose="020B0604020202020204" pitchFamily="34" charset="0"/>
                <a:cs typeface="Arial" panose="020B0604020202020204" pitchFamily="34" charset="0"/>
              </a:rPr>
              <a:t>Nucleic Acids Research</a:t>
            </a:r>
            <a:r>
              <a:rPr lang="en-CA" sz="1100" dirty="0">
                <a:latin typeface="Arial" panose="020B0604020202020204" pitchFamily="34" charset="0"/>
                <a:cs typeface="Arial" panose="020B0604020202020204" pitchFamily="34" charset="0"/>
              </a:rPr>
              <a:t>, Volume 53, Issue D1, 6 January 2025, Pages D609–D617, </a:t>
            </a:r>
            <a:r>
              <a:rPr lang="en-CA" sz="1100" dirty="0">
                <a:latin typeface="Arial" panose="020B0604020202020204" pitchFamily="34" charset="0"/>
                <a:cs typeface="Arial" panose="020B0604020202020204" pitchFamily="34" charset="0"/>
                <a:hlinkClick r:id="rId3"/>
              </a:rPr>
              <a:t>https://doi.org/10.1093/nar/gkae1010</a:t>
            </a:r>
            <a:r>
              <a:rPr lang="en-CA" sz="1100" dirty="0">
                <a:latin typeface="Arial" panose="020B0604020202020204" pitchFamily="34" charset="0"/>
                <a:cs typeface="Arial" panose="020B0604020202020204" pitchFamily="34" charset="0"/>
              </a:rPr>
              <a:t>.      Accession numbers B1P8W3, A0A0A7NWN0, and P15919 were used to review gene and protein function</a:t>
            </a:r>
          </a:p>
          <a:p>
            <a:pPr algn="just"/>
            <a:endParaRPr lang="en-CA" sz="1100" dirty="0">
              <a:latin typeface="Arial" panose="020B0604020202020204" pitchFamily="34" charset="0"/>
              <a:cs typeface="Arial" panose="020B0604020202020204" pitchFamily="34" charset="0"/>
            </a:endParaRPr>
          </a:p>
          <a:p>
            <a:pPr algn="just"/>
            <a:r>
              <a:rPr lang="en-CA" sz="1100" dirty="0">
                <a:latin typeface="Arial" panose="020B0604020202020204" pitchFamily="34" charset="0"/>
                <a:cs typeface="Arial" panose="020B0604020202020204" pitchFamily="34" charset="0"/>
              </a:rPr>
              <a:t>Sipper, M., Moore, J.H. Conservation machine learning: a case study of random forests. </a:t>
            </a:r>
            <a:r>
              <a:rPr lang="en-CA" sz="1100" i="1" dirty="0">
                <a:latin typeface="Arial" panose="020B0604020202020204" pitchFamily="34" charset="0"/>
                <a:cs typeface="Arial" panose="020B0604020202020204" pitchFamily="34" charset="0"/>
              </a:rPr>
              <a:t>Sci Rep</a:t>
            </a:r>
            <a:r>
              <a:rPr lang="en-CA" sz="1100" dirty="0">
                <a:latin typeface="Arial" panose="020B0604020202020204" pitchFamily="34" charset="0"/>
                <a:cs typeface="Arial" panose="020B0604020202020204" pitchFamily="34" charset="0"/>
              </a:rPr>
              <a:t> </a:t>
            </a:r>
            <a:r>
              <a:rPr lang="en-CA" sz="1100" b="1" dirty="0">
                <a:latin typeface="Arial" panose="020B0604020202020204" pitchFamily="34" charset="0"/>
                <a:cs typeface="Arial" panose="020B0604020202020204" pitchFamily="34" charset="0"/>
              </a:rPr>
              <a:t>11</a:t>
            </a:r>
            <a:r>
              <a:rPr lang="en-CA" sz="1100" dirty="0">
                <a:latin typeface="Arial" panose="020B0604020202020204" pitchFamily="34" charset="0"/>
                <a:cs typeface="Arial" panose="020B0604020202020204" pitchFamily="34" charset="0"/>
              </a:rPr>
              <a:t>, 3629 (2021). https://</a:t>
            </a:r>
            <a:r>
              <a:rPr lang="en-CA" sz="1100" dirty="0" err="1">
                <a:latin typeface="Arial" panose="020B0604020202020204" pitchFamily="34" charset="0"/>
                <a:cs typeface="Arial" panose="020B0604020202020204" pitchFamily="34" charset="0"/>
              </a:rPr>
              <a:t>doi.org</a:t>
            </a:r>
            <a:r>
              <a:rPr lang="en-CA" sz="1100" dirty="0">
                <a:latin typeface="Arial" panose="020B0604020202020204" pitchFamily="34" charset="0"/>
                <a:cs typeface="Arial" panose="020B0604020202020204" pitchFamily="34" charset="0"/>
              </a:rPr>
              <a:t>/10.1038/s41598-021-83247-4</a:t>
            </a:r>
          </a:p>
          <a:p>
            <a:pPr algn="just"/>
            <a:endParaRPr lang="en-CA" sz="1100" dirty="0">
              <a:latin typeface="Arial" panose="020B0604020202020204" pitchFamily="34" charset="0"/>
              <a:cs typeface="Arial" panose="020B0604020202020204" pitchFamily="34" charset="0"/>
            </a:endParaRPr>
          </a:p>
          <a:p>
            <a:pPr algn="just"/>
            <a:r>
              <a:rPr lang="en-CA" sz="1100" dirty="0">
                <a:latin typeface="Arial" panose="020B0604020202020204" pitchFamily="34" charset="0"/>
                <a:cs typeface="Arial" panose="020B0604020202020204" pitchFamily="34" charset="0"/>
              </a:rPr>
              <a:t>Brereton, R.G. and Lloyd, G.R. (2014), Partial least squares discriminant analysis: taking the magic away. J. Chemometrics, 28: 213-225. </a:t>
            </a:r>
            <a:r>
              <a:rPr lang="en-CA" sz="1100" dirty="0">
                <a:latin typeface="Arial" panose="020B0604020202020204" pitchFamily="34" charset="0"/>
                <a:cs typeface="Arial" panose="020B0604020202020204" pitchFamily="34" charset="0"/>
                <a:hlinkClick r:id="rId4"/>
              </a:rPr>
              <a:t>https://doi.org/10.1002/cem.2609</a:t>
            </a:r>
            <a:endParaRPr lang="en-CA" sz="1100" dirty="0">
              <a:latin typeface="Arial" panose="020B0604020202020204" pitchFamily="34" charset="0"/>
              <a:cs typeface="Arial" panose="020B0604020202020204" pitchFamily="34" charset="0"/>
            </a:endParaRPr>
          </a:p>
          <a:p>
            <a:pPr algn="just"/>
            <a:endParaRPr lang="en-CA" sz="1100" dirty="0">
              <a:latin typeface="Arial" panose="020B0604020202020204" pitchFamily="34" charset="0"/>
              <a:cs typeface="Arial" panose="020B0604020202020204" pitchFamily="34" charset="0"/>
            </a:endParaRPr>
          </a:p>
          <a:p>
            <a:pPr algn="just"/>
            <a:r>
              <a:rPr lang="en-CA" sz="1100" dirty="0">
                <a:latin typeface="Arial" panose="020B0604020202020204" pitchFamily="34" charset="0"/>
                <a:cs typeface="Arial" panose="020B0604020202020204" pitchFamily="34" charset="0"/>
              </a:rPr>
              <a:t>Salles, M. M. A., &amp; Domingos, F. M. C. B. (2025). Towards the next generation of species delimitation methods: an overview of machine learning applications. </a:t>
            </a:r>
            <a:r>
              <a:rPr lang="en-CA" sz="1100" i="1" dirty="0">
                <a:latin typeface="Arial" panose="020B0604020202020204" pitchFamily="34" charset="0"/>
                <a:cs typeface="Arial" panose="020B0604020202020204" pitchFamily="34" charset="0"/>
              </a:rPr>
              <a:t>Molecular Phylogenetics and Evolution</a:t>
            </a:r>
            <a:r>
              <a:rPr lang="en-CA" sz="1100" dirty="0">
                <a:latin typeface="Arial" panose="020B0604020202020204" pitchFamily="34" charset="0"/>
                <a:cs typeface="Arial" panose="020B0604020202020204" pitchFamily="34" charset="0"/>
              </a:rPr>
              <a:t>, </a:t>
            </a:r>
            <a:r>
              <a:rPr lang="en-CA" sz="1100" i="1" dirty="0">
                <a:latin typeface="Arial" panose="020B0604020202020204" pitchFamily="34" charset="0"/>
                <a:cs typeface="Arial" panose="020B0604020202020204" pitchFamily="34" charset="0"/>
              </a:rPr>
              <a:t>210</a:t>
            </a:r>
            <a:r>
              <a:rPr lang="en-CA" sz="1100" dirty="0">
                <a:latin typeface="Arial" panose="020B0604020202020204" pitchFamily="34" charset="0"/>
                <a:cs typeface="Arial" panose="020B0604020202020204" pitchFamily="34" charset="0"/>
              </a:rPr>
              <a:t>, 108368. https://</a:t>
            </a:r>
            <a:r>
              <a:rPr lang="en-CA" sz="1100" dirty="0" err="1">
                <a:latin typeface="Arial" panose="020B0604020202020204" pitchFamily="34" charset="0"/>
                <a:cs typeface="Arial" panose="020B0604020202020204" pitchFamily="34" charset="0"/>
              </a:rPr>
              <a:t>doi.org</a:t>
            </a:r>
            <a:r>
              <a:rPr lang="en-CA" sz="1100" dirty="0">
                <a:latin typeface="Arial" panose="020B0604020202020204" pitchFamily="34" charset="0"/>
                <a:cs typeface="Arial" panose="020B0604020202020204" pitchFamily="34" charset="0"/>
              </a:rPr>
              <a:t>/https://</a:t>
            </a:r>
            <a:r>
              <a:rPr lang="en-CA" sz="1100" dirty="0" err="1">
                <a:latin typeface="Arial" panose="020B0604020202020204" pitchFamily="34" charset="0"/>
                <a:cs typeface="Arial" panose="020B0604020202020204" pitchFamily="34" charset="0"/>
              </a:rPr>
              <a:t>doi.org</a:t>
            </a:r>
            <a:r>
              <a:rPr lang="en-CA" sz="1100" dirty="0">
                <a:latin typeface="Arial" panose="020B0604020202020204" pitchFamily="34" charset="0"/>
                <a:cs typeface="Arial" panose="020B0604020202020204" pitchFamily="34" charset="0"/>
              </a:rPr>
              <a:t>/10.1016/j.ympev.2025.108368</a:t>
            </a:r>
          </a:p>
          <a:p>
            <a:pPr algn="just"/>
            <a:endParaRPr lang="en-CA" sz="1100" dirty="0">
              <a:latin typeface="Arial" panose="020B0604020202020204" pitchFamily="34" charset="0"/>
              <a:cs typeface="Arial" panose="020B0604020202020204" pitchFamily="34" charset="0"/>
            </a:endParaRPr>
          </a:p>
          <a:p>
            <a:pPr algn="just"/>
            <a:r>
              <a:rPr lang="en-CA" sz="1100" dirty="0">
                <a:latin typeface="Arial" panose="020B0604020202020204" pitchFamily="34" charset="0"/>
                <a:cs typeface="Arial" panose="020B0604020202020204" pitchFamily="34" charset="0"/>
              </a:rPr>
              <a:t>Winter DJ. 2017. </a:t>
            </a:r>
            <a:r>
              <a:rPr lang="en-CA" sz="1100" dirty="0" err="1">
                <a:latin typeface="Arial" panose="020B0604020202020204" pitchFamily="34" charset="0"/>
                <a:cs typeface="Arial" panose="020B0604020202020204" pitchFamily="34" charset="0"/>
              </a:rPr>
              <a:t>rentrez</a:t>
            </a:r>
            <a:r>
              <a:rPr lang="en-CA" sz="1100" dirty="0">
                <a:latin typeface="Arial" panose="020B0604020202020204" pitchFamily="34" charset="0"/>
                <a:cs typeface="Arial" panose="020B0604020202020204" pitchFamily="34" charset="0"/>
              </a:rPr>
              <a:t>: An R package for the NCBI </a:t>
            </a:r>
            <a:r>
              <a:rPr lang="en-CA" sz="1100" dirty="0" err="1">
                <a:latin typeface="Arial" panose="020B0604020202020204" pitchFamily="34" charset="0"/>
                <a:cs typeface="Arial" panose="020B0604020202020204" pitchFamily="34" charset="0"/>
              </a:rPr>
              <a:t>eUtils</a:t>
            </a:r>
            <a:r>
              <a:rPr lang="en-CA" sz="1100" dirty="0">
                <a:latin typeface="Arial" panose="020B0604020202020204" pitchFamily="34" charset="0"/>
                <a:cs typeface="Arial" panose="020B0604020202020204" pitchFamily="34" charset="0"/>
              </a:rPr>
              <a:t> API. </a:t>
            </a:r>
            <a:r>
              <a:rPr lang="en-CA" sz="1100" dirty="0" err="1">
                <a:latin typeface="Arial" panose="020B0604020202020204" pitchFamily="34" charset="0"/>
                <a:cs typeface="Arial" panose="020B0604020202020204" pitchFamily="34" charset="0"/>
              </a:rPr>
              <a:t>PeerJ</a:t>
            </a:r>
            <a:r>
              <a:rPr lang="en-CA" sz="1100" dirty="0">
                <a:latin typeface="Arial" panose="020B0604020202020204" pitchFamily="34" charset="0"/>
                <a:cs typeface="Arial" panose="020B0604020202020204" pitchFamily="34" charset="0"/>
              </a:rPr>
              <a:t> Preprints 5:e3179v2 </a:t>
            </a:r>
            <a:r>
              <a:rPr lang="en-CA" sz="1100" dirty="0">
                <a:latin typeface="Arial" panose="020B0604020202020204" pitchFamily="34" charset="0"/>
                <a:cs typeface="Arial" panose="020B0604020202020204" pitchFamily="34" charset="0"/>
                <a:hlinkClick r:id="rId5"/>
              </a:rPr>
              <a:t>https://doi.org/10.7287/peerj.preprints.3179v2</a:t>
            </a:r>
            <a:endParaRPr lang="en-CA" sz="1100" dirty="0">
              <a:latin typeface="Arial" panose="020B0604020202020204" pitchFamily="34" charset="0"/>
              <a:cs typeface="Arial" panose="020B0604020202020204" pitchFamily="34" charset="0"/>
            </a:endParaRPr>
          </a:p>
          <a:p>
            <a:pPr algn="just"/>
            <a:endParaRPr lang="en-CA" sz="1100" dirty="0">
              <a:latin typeface="Arial" panose="020B0604020202020204" pitchFamily="34" charset="0"/>
              <a:cs typeface="Arial" panose="020B0604020202020204" pitchFamily="34" charset="0"/>
            </a:endParaRPr>
          </a:p>
          <a:p>
            <a:pPr algn="just"/>
            <a:r>
              <a:rPr lang="en-CA" sz="1100" dirty="0">
                <a:latin typeface="Arial" panose="020B0604020202020204" pitchFamily="34" charset="0"/>
                <a:cs typeface="Arial" panose="020B0604020202020204" pitchFamily="34" charset="0"/>
              </a:rPr>
              <a:t>Li, X., Li, H., Yang, Z. </a:t>
            </a:r>
            <a:r>
              <a:rPr lang="en-CA" sz="1100" i="1" dirty="0">
                <a:latin typeface="Arial" panose="020B0604020202020204" pitchFamily="34" charset="0"/>
                <a:cs typeface="Arial" panose="020B0604020202020204" pitchFamily="34" charset="0"/>
              </a:rPr>
              <a:t>et al.</a:t>
            </a:r>
            <a:r>
              <a:rPr lang="en-CA" sz="1100" dirty="0">
                <a:latin typeface="Arial" panose="020B0604020202020204" pitchFamily="34" charset="0"/>
                <a:cs typeface="Arial" panose="020B0604020202020204" pitchFamily="34" charset="0"/>
              </a:rPr>
              <a:t> Exploring objective feature sets in constructing the evolution relationship of animal genome sequences. </a:t>
            </a:r>
            <a:r>
              <a:rPr lang="en-CA" sz="1100" i="1" dirty="0">
                <a:latin typeface="Arial" panose="020B0604020202020204" pitchFamily="34" charset="0"/>
                <a:cs typeface="Arial" panose="020B0604020202020204" pitchFamily="34" charset="0"/>
              </a:rPr>
              <a:t>BMC Genomics</a:t>
            </a:r>
            <a:r>
              <a:rPr lang="en-CA" sz="1100" dirty="0">
                <a:latin typeface="Arial" panose="020B0604020202020204" pitchFamily="34" charset="0"/>
                <a:cs typeface="Arial" panose="020B0604020202020204" pitchFamily="34" charset="0"/>
              </a:rPr>
              <a:t> </a:t>
            </a:r>
            <a:r>
              <a:rPr lang="en-CA" sz="1100" b="1" dirty="0">
                <a:latin typeface="Arial" panose="020B0604020202020204" pitchFamily="34" charset="0"/>
                <a:cs typeface="Arial" panose="020B0604020202020204" pitchFamily="34" charset="0"/>
              </a:rPr>
              <a:t>24</a:t>
            </a:r>
            <a:r>
              <a:rPr lang="en-CA" sz="1100" dirty="0">
                <a:latin typeface="Arial" panose="020B0604020202020204" pitchFamily="34" charset="0"/>
                <a:cs typeface="Arial" panose="020B0604020202020204" pitchFamily="34" charset="0"/>
              </a:rPr>
              <a:t>, 634 (2023). </a:t>
            </a:r>
            <a:r>
              <a:rPr lang="en-CA" sz="1100" dirty="0">
                <a:latin typeface="Arial" panose="020B0604020202020204" pitchFamily="34" charset="0"/>
                <a:cs typeface="Arial" panose="020B0604020202020204" pitchFamily="34" charset="0"/>
                <a:hlinkClick r:id="rId6"/>
              </a:rPr>
              <a:t>https://doi.org/10.1186/s12864-023-09747-x</a:t>
            </a:r>
            <a:endParaRPr lang="en-CA" sz="1100" dirty="0">
              <a:latin typeface="Arial" panose="020B0604020202020204" pitchFamily="34" charset="0"/>
              <a:cs typeface="Arial" panose="020B0604020202020204" pitchFamily="34" charset="0"/>
            </a:endParaRPr>
          </a:p>
          <a:p>
            <a:pPr algn="just"/>
            <a:endParaRPr lang="en-CA" sz="1100" dirty="0">
              <a:latin typeface="Arial" panose="020B0604020202020204" pitchFamily="34" charset="0"/>
              <a:cs typeface="Arial" panose="020B0604020202020204" pitchFamily="34" charset="0"/>
            </a:endParaRPr>
          </a:p>
          <a:p>
            <a:pPr algn="just"/>
            <a:r>
              <a:rPr lang="en-CA" sz="1100" dirty="0"/>
              <a:t>Klimov, P.B., Skoracki, M. &amp; </a:t>
            </a:r>
            <a:r>
              <a:rPr lang="en-CA" sz="1100" dirty="0" err="1"/>
              <a:t>Bochkov</a:t>
            </a:r>
            <a:r>
              <a:rPr lang="en-CA" sz="1100" dirty="0"/>
              <a:t>, A.V. </a:t>
            </a:r>
            <a:r>
              <a:rPr lang="en-CA" sz="1100" i="1" dirty="0"/>
              <a:t>Cox</a:t>
            </a:r>
            <a:r>
              <a:rPr lang="en-CA" sz="1100" dirty="0"/>
              <a:t>1 barcoding </a:t>
            </a:r>
            <a:r>
              <a:rPr lang="en-CA" sz="1100" i="1" dirty="0"/>
              <a:t>versus</a:t>
            </a:r>
            <a:r>
              <a:rPr lang="en-CA" sz="1100" dirty="0"/>
              <a:t> </a:t>
            </a:r>
            <a:r>
              <a:rPr lang="en-CA" sz="1100" dirty="0" err="1"/>
              <a:t>multilocus</a:t>
            </a:r>
            <a:r>
              <a:rPr lang="en-CA" sz="1100" dirty="0"/>
              <a:t> species delimitation: validation of two mite species with contrasting effective population sizes. </a:t>
            </a:r>
            <a:r>
              <a:rPr lang="en-CA" sz="1100" i="1" dirty="0"/>
              <a:t>Parasites Vectors</a:t>
            </a:r>
            <a:r>
              <a:rPr lang="en-CA" sz="1100" dirty="0"/>
              <a:t> </a:t>
            </a:r>
            <a:r>
              <a:rPr lang="en-CA" sz="1100" b="1" dirty="0"/>
              <a:t>12</a:t>
            </a:r>
            <a:r>
              <a:rPr lang="en-CA" sz="1100" dirty="0"/>
              <a:t>, 8 (2019). https://</a:t>
            </a:r>
            <a:r>
              <a:rPr lang="en-CA" sz="1100" dirty="0" err="1"/>
              <a:t>doi.org</a:t>
            </a:r>
            <a:r>
              <a:rPr lang="en-CA" sz="1100" dirty="0"/>
              <a:t>/10.1186/s13071-018-3242-5</a:t>
            </a:r>
          </a:p>
          <a:p>
            <a:pPr algn="just"/>
            <a:endParaRPr lang="en-CA" sz="1100" dirty="0">
              <a:latin typeface="Arial" panose="020B0604020202020204" pitchFamily="34" charset="0"/>
              <a:cs typeface="Arial" panose="020B0604020202020204" pitchFamily="34" charset="0"/>
            </a:endParaRPr>
          </a:p>
          <a:p>
            <a:pPr algn="just"/>
            <a:endParaRPr lang="en-CA" sz="1100" dirty="0">
              <a:latin typeface="Arial" panose="020B0604020202020204" pitchFamily="34" charset="0"/>
              <a:cs typeface="Arial" panose="020B0604020202020204" pitchFamily="34" charset="0"/>
            </a:endParaRPr>
          </a:p>
          <a:p>
            <a:pPr algn="just"/>
            <a:r>
              <a:rPr lang="en-CA" sz="1100" dirty="0">
                <a:latin typeface="Arial" panose="020B0604020202020204" pitchFamily="34" charset="0"/>
                <a:cs typeface="Arial" panose="020B0604020202020204" pitchFamily="34" charset="0"/>
              </a:rPr>
              <a:t>Figures were taken from </a:t>
            </a:r>
            <a:r>
              <a:rPr lang="en-CA" sz="1100" i="1" dirty="0" err="1">
                <a:latin typeface="Arial" panose="020B0604020202020204" pitchFamily="34" charset="0"/>
                <a:cs typeface="Arial" panose="020B0604020202020204" pitchFamily="34" charset="0"/>
              </a:rPr>
              <a:t>BioRender</a:t>
            </a:r>
            <a:r>
              <a:rPr lang="en-CA" sz="1100" dirty="0" err="1">
                <a:latin typeface="Arial" panose="020B0604020202020204" pitchFamily="34" charset="0"/>
                <a:cs typeface="Arial" panose="020B0604020202020204" pitchFamily="34" charset="0"/>
              </a:rPr>
              <a:t>.com</a:t>
            </a:r>
            <a:endParaRPr lang="en-CA" sz="1100" dirty="0">
              <a:latin typeface="Arial" panose="020B0604020202020204" pitchFamily="34" charset="0"/>
              <a:cs typeface="Arial" panose="020B0604020202020204" pitchFamily="34" charset="0"/>
            </a:endParaRPr>
          </a:p>
          <a:p>
            <a:pPr algn="just"/>
            <a:endParaRPr lang="en-CA" sz="1100" dirty="0">
              <a:latin typeface="Arial" panose="020B0604020202020204" pitchFamily="34" charset="0"/>
              <a:cs typeface="Arial" panose="020B0604020202020204" pitchFamily="34" charset="0"/>
            </a:endParaRPr>
          </a:p>
          <a:p>
            <a:pPr algn="just"/>
            <a:r>
              <a:rPr lang="en-CA" sz="1100" b="1" dirty="0">
                <a:latin typeface="Arial" panose="020B0604020202020204" pitchFamily="34" charset="0"/>
                <a:cs typeface="Arial" panose="020B0604020202020204" pitchFamily="34" charset="0"/>
              </a:rPr>
              <a:t>Tutorials</a:t>
            </a:r>
          </a:p>
          <a:p>
            <a:pPr algn="just"/>
            <a:r>
              <a:rPr lang="en-CA" sz="1100" dirty="0">
                <a:latin typeface="Arial" panose="020B0604020202020204" pitchFamily="34" charset="0"/>
                <a:cs typeface="Arial" panose="020B0604020202020204" pitchFamily="34" charset="0"/>
                <a:hlinkClick r:id="rId7"/>
              </a:rPr>
              <a:t>https://cran.r-project.org/web/packages/caret/vignettes/caret.html</a:t>
            </a:r>
            <a:endParaRPr lang="en-CA" sz="1100" dirty="0">
              <a:latin typeface="Arial" panose="020B0604020202020204" pitchFamily="34" charset="0"/>
              <a:cs typeface="Arial" panose="020B0604020202020204" pitchFamily="34" charset="0"/>
            </a:endParaRPr>
          </a:p>
          <a:p>
            <a:pPr algn="just"/>
            <a:r>
              <a:rPr lang="en-CA" sz="1100" dirty="0">
                <a:latin typeface="Arial" panose="020B0604020202020204" pitchFamily="34" charset="0"/>
                <a:cs typeface="Arial" panose="020B0604020202020204" pitchFamily="34" charset="0"/>
              </a:rPr>
              <a:t>https://</a:t>
            </a:r>
            <a:r>
              <a:rPr lang="en-CA" sz="1100" dirty="0" err="1">
                <a:latin typeface="Arial" panose="020B0604020202020204" pitchFamily="34" charset="0"/>
                <a:cs typeface="Arial" panose="020B0604020202020204" pitchFamily="34" charset="0"/>
              </a:rPr>
              <a:t>topepo.github.io</a:t>
            </a:r>
            <a:r>
              <a:rPr lang="en-CA" sz="1100" dirty="0">
                <a:latin typeface="Arial" panose="020B0604020202020204" pitchFamily="34" charset="0"/>
                <a:cs typeface="Arial" panose="020B0604020202020204" pitchFamily="34" charset="0"/>
              </a:rPr>
              <a:t>/caret/using-your-own-model-in-train.html#illustrative-example-1-svms-with-laplacian-kernels</a:t>
            </a:r>
          </a:p>
          <a:p>
            <a:pPr algn="just"/>
            <a:r>
              <a:rPr lang="en-CA" sz="1100" dirty="0">
                <a:latin typeface="Arial" panose="020B0604020202020204" pitchFamily="34" charset="0"/>
                <a:cs typeface="Arial" panose="020B0604020202020204" pitchFamily="34" charset="0"/>
                <a:hlinkClick r:id="rId8"/>
              </a:rPr>
              <a:t>https://cran.r-project.org/web/packages/vip/vignettes/vip.html</a:t>
            </a:r>
            <a:endParaRPr lang="en-CA" sz="1100" dirty="0">
              <a:latin typeface="Arial" panose="020B0604020202020204" pitchFamily="34" charset="0"/>
              <a:cs typeface="Arial" panose="020B0604020202020204" pitchFamily="34" charset="0"/>
            </a:endParaRPr>
          </a:p>
          <a:p>
            <a:pPr algn="just"/>
            <a:r>
              <a:rPr lang="en-CA" sz="1100" dirty="0">
                <a:latin typeface="Arial" panose="020B0604020202020204" pitchFamily="34" charset="0"/>
                <a:cs typeface="Arial" panose="020B0604020202020204" pitchFamily="34" charset="0"/>
              </a:rPr>
              <a:t>https://r-graph-</a:t>
            </a:r>
            <a:r>
              <a:rPr lang="en-CA" sz="1100" dirty="0" err="1">
                <a:latin typeface="Arial" panose="020B0604020202020204" pitchFamily="34" charset="0"/>
                <a:cs typeface="Arial" panose="020B0604020202020204" pitchFamily="34" charset="0"/>
              </a:rPr>
              <a:t>gallery.com</a:t>
            </a:r>
            <a:r>
              <a:rPr lang="en-CA" sz="1100" dirty="0">
                <a:latin typeface="Arial" panose="020B0604020202020204" pitchFamily="34" charset="0"/>
                <a:cs typeface="Arial" panose="020B0604020202020204" pitchFamily="34" charset="0"/>
              </a:rPr>
              <a:t>/79-levelplot-with-ggplot2.html</a:t>
            </a:r>
          </a:p>
          <a:p>
            <a:pPr algn="just"/>
            <a:r>
              <a:rPr lang="en-CA" sz="1100" dirty="0">
                <a:latin typeface="Arial" panose="020B0604020202020204" pitchFamily="34" charset="0"/>
                <a:cs typeface="Arial" panose="020B0604020202020204" pitchFamily="34" charset="0"/>
              </a:rPr>
              <a:t>https://</a:t>
            </a:r>
            <a:r>
              <a:rPr lang="en-CA" sz="1100" dirty="0" err="1">
                <a:latin typeface="Arial" panose="020B0604020202020204" pitchFamily="34" charset="0"/>
                <a:cs typeface="Arial" panose="020B0604020202020204" pitchFamily="34" charset="0"/>
              </a:rPr>
              <a:t>www.geeksforgeeks.org</a:t>
            </a:r>
            <a:r>
              <a:rPr lang="en-CA" sz="1100" dirty="0">
                <a:latin typeface="Arial" panose="020B0604020202020204" pitchFamily="34" charset="0"/>
                <a:cs typeface="Arial" panose="020B0604020202020204" pitchFamily="34" charset="0"/>
              </a:rPr>
              <a:t>/r-language/multidimensional-scaling-using-r/</a:t>
            </a:r>
          </a:p>
          <a:p>
            <a:pPr algn="just"/>
            <a:r>
              <a:rPr lang="en-CA" sz="1100" dirty="0">
                <a:latin typeface="Arial" panose="020B0604020202020204" pitchFamily="34" charset="0"/>
                <a:cs typeface="Arial" panose="020B0604020202020204" pitchFamily="34" charset="0"/>
                <a:hlinkClick r:id="rId9"/>
              </a:rPr>
              <a:t>https://www.sthda.com/english/wiki/ggplot2-quick-correlation-matrix-heatmap-r-software-and-data-visualization</a:t>
            </a:r>
            <a:endParaRPr lang="en-CA" sz="1100" dirty="0">
              <a:latin typeface="Arial" panose="020B0604020202020204" pitchFamily="34" charset="0"/>
              <a:cs typeface="Arial" panose="020B0604020202020204" pitchFamily="34" charset="0"/>
            </a:endParaRPr>
          </a:p>
          <a:p>
            <a:pPr algn="just"/>
            <a:r>
              <a:rPr lang="en-CA" sz="1100" dirty="0">
                <a:latin typeface="Arial" panose="020B0604020202020204" pitchFamily="34" charset="0"/>
                <a:cs typeface="Arial" panose="020B0604020202020204" pitchFamily="34" charset="0"/>
              </a:rPr>
              <a:t>https://</a:t>
            </a:r>
            <a:r>
              <a:rPr lang="en-CA" sz="1100" dirty="0" err="1">
                <a:latin typeface="Arial" panose="020B0604020202020204" pitchFamily="34" charset="0"/>
                <a:cs typeface="Arial" panose="020B0604020202020204" pitchFamily="34" charset="0"/>
              </a:rPr>
              <a:t>www.sthda.com</a:t>
            </a:r>
            <a:r>
              <a:rPr lang="en-CA" sz="1100" dirty="0">
                <a:latin typeface="Arial" panose="020B0604020202020204" pitchFamily="34" charset="0"/>
                <a:cs typeface="Arial" panose="020B0604020202020204" pitchFamily="34" charset="0"/>
              </a:rPr>
              <a:t>/</a:t>
            </a:r>
            <a:r>
              <a:rPr lang="en-CA" sz="1100" dirty="0" err="1">
                <a:latin typeface="Arial" panose="020B0604020202020204" pitchFamily="34" charset="0"/>
                <a:cs typeface="Arial" panose="020B0604020202020204" pitchFamily="34" charset="0"/>
              </a:rPr>
              <a:t>english</a:t>
            </a:r>
            <a:r>
              <a:rPr lang="en-CA" sz="1100" dirty="0">
                <a:latin typeface="Arial" panose="020B0604020202020204" pitchFamily="34" charset="0"/>
                <a:cs typeface="Arial" panose="020B0604020202020204" pitchFamily="34" charset="0"/>
              </a:rPr>
              <a:t>/articles/31-principal-component-methods-in-r-practical-guide/122-multidimensional-scaling-essentials-algorithms-and-r-code/</a:t>
            </a:r>
          </a:p>
        </p:txBody>
      </p:sp>
      <p:pic>
        <p:nvPicPr>
          <p:cNvPr id="8" name="Picture 7" descr="A group of cartoon mice&#10;&#10;AI-generated content may be incorrect.">
            <a:extLst>
              <a:ext uri="{FF2B5EF4-FFF2-40B4-BE49-F238E27FC236}">
                <a16:creationId xmlns:a16="http://schemas.microsoft.com/office/drawing/2014/main" id="{3F9FF1BF-AC5B-902C-7000-E3AD2766D1C5}"/>
              </a:ext>
            </a:extLst>
          </p:cNvPr>
          <p:cNvPicPr>
            <a:picLocks noChangeAspect="1"/>
          </p:cNvPicPr>
          <p:nvPr/>
        </p:nvPicPr>
        <p:blipFill>
          <a:blip r:embed="rId10"/>
          <a:srcRect r="51971" b="55890"/>
          <a:stretch>
            <a:fillRect/>
          </a:stretch>
        </p:blipFill>
        <p:spPr>
          <a:xfrm>
            <a:off x="6999195" y="-188310"/>
            <a:ext cx="1452282" cy="980844"/>
          </a:xfrm>
          <a:prstGeom prst="rect">
            <a:avLst/>
          </a:prstGeom>
        </p:spPr>
      </p:pic>
    </p:spTree>
    <p:extLst>
      <p:ext uri="{BB962C8B-B14F-4D97-AF65-F5344CB8AC3E}">
        <p14:creationId xmlns:p14="http://schemas.microsoft.com/office/powerpoint/2010/main" val="37970846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5462</TotalTime>
  <Words>3322</Words>
  <Application>Microsoft Macintosh PowerPoint</Application>
  <PresentationFormat>Widescreen</PresentationFormat>
  <Paragraphs>202</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Aptos Display</vt:lpstr>
      <vt:lpstr>Arial</vt:lpstr>
      <vt:lpstr>Office Theme</vt:lpstr>
      <vt:lpstr>Evaluation of Different Machine Learning Classifiers in the Muridae Taxon Group</vt:lpstr>
      <vt:lpstr>The Muridae taxon and its importance in biomedical research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Liona Vu</dc:creator>
  <cp:lastModifiedBy>Liona Vu</cp:lastModifiedBy>
  <cp:revision>98</cp:revision>
  <dcterms:created xsi:type="dcterms:W3CDTF">2025-11-25T00:27:51Z</dcterms:created>
  <dcterms:modified xsi:type="dcterms:W3CDTF">2025-12-06T01:51:10Z</dcterms:modified>
</cp:coreProperties>
</file>